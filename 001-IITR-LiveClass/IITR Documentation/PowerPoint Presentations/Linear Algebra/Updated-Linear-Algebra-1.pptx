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2" r:id="rId2"/>
    <p:sldMasterId id="2147483658" r:id="rId3"/>
    <p:sldMasterId id="2147483693" r:id="rId4"/>
  </p:sldMasterIdLst>
  <p:notesMasterIdLst>
    <p:notesMasterId r:id="rId83"/>
  </p:notesMasterIdLst>
  <p:sldIdLst>
    <p:sldId id="256" r:id="rId5"/>
    <p:sldId id="257" r:id="rId6"/>
    <p:sldId id="258" r:id="rId7"/>
    <p:sldId id="259" r:id="rId8"/>
    <p:sldId id="493" r:id="rId9"/>
    <p:sldId id="494" r:id="rId10"/>
    <p:sldId id="540" r:id="rId11"/>
    <p:sldId id="471" r:id="rId12"/>
    <p:sldId id="477" r:id="rId13"/>
    <p:sldId id="541" r:id="rId14"/>
    <p:sldId id="495" r:id="rId15"/>
    <p:sldId id="478" r:id="rId16"/>
    <p:sldId id="496" r:id="rId17"/>
    <p:sldId id="542" r:id="rId18"/>
    <p:sldId id="479" r:id="rId19"/>
    <p:sldId id="497" r:id="rId20"/>
    <p:sldId id="543" r:id="rId21"/>
    <p:sldId id="486" r:id="rId22"/>
    <p:sldId id="499" r:id="rId23"/>
    <p:sldId id="500" r:id="rId24"/>
    <p:sldId id="502" r:id="rId25"/>
    <p:sldId id="544" r:id="rId26"/>
    <p:sldId id="506" r:id="rId27"/>
    <p:sldId id="508" r:id="rId28"/>
    <p:sldId id="509" r:id="rId29"/>
    <p:sldId id="510" r:id="rId30"/>
    <p:sldId id="511" r:id="rId31"/>
    <p:sldId id="545" r:id="rId32"/>
    <p:sldId id="507" r:id="rId33"/>
    <p:sldId id="512" r:id="rId34"/>
    <p:sldId id="513" r:id="rId35"/>
    <p:sldId id="514" r:id="rId36"/>
    <p:sldId id="515" r:id="rId37"/>
    <p:sldId id="546" r:id="rId38"/>
    <p:sldId id="555" r:id="rId39"/>
    <p:sldId id="556" r:id="rId40"/>
    <p:sldId id="480" r:id="rId41"/>
    <p:sldId id="516" r:id="rId42"/>
    <p:sldId id="547" r:id="rId43"/>
    <p:sldId id="481" r:id="rId44"/>
    <p:sldId id="517" r:id="rId45"/>
    <p:sldId id="520" r:id="rId46"/>
    <p:sldId id="521" r:id="rId47"/>
    <p:sldId id="518" r:id="rId48"/>
    <p:sldId id="522" r:id="rId49"/>
    <p:sldId id="523" r:id="rId50"/>
    <p:sldId id="524" r:id="rId51"/>
    <p:sldId id="525" r:id="rId52"/>
    <p:sldId id="519" r:id="rId53"/>
    <p:sldId id="526" r:id="rId54"/>
    <p:sldId id="527" r:id="rId55"/>
    <p:sldId id="528" r:id="rId56"/>
    <p:sldId id="529" r:id="rId57"/>
    <p:sldId id="548" r:id="rId58"/>
    <p:sldId id="482" r:id="rId59"/>
    <p:sldId id="530" r:id="rId60"/>
    <p:sldId id="532" r:id="rId61"/>
    <p:sldId id="531" r:id="rId62"/>
    <p:sldId id="549" r:id="rId63"/>
    <p:sldId id="483" r:id="rId64"/>
    <p:sldId id="533" r:id="rId65"/>
    <p:sldId id="536" r:id="rId66"/>
    <p:sldId id="550" r:id="rId67"/>
    <p:sldId id="534" r:id="rId68"/>
    <p:sldId id="551" r:id="rId69"/>
    <p:sldId id="535" r:id="rId70"/>
    <p:sldId id="552" r:id="rId71"/>
    <p:sldId id="472" r:id="rId72"/>
    <p:sldId id="489" r:id="rId73"/>
    <p:sldId id="487" r:id="rId74"/>
    <p:sldId id="537" r:id="rId75"/>
    <p:sldId id="488" r:id="rId76"/>
    <p:sldId id="538" r:id="rId77"/>
    <p:sldId id="539" r:id="rId78"/>
    <p:sldId id="553" r:id="rId79"/>
    <p:sldId id="492" r:id="rId80"/>
    <p:sldId id="554" r:id="rId81"/>
    <p:sldId id="470" r:id="rId82"/>
  </p:sldIdLst>
  <p:sldSz cx="12192000" cy="6858000"/>
  <p:notesSz cx="6858000" cy="9144000"/>
  <p:embeddedFontLst>
    <p:embeddedFont>
      <p:font typeface="Raleway Black" panose="020B0604020202020204" charset="0"/>
      <p:bold r:id="rId84"/>
      <p:boldItalic r:id="rId85"/>
    </p:embeddedFont>
    <p:embeddedFont>
      <p:font typeface="Calibri" panose="020F0502020204030204" pitchFamily="34" charset="0"/>
      <p:regular r:id="rId86"/>
      <p:bold r:id="rId87"/>
      <p:italic r:id="rId88"/>
      <p:boldItalic r:id="rId89"/>
    </p:embeddedFont>
    <p:embeddedFont>
      <p:font typeface="Lato" panose="020B0604020202020204" charset="0"/>
      <p:regular r:id="rId90"/>
      <p:bold r:id="rId91"/>
    </p:embeddedFont>
    <p:embeddedFont>
      <p:font typeface="Raleway" panose="020B0604020202020204" charset="0"/>
      <p:regular r:id="rId92"/>
      <p:bold r:id="rId93"/>
      <p:italic r:id="rId94"/>
      <p:boldItalic r:id="rId95"/>
    </p:embeddedFont>
    <p:embeddedFont>
      <p:font typeface="Raleway Light" panose="020B0604020202020204" charset="0"/>
      <p:regular r:id="rId96"/>
      <p:bold r:id="rId97"/>
      <p:italic r:id="rId98"/>
      <p:boldItalic r:id="rId9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1026">
          <p15:clr>
            <a:srgbClr val="A4A3A4"/>
          </p15:clr>
        </p15:guide>
        <p15:guide id="2" pos="3659">
          <p15:clr>
            <a:srgbClr val="A4A3A4"/>
          </p15:clr>
        </p15:guide>
        <p15:guide id="3" orient="horz" pos="2772">
          <p15:clr>
            <a:srgbClr val="A4A3A4"/>
          </p15:clr>
        </p15:guide>
        <p15:guide id="4" pos="5473">
          <p15:clr>
            <a:srgbClr val="A4A3A4"/>
          </p15:clr>
        </p15:guide>
        <p15:guide id="5" orient="horz" pos="3928">
          <p15:clr>
            <a:srgbClr val="A4A3A4"/>
          </p15:clr>
        </p15:guide>
        <p15:guide id="6" pos="7262">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3" roundtripDataSignature="AMtx7mirXE9QQMdupXZ263yheX/1SdRS1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5944EF3-4B75-492F-B3D5-1C32730FA5C3}">
  <a:tblStyle styleId="{A5944EF3-4B75-492F-B3D5-1C32730FA5C3}"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ECBF5535-082D-4E8F-9737-2858A5B43E5E}" styleName="Table_1">
    <a:wholeTbl>
      <a:tcTxStyle b="off" i="off">
        <a:font>
          <a:latin typeface="Calibri"/>
          <a:ea typeface="Calibri"/>
          <a:cs typeface="Calibri"/>
        </a:font>
        <a:schemeClr val="lt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2"/>
          </a:solidFill>
        </a:fill>
      </a:tcStyle>
    </a:wholeTbl>
    <a:band1H>
      <a:tcTxStyle/>
      <a:tcStyle>
        <a:tcBdr/>
        <a:fill>
          <a:solidFill>
            <a:srgbClr val="4C395F"/>
          </a:solidFill>
        </a:fill>
      </a:tcStyle>
    </a:band1H>
    <a:band2H>
      <a:tcTxStyle/>
      <a:tcStyle>
        <a:tcBdr/>
      </a:tcStyle>
    </a:band2H>
    <a:band1V>
      <a:tcTxStyle/>
      <a:tcStyle>
        <a:tcBdr/>
        <a:fill>
          <a:solidFill>
            <a:srgbClr val="4C395F"/>
          </a:solidFill>
        </a:fill>
      </a:tcStyle>
    </a:band1V>
    <a:band2V>
      <a:tcTxStyle/>
      <a:tcStyle>
        <a:tcBdr/>
      </a:tcStyle>
    </a:band2V>
    <a:lastCol>
      <a:tcTxStyle b="on" i="off"/>
      <a:tcStyle>
        <a:tcBdr>
          <a:left>
            <a:ln w="25400" cap="flat" cmpd="sng">
              <a:solidFill>
                <a:schemeClr val="lt1"/>
              </a:solidFill>
              <a:prstDash val="solid"/>
              <a:round/>
              <a:headEnd type="none" w="sm" len="sm"/>
              <a:tailEnd type="none" w="sm" len="sm"/>
            </a:ln>
          </a:left>
        </a:tcBdr>
        <a:fill>
          <a:solidFill>
            <a:srgbClr val="4C395F"/>
          </a:solidFill>
        </a:fill>
      </a:tcStyle>
    </a:lastCol>
    <a:firstCol>
      <a:tcTxStyle b="on" i="off"/>
      <a:tcStyle>
        <a:tcBdr>
          <a:right>
            <a:ln w="25400" cap="flat" cmpd="sng">
              <a:solidFill>
                <a:schemeClr val="lt1"/>
              </a:solidFill>
              <a:prstDash val="solid"/>
              <a:round/>
              <a:headEnd type="none" w="sm" len="sm"/>
              <a:tailEnd type="none" w="sm" len="sm"/>
            </a:ln>
          </a:right>
        </a:tcBdr>
        <a:fill>
          <a:solidFill>
            <a:srgbClr val="4C395F"/>
          </a:solidFill>
        </a:fill>
      </a:tcStyle>
    </a:firstCol>
    <a:lastRow>
      <a:tcTxStyle b="on" i="off"/>
      <a:tcStyle>
        <a:tcBdr>
          <a:top>
            <a:ln w="25400" cap="flat" cmpd="sng">
              <a:solidFill>
                <a:schemeClr val="lt1"/>
              </a:solidFill>
              <a:prstDash val="solid"/>
              <a:round/>
              <a:headEnd type="none" w="sm" len="sm"/>
              <a:tailEnd type="none" w="sm" len="sm"/>
            </a:ln>
          </a:top>
        </a:tcBdr>
        <a:fill>
          <a:solidFill>
            <a:srgbClr val="3F2F4F"/>
          </a:solidFill>
        </a:fill>
      </a:tcStyle>
    </a:lastRow>
    <a:seCell>
      <a:tcTxStyle/>
      <a:tcStyle>
        <a:tcBdr>
          <a:left>
            <a:ln w="9525" cap="flat" cmpd="sng">
              <a:solidFill>
                <a:srgbClr val="000000">
                  <a:alpha val="0"/>
                </a:srgbClr>
              </a:solidFill>
              <a:prstDash val="solid"/>
              <a:round/>
              <a:headEnd type="none" w="sm" len="sm"/>
              <a:tailEnd type="none" w="sm" len="sm"/>
            </a:ln>
          </a:left>
        </a:tcBdr>
      </a:tcStyle>
    </a:seCell>
    <a:swCell>
      <a:tcTxStyle/>
      <a:tcStyle>
        <a:tcBdr>
          <a:right>
            <a:ln w="9525" cap="flat" cmpd="sng">
              <a:solidFill>
                <a:srgbClr val="000000">
                  <a:alpha val="0"/>
                </a:srgbClr>
              </a:solidFill>
              <a:prstDash val="solid"/>
              <a:round/>
              <a:headEnd type="none" w="sm" len="sm"/>
              <a:tailEnd type="none" w="sm" len="sm"/>
            </a:ln>
          </a:right>
        </a:tcBdr>
      </a:tcStyle>
    </a:swCell>
    <a:firstRow>
      <a:tcTxStyle b="on" i="off"/>
      <a:tcStyle>
        <a:tcBdr>
          <a:bottom>
            <a:ln w="25400" cap="flat" cmpd="sng">
              <a:solidFill>
                <a:schemeClr val="lt1"/>
              </a:solidFill>
              <a:prstDash val="solid"/>
              <a:round/>
              <a:headEnd type="none" w="sm" len="sm"/>
              <a:tailEnd type="none" w="sm" len="sm"/>
            </a:ln>
          </a:bottom>
        </a:tcBdr>
        <a:fill>
          <a:solidFill>
            <a:schemeClr val="dk1"/>
          </a:solidFill>
        </a:fill>
      </a:tcStyle>
    </a:firstRow>
    <a:neCell>
      <a:tcTxStyle/>
      <a:tcStyle>
        <a:tcBdr>
          <a:left>
            <a:ln w="9525" cap="flat" cmpd="sng">
              <a:solidFill>
                <a:srgbClr val="000000">
                  <a:alpha val="0"/>
                </a:srgbClr>
              </a:solidFill>
              <a:prstDash val="solid"/>
              <a:round/>
              <a:headEnd type="none" w="sm" len="sm"/>
              <a:tailEnd type="none" w="sm" len="sm"/>
            </a:ln>
          </a:left>
        </a:tcBdr>
      </a:tcStyle>
    </a:neCell>
    <a:nwCell>
      <a:tcTxStyle/>
      <a:tcStyle>
        <a:tcBdr>
          <a:right>
            <a:ln w="9525" cap="flat" cmpd="sng">
              <a:solidFill>
                <a:srgbClr val="000000">
                  <a:alpha val="0"/>
                </a:srgbClr>
              </a:solidFill>
              <a:prstDash val="solid"/>
              <a:round/>
              <a:headEnd type="none" w="sm" len="sm"/>
              <a:tailEnd type="none" w="sm" len="sm"/>
            </a:ln>
          </a:right>
        </a:tcBdr>
      </a:tcStyle>
    </a:nwCell>
  </a:tblStyle>
  <a:tblStyle styleId="{6338F52D-3302-486E-AE55-FD54A0E5465E}"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AEFE7"/>
          </a:solidFill>
        </a:fill>
      </a:tcStyle>
    </a:wholeTbl>
    <a:band1H>
      <a:tcTxStyle/>
      <a:tcStyle>
        <a:tcBdr/>
        <a:fill>
          <a:solidFill>
            <a:srgbClr val="D3DFCB"/>
          </a:solidFill>
        </a:fill>
      </a:tcStyle>
    </a:band1H>
    <a:band2H>
      <a:tcTxStyle/>
      <a:tcStyle>
        <a:tcBdr/>
      </a:tcStyle>
    </a:band2H>
    <a:band1V>
      <a:tcTxStyle/>
      <a:tcStyle>
        <a:tcBdr/>
        <a:fill>
          <a:solidFill>
            <a:srgbClr val="D3DFCB"/>
          </a:solidFill>
        </a:fill>
      </a:tcStyle>
    </a:band1V>
    <a:band2V>
      <a:tcTxStyle/>
      <a:tcStyle>
        <a:tcBdr/>
      </a:tcStyle>
    </a:band2V>
    <a:lastCol>
      <a:tcTxStyle b="on" i="off">
        <a:font>
          <a:latin typeface="Calibri"/>
          <a:ea typeface="Calibri"/>
          <a:cs typeface="Calibri"/>
        </a:font>
        <a:schemeClr val="lt1"/>
      </a:tcTxStyle>
      <a:tcStyle>
        <a:tcBdr/>
        <a:fill>
          <a:solidFill>
            <a:schemeClr val="accent3"/>
          </a:solidFill>
        </a:fill>
      </a:tcStyle>
    </a:lastCol>
    <a:firstCol>
      <a:tcTxStyle b="on" i="off">
        <a:font>
          <a:latin typeface="Calibri"/>
          <a:ea typeface="Calibri"/>
          <a:cs typeface="Calibri"/>
        </a:font>
        <a:schemeClr val="lt1"/>
      </a:tcTxStyle>
      <a:tcStyle>
        <a:tcBdr/>
        <a:fill>
          <a:solidFill>
            <a:schemeClr val="accent3"/>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 styleId="{D30E7C4A-C512-4B8B-9389-D8962B03EAD4}" styleName="Table_3">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F2FC"/>
          </a:solidFill>
        </a:fill>
      </a:tcStyle>
    </a:wholeTbl>
    <a:band1H>
      <a:tcTxStyle/>
      <a:tcStyle>
        <a:tcBdr/>
        <a:fill>
          <a:solidFill>
            <a:srgbClr val="CAE3F9"/>
          </a:solidFill>
        </a:fill>
      </a:tcStyle>
    </a:band1H>
    <a:band2H>
      <a:tcTxStyle/>
      <a:tcStyle>
        <a:tcBdr/>
      </a:tcStyle>
    </a:band2H>
    <a:band1V>
      <a:tcTxStyle/>
      <a:tcStyle>
        <a:tcBdr/>
        <a:fill>
          <a:solidFill>
            <a:srgbClr val="CAE3F9"/>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D6DD6165-76C5-4B9B-B802-3CD2D82B2255}" styleName="Table_4">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BD0D6"/>
          </a:solidFill>
        </a:fill>
      </a:tcStyle>
    </a:band1H>
    <a:band2H>
      <a:tcTxStyle/>
      <a:tcStyle>
        <a:tcBdr/>
      </a:tcStyle>
    </a:band2H>
    <a:band1V>
      <a:tcTxStyle/>
      <a:tcStyle>
        <a:tcBdr/>
        <a:fill>
          <a:solidFill>
            <a:srgbClr val="CBD0D6"/>
          </a:solidFill>
        </a:fill>
      </a:tcStyle>
    </a:band1V>
    <a:band2V>
      <a:tcTxStyle/>
      <a:tcStyle>
        <a:tcBdr/>
      </a:tcStyle>
    </a:band2V>
    <a:lastCol>
      <a:tcTxStyle b="on" i="off">
        <a:font>
          <a:latin typeface="Calibri"/>
          <a:ea typeface="Calibri"/>
          <a:cs typeface="Calibri"/>
        </a:font>
        <a:schemeClr val="lt1"/>
      </a:tcTxStyle>
      <a:tcStyle>
        <a:tcBdr/>
        <a:fill>
          <a:solidFill>
            <a:schemeClr val="accent4"/>
          </a:solidFill>
        </a:fill>
      </a:tcStyle>
    </a:lastCol>
    <a:firstCol>
      <a:tcTxStyle b="on" i="off">
        <a:font>
          <a:latin typeface="Calibri"/>
          <a:ea typeface="Calibri"/>
          <a:cs typeface="Calibri"/>
        </a:font>
        <a:schemeClr val="lt1"/>
      </a:tcTxStyle>
      <a:tcStyle>
        <a:tcBdr/>
        <a:fill>
          <a:solidFill>
            <a:schemeClr val="accent4"/>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4"/>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4"/>
          </a:solidFill>
        </a:fill>
      </a:tcStyle>
    </a:firstRow>
    <a:neCell>
      <a:tcTxStyle/>
      <a:tcStyle>
        <a:tcBdr/>
      </a:tcStyle>
    </a:neCell>
    <a:nwCell>
      <a:tcTxStyle/>
      <a:tcStyle>
        <a:tcBdr/>
      </a:tcStyle>
    </a:nwCell>
  </a:tblStyle>
  <a:tblStyle styleId="{4358A7A2-59DD-4BC3-BC96-7F21843B95A6}" styleName="Table_5">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8EB"/>
          </a:solidFill>
        </a:fill>
      </a:tcStyle>
    </a:wholeTbl>
    <a:band1H>
      <a:tcTxStyle/>
      <a:tcStyle>
        <a:tcBdr/>
        <a:fill>
          <a:solidFill>
            <a:srgbClr val="D1CED5"/>
          </a:solidFill>
        </a:fill>
      </a:tcStyle>
    </a:band1H>
    <a:band2H>
      <a:tcTxStyle/>
      <a:tcStyle>
        <a:tcBdr/>
      </a:tcStyle>
    </a:band2H>
    <a:band1V>
      <a:tcTxStyle/>
      <a:tcStyle>
        <a:tcBdr/>
        <a:fill>
          <a:solidFill>
            <a:srgbClr val="D1CED5"/>
          </a:solidFill>
        </a:fill>
      </a:tcStyle>
    </a:band1V>
    <a:band2V>
      <a:tcTxStyle/>
      <a:tcStyle>
        <a:tcBdr/>
      </a:tcStyle>
    </a:band2V>
    <a:lastCol>
      <a:tcTxStyle b="on" i="off">
        <a:font>
          <a:latin typeface="Calibri"/>
          <a:ea typeface="Calibri"/>
          <a:cs typeface="Calibri"/>
        </a:font>
        <a:schemeClr val="lt1"/>
      </a:tcTxStyle>
      <a:tcStyle>
        <a:tcBdr/>
        <a:fill>
          <a:solidFill>
            <a:schemeClr val="accent2"/>
          </a:solidFill>
        </a:fill>
      </a:tcStyle>
    </a:lastCol>
    <a:firstCol>
      <a:tcTxStyle b="on" i="off">
        <a:font>
          <a:latin typeface="Calibri"/>
          <a:ea typeface="Calibri"/>
          <a:cs typeface="Calibri"/>
        </a:font>
        <a:schemeClr val="lt1"/>
      </a:tcTxStyle>
      <a:tcStyle>
        <a:tcBdr/>
        <a:fill>
          <a:solidFill>
            <a:schemeClr val="accent2"/>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2"/>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6" d="100"/>
          <a:sy n="76" d="100"/>
        </p:scale>
        <p:origin x="-480" y="210"/>
      </p:cViewPr>
      <p:guideLst>
        <p:guide orient="horz" pos="1026"/>
        <p:guide orient="horz" pos="2772"/>
        <p:guide orient="horz" pos="3928"/>
        <p:guide pos="3659"/>
        <p:guide pos="5473"/>
        <p:guide pos="726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1.fntdata"/><Relationship Id="rId89" Type="http://schemas.openxmlformats.org/officeDocument/2006/relationships/font" Target="fonts/font6.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9.fntdata"/><Relationship Id="rId24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font" Target="fonts/font4.fntdata"/><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font" Target="fonts/font7.fntdata"/><Relationship Id="rId95" Type="http://schemas.openxmlformats.org/officeDocument/2006/relationships/font" Target="fonts/font12.fntdata"/><Relationship Id="rId19" Type="http://schemas.openxmlformats.org/officeDocument/2006/relationships/slide" Target="slides/slide15.xml"/><Relationship Id="rId245" Type="http://schemas.openxmlformats.org/officeDocument/2006/relationships/viewProps" Target="viewProp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font" Target="fonts/font2.fntdata"/><Relationship Id="rId93" Type="http://schemas.openxmlformats.org/officeDocument/2006/relationships/font" Target="fonts/font10.fntdata"/><Relationship Id="rId98" Type="http://schemas.openxmlformats.org/officeDocument/2006/relationships/font" Target="fonts/font15.fntdata"/><Relationship Id="rId3" Type="http://schemas.openxmlformats.org/officeDocument/2006/relationships/slideMaster" Target="slideMasters/slideMaster3.xml"/><Relationship Id="rId243" Type="http://customschemas.google.com/relationships/presentationmetadata" Target="metadata"/><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notesMaster" Target="notesMasters/notesMaster1.xml"/><Relationship Id="rId88" Type="http://schemas.openxmlformats.org/officeDocument/2006/relationships/font" Target="fonts/font5.fntdata"/><Relationship Id="rId91" Type="http://schemas.openxmlformats.org/officeDocument/2006/relationships/font" Target="fonts/font8.fntdata"/><Relationship Id="rId96"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2.xml"/><Relationship Id="rId246" Type="http://schemas.openxmlformats.org/officeDocument/2006/relationships/theme" Target="theme/them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font" Target="fonts/font3.fntdata"/><Relationship Id="rId94" Type="http://schemas.openxmlformats.org/officeDocument/2006/relationships/font" Target="fonts/font11.fntdata"/><Relationship Id="rId99" Type="http://schemas.openxmlformats.org/officeDocument/2006/relationships/font" Target="fonts/font16.fntdata"/><Relationship Id="rId4" Type="http://schemas.openxmlformats.org/officeDocument/2006/relationships/slideMaster" Target="slideMasters/slideMaster4.xml"/><Relationship Id="rId9" Type="http://schemas.openxmlformats.org/officeDocument/2006/relationships/slide" Target="slides/slide5.xml"/><Relationship Id="rId244" Type="http://schemas.openxmlformats.org/officeDocument/2006/relationships/presProps" Target="presProp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4166483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a:t>
            </a:fld>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3" name="Google Shape;46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4</a:t>
            </a:fld>
            <a:endParaRPr>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a:t>
            </a:fld>
            <a:endParaRPr>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6</a:t>
            </a:fld>
            <a:endParaRPr>
              <a:solidFill>
                <a:srgbClr val="000000"/>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7</a:t>
            </a:fld>
            <a:endParaRPr>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9</a:t>
            </a:fld>
            <a:endParaRPr>
              <a:solidFill>
                <a:srgbClr val="00000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10</a:t>
            </a:fld>
            <a:endParaRPr>
              <a:solidFill>
                <a:srgbClr val="00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11</a:t>
            </a:fld>
            <a:endParaRPr>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12</a:t>
            </a:fld>
            <a:endParaRPr>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13</a:t>
            </a:fld>
            <a:endParaRPr>
              <a:solidFill>
                <a:srgbClr val="000000"/>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14</a:t>
            </a:fld>
            <a:endParaRPr>
              <a:solidFill>
                <a:srgbClr val="00000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15</a:t>
            </a:fld>
            <a:endParaRPr>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16</a:t>
            </a:fld>
            <a:endParaRPr>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17</a:t>
            </a:fld>
            <a:endParaRPr>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18</a:t>
            </a:fld>
            <a:endParaRPr>
              <a:solidFill>
                <a:srgbClr val="000000"/>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19</a:t>
            </a:fld>
            <a:endParaRPr>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20</a:t>
            </a:fld>
            <a:endParaRPr>
              <a:solidFill>
                <a:srgbClr val="000000"/>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21</a:t>
            </a:fld>
            <a:endParaRPr>
              <a:solidFill>
                <a:srgbClr val="00000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22</a:t>
            </a:fld>
            <a:endParaRPr>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23</a:t>
            </a:fld>
            <a:endParaRPr>
              <a:solidFill>
                <a:srgbClr val="00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24</a:t>
            </a:fld>
            <a:endParaRPr>
              <a:solidFill>
                <a:srgbClr val="000000"/>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25</a:t>
            </a:fld>
            <a:endParaRPr>
              <a:solidFill>
                <a:srgbClr val="000000"/>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26</a:t>
            </a:fld>
            <a:endParaRPr>
              <a:solidFill>
                <a:srgbClr val="000000"/>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27</a:t>
            </a:fld>
            <a:endParaRPr>
              <a:solidFill>
                <a:srgbClr val="000000"/>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28</a:t>
            </a:fld>
            <a:endParaRPr>
              <a:solidFill>
                <a:srgbClr val="000000"/>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29</a:t>
            </a:fld>
            <a:endParaRPr>
              <a:solidFill>
                <a:srgbClr val="000000"/>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30</a:t>
            </a:fld>
            <a:endParaRPr>
              <a:solidFill>
                <a:srgbClr val="000000"/>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31</a:t>
            </a:fld>
            <a:endParaRPr>
              <a:solidFill>
                <a:srgbClr val="000000"/>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32</a:t>
            </a:fld>
            <a:endParaRPr>
              <a:solidFill>
                <a:srgbClr val="000000"/>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33</a:t>
            </a:fld>
            <a:endParaRPr>
              <a:solidFill>
                <a:srgbClr val="000000"/>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34</a:t>
            </a:fld>
            <a:endParaRPr>
              <a:solidFill>
                <a:srgbClr val="000000"/>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35</a:t>
            </a:fld>
            <a:endParaRPr>
              <a:solidFill>
                <a:srgbClr val="000000"/>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36</a:t>
            </a:fld>
            <a:endParaRPr>
              <a:solidFill>
                <a:srgbClr val="000000"/>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37</a:t>
            </a:fld>
            <a:endParaRPr>
              <a:solidFill>
                <a:srgbClr val="000000"/>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38</a:t>
            </a:fld>
            <a:endParaRPr>
              <a:solidFill>
                <a:srgbClr val="000000"/>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39</a:t>
            </a:fld>
            <a:endParaRPr>
              <a:solidFill>
                <a:srgbClr val="000000"/>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40</a:t>
            </a:fld>
            <a:endParaRPr>
              <a:solidFill>
                <a:srgbClr val="000000"/>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41</a:t>
            </a:fld>
            <a:endParaRPr>
              <a:solidFill>
                <a:srgbClr val="000000"/>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42</a:t>
            </a:fld>
            <a:endParaRPr>
              <a:solidFill>
                <a:srgbClr val="000000"/>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43</a:t>
            </a:fld>
            <a:endParaRPr>
              <a:solidFill>
                <a:srgbClr val="000000"/>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44</a:t>
            </a:fld>
            <a:endParaRPr>
              <a:solidFill>
                <a:srgbClr val="000000"/>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45</a:t>
            </a:fld>
            <a:endParaRPr>
              <a:solidFill>
                <a:srgbClr val="000000"/>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46</a:t>
            </a:fld>
            <a:endParaRPr>
              <a:solidFill>
                <a:srgbClr val="000000"/>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47</a:t>
            </a:fld>
            <a:endParaRPr>
              <a:solidFill>
                <a:srgbClr val="000000"/>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48</a:t>
            </a:fld>
            <a:endParaRPr>
              <a:solidFill>
                <a:srgbClr val="000000"/>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49</a:t>
            </a:fld>
            <a:endParaRPr>
              <a:solidFill>
                <a:srgbClr val="000000"/>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50</a:t>
            </a:fld>
            <a:endParaRPr>
              <a:solidFill>
                <a:srgbClr val="000000"/>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51</a:t>
            </a:fld>
            <a:endParaRPr>
              <a:solidFill>
                <a:srgbClr val="000000"/>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52</a:t>
            </a:fld>
            <a:endParaRPr>
              <a:solidFill>
                <a:srgbClr val="000000"/>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53</a:t>
            </a:fld>
            <a:endParaRPr>
              <a:solidFill>
                <a:srgbClr val="000000"/>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54</a:t>
            </a:fld>
            <a:endParaRPr>
              <a:solidFill>
                <a:srgbClr val="000000"/>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55</a:t>
            </a:fld>
            <a:endParaRPr>
              <a:solidFill>
                <a:srgbClr val="000000"/>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56</a:t>
            </a:fld>
            <a:endParaRPr>
              <a:solidFill>
                <a:srgbClr val="000000"/>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57</a:t>
            </a:fld>
            <a:endParaRPr>
              <a:solidFill>
                <a:srgbClr val="000000"/>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58</a:t>
            </a:fld>
            <a:endParaRPr>
              <a:solidFill>
                <a:srgbClr val="000000"/>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59</a:t>
            </a:fld>
            <a:endParaRPr>
              <a:solidFill>
                <a:srgbClr val="000000"/>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60</a:t>
            </a:fld>
            <a:endParaRPr>
              <a:solidFill>
                <a:srgbClr val="000000"/>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61</a:t>
            </a:fld>
            <a:endParaRPr>
              <a:solidFill>
                <a:srgbClr val="000000"/>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62</a:t>
            </a:fld>
            <a:endParaRPr>
              <a:solidFill>
                <a:srgbClr val="000000"/>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63</a:t>
            </a:fld>
            <a:endParaRPr>
              <a:solidFill>
                <a:srgbClr val="000000"/>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64</a:t>
            </a:fld>
            <a:endParaRPr>
              <a:solidFill>
                <a:srgbClr val="000000"/>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65</a:t>
            </a:fld>
            <a:endParaRPr>
              <a:solidFill>
                <a:srgbClr val="000000"/>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66</a:t>
            </a:fld>
            <a:endParaRPr>
              <a:solidFill>
                <a:srgbClr val="000000"/>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67</a:t>
            </a:fld>
            <a:endParaRPr>
              <a:solidFill>
                <a:srgbClr val="000000"/>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69</a:t>
            </a:fld>
            <a:endParaRPr>
              <a:solidFill>
                <a:srgbClr val="000000"/>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70</a:t>
            </a:fld>
            <a:endParaRPr>
              <a:solidFill>
                <a:srgbClr val="000000"/>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71</a:t>
            </a:fld>
            <a:endParaRPr>
              <a:solidFill>
                <a:srgbClr val="000000"/>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72</a:t>
            </a:fld>
            <a:endParaRPr>
              <a:solidFill>
                <a:srgbClr val="000000"/>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73</a:t>
            </a:fld>
            <a:endParaRPr>
              <a:solidFill>
                <a:srgbClr val="000000"/>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74</a:t>
            </a:fld>
            <a:endParaRPr>
              <a:solidFill>
                <a:srgbClr val="000000"/>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75</a:t>
            </a:fld>
            <a:endParaRPr>
              <a:solidFill>
                <a:srgbClr val="000000"/>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76</a:t>
            </a:fld>
            <a:endParaRPr>
              <a:solidFill>
                <a:srgbClr val="000000"/>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77</a:t>
            </a:fld>
            <a:endParaRPr>
              <a:solidFill>
                <a:srgbClr val="000000"/>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9"/>
        <p:cNvGrpSpPr/>
        <p:nvPr/>
      </p:nvGrpSpPr>
      <p:grpSpPr>
        <a:xfrm>
          <a:off x="0" y="0"/>
          <a:ext cx="0" cy="0"/>
          <a:chOff x="0" y="0"/>
          <a:chExt cx="0" cy="0"/>
        </a:xfrm>
      </p:grpSpPr>
      <p:sp>
        <p:nvSpPr>
          <p:cNvPr id="4060" name="Google Shape;4060;p2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61" name="Google Shape;4061;p2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Thank you!</a:t>
            </a:r>
            <a:endParaRPr/>
          </a:p>
          <a:p>
            <a:pPr marL="0" lvl="0" indent="0" algn="l" rtl="0">
              <a:spcBef>
                <a:spcPts val="0"/>
              </a:spcBef>
              <a:spcAft>
                <a:spcPts val="0"/>
              </a:spcAft>
              <a:buNone/>
            </a:pPr>
            <a:endParaRPr/>
          </a:p>
        </p:txBody>
      </p:sp>
      <p:sp>
        <p:nvSpPr>
          <p:cNvPr id="4062" name="Google Shape;4062;p2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78</a:t>
            </a:fld>
            <a:endParaRPr>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idle title ">
  <p:cSld name="Midle title ">
    <p:spTree>
      <p:nvGrpSpPr>
        <p:cNvPr id="1" name="Shape 12"/>
        <p:cNvGrpSpPr/>
        <p:nvPr/>
      </p:nvGrpSpPr>
      <p:grpSpPr>
        <a:xfrm>
          <a:off x="0" y="0"/>
          <a:ext cx="0" cy="0"/>
          <a:chOff x="0" y="0"/>
          <a:chExt cx="0" cy="0"/>
        </a:xfrm>
      </p:grpSpPr>
      <p:sp>
        <p:nvSpPr>
          <p:cNvPr id="13" name="Google Shape;13;p217"/>
          <p:cNvSpPr txBox="1">
            <a:spLocks noGrp="1"/>
          </p:cNvSpPr>
          <p:nvPr>
            <p:ph type="body" idx="1"/>
          </p:nvPr>
        </p:nvSpPr>
        <p:spPr>
          <a:xfrm>
            <a:off x="635165" y="3231595"/>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 name="Google Shape;14;p217"/>
          <p:cNvSpPr txBox="1">
            <a:spLocks noGrp="1"/>
          </p:cNvSpPr>
          <p:nvPr>
            <p:ph type="body" idx="2"/>
          </p:nvPr>
        </p:nvSpPr>
        <p:spPr>
          <a:xfrm>
            <a:off x="635165" y="4060176"/>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lear">
  <p:cSld name="Clear">
    <p:spTree>
      <p:nvGrpSpPr>
        <p:cNvPr id="1"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op left title">
  <p:cSld name="Top left title">
    <p:spTree>
      <p:nvGrpSpPr>
        <p:cNvPr id="1" name="Shape 16"/>
        <p:cNvGrpSpPr/>
        <p:nvPr/>
      </p:nvGrpSpPr>
      <p:grpSpPr>
        <a:xfrm>
          <a:off x="0" y="0"/>
          <a:ext cx="0" cy="0"/>
          <a:chOff x="0" y="0"/>
          <a:chExt cx="0" cy="0"/>
        </a:xfrm>
      </p:grpSpPr>
      <p:sp>
        <p:nvSpPr>
          <p:cNvPr id="17" name="Google Shape;17;p224"/>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8" name="Google Shape;18;p224"/>
          <p:cNvSpPr txBox="1">
            <a:spLocks noGrp="1"/>
          </p:cNvSpPr>
          <p:nvPr>
            <p:ph type="body" idx="2"/>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op center title">
  <p:cSld name="Top center title">
    <p:spTree>
      <p:nvGrpSpPr>
        <p:cNvPr id="1" name="Shape 22"/>
        <p:cNvGrpSpPr/>
        <p:nvPr/>
      </p:nvGrpSpPr>
      <p:grpSpPr>
        <a:xfrm>
          <a:off x="0" y="0"/>
          <a:ext cx="0" cy="0"/>
          <a:chOff x="0" y="0"/>
          <a:chExt cx="0" cy="0"/>
        </a:xfrm>
      </p:grpSpPr>
      <p:sp>
        <p:nvSpPr>
          <p:cNvPr id="23" name="Google Shape;23;p219"/>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4" name="Google Shape;24;p219"/>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idle title ">
  <p:cSld name="Midle title ">
    <p:spTree>
      <p:nvGrpSpPr>
        <p:cNvPr id="1" name="Shape 25"/>
        <p:cNvGrpSpPr/>
        <p:nvPr/>
      </p:nvGrpSpPr>
      <p:grpSpPr>
        <a:xfrm>
          <a:off x="0" y="0"/>
          <a:ext cx="0" cy="0"/>
          <a:chOff x="0" y="0"/>
          <a:chExt cx="0" cy="0"/>
        </a:xfrm>
      </p:grpSpPr>
      <p:sp>
        <p:nvSpPr>
          <p:cNvPr id="26" name="Google Shape;26;p220"/>
          <p:cNvSpPr txBox="1">
            <a:spLocks noGrp="1"/>
          </p:cNvSpPr>
          <p:nvPr>
            <p:ph type="body" idx="1"/>
          </p:nvPr>
        </p:nvSpPr>
        <p:spPr>
          <a:xfrm>
            <a:off x="635165" y="3231595"/>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7" name="Google Shape;27;p220"/>
          <p:cNvSpPr txBox="1">
            <a:spLocks noGrp="1"/>
          </p:cNvSpPr>
          <p:nvPr>
            <p:ph type="body" idx="2"/>
          </p:nvPr>
        </p:nvSpPr>
        <p:spPr>
          <a:xfrm>
            <a:off x="635165" y="4060176"/>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lear">
  <p:cSld name="Clear">
    <p:spTree>
      <p:nvGrpSpPr>
        <p:cNvPr id="1" name="Shape 2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Graphic with title 1">
  <p:cSld name="Graphic with title 1">
    <p:spTree>
      <p:nvGrpSpPr>
        <p:cNvPr id="1" name="Shape 29"/>
        <p:cNvGrpSpPr/>
        <p:nvPr/>
      </p:nvGrpSpPr>
      <p:grpSpPr>
        <a:xfrm>
          <a:off x="0" y="0"/>
          <a:ext cx="0" cy="0"/>
          <a:chOff x="0" y="0"/>
          <a:chExt cx="0" cy="0"/>
        </a:xfrm>
      </p:grpSpPr>
      <p:sp>
        <p:nvSpPr>
          <p:cNvPr id="30" name="Google Shape;30;p259"/>
          <p:cNvSpPr>
            <a:spLocks noGrp="1"/>
          </p:cNvSpPr>
          <p:nvPr>
            <p:ph type="pic" idx="2"/>
          </p:nvPr>
        </p:nvSpPr>
        <p:spPr>
          <a:xfrm>
            <a:off x="0" y="219127"/>
            <a:ext cx="5398451" cy="69341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1" name="Google Shape;31;p259"/>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2" name="Google Shape;32;p259"/>
          <p:cNvSpPr txBox="1">
            <a:spLocks noGrp="1"/>
          </p:cNvSpPr>
          <p:nvPr>
            <p:ph type="body" idx="3"/>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op left title">
  <p:cSld name="Top left title">
    <p:spTree>
      <p:nvGrpSpPr>
        <p:cNvPr id="1" name="Shape 33"/>
        <p:cNvGrpSpPr/>
        <p:nvPr/>
      </p:nvGrpSpPr>
      <p:grpSpPr>
        <a:xfrm>
          <a:off x="0" y="0"/>
          <a:ext cx="0" cy="0"/>
          <a:chOff x="0" y="0"/>
          <a:chExt cx="0" cy="0"/>
        </a:xfrm>
      </p:grpSpPr>
      <p:sp>
        <p:nvSpPr>
          <p:cNvPr id="34" name="Google Shape;34;p260"/>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5" name="Google Shape;35;p260"/>
          <p:cNvSpPr txBox="1">
            <a:spLocks noGrp="1"/>
          </p:cNvSpPr>
          <p:nvPr>
            <p:ph type="body" idx="2"/>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lear">
  <p:cSld name="Clear">
    <p:spTree>
      <p:nvGrpSpPr>
        <p:cNvPr id="1" name="Shape 4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Graphic with title 2">
  <p:cSld name="Graphic with title 2">
    <p:spTree>
      <p:nvGrpSpPr>
        <p:cNvPr id="1" name="Shape 45"/>
        <p:cNvGrpSpPr/>
        <p:nvPr/>
      </p:nvGrpSpPr>
      <p:grpSpPr>
        <a:xfrm>
          <a:off x="0" y="0"/>
          <a:ext cx="0" cy="0"/>
          <a:chOff x="0" y="0"/>
          <a:chExt cx="0" cy="0"/>
        </a:xfrm>
      </p:grpSpPr>
      <p:sp>
        <p:nvSpPr>
          <p:cNvPr id="46" name="Google Shape;46;p226"/>
          <p:cNvSpPr>
            <a:spLocks noGrp="1"/>
          </p:cNvSpPr>
          <p:nvPr>
            <p:ph type="pic" idx="2"/>
          </p:nvPr>
        </p:nvSpPr>
        <p:spPr>
          <a:xfrm>
            <a:off x="4898367" y="-706535"/>
            <a:ext cx="7418239" cy="740015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7" name="Google Shape;47;p226"/>
          <p:cNvSpPr txBox="1">
            <a:spLocks noGrp="1"/>
          </p:cNvSpPr>
          <p:nvPr>
            <p:ph type="body" idx="1"/>
          </p:nvPr>
        </p:nvSpPr>
        <p:spPr>
          <a:xfrm>
            <a:off x="624417"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8" name="Google Shape;48;p226"/>
          <p:cNvSpPr txBox="1">
            <a:spLocks noGrp="1"/>
          </p:cNvSpPr>
          <p:nvPr>
            <p:ph type="body" idx="3"/>
          </p:nvPr>
        </p:nvSpPr>
        <p:spPr>
          <a:xfrm>
            <a:off x="624417"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Graphic with title 3">
  <p:cSld name="Graphic with title 3">
    <p:spTree>
      <p:nvGrpSpPr>
        <p:cNvPr id="1" name="Shape 49"/>
        <p:cNvGrpSpPr/>
        <p:nvPr/>
      </p:nvGrpSpPr>
      <p:grpSpPr>
        <a:xfrm>
          <a:off x="0" y="0"/>
          <a:ext cx="0" cy="0"/>
          <a:chOff x="0" y="0"/>
          <a:chExt cx="0" cy="0"/>
        </a:xfrm>
      </p:grpSpPr>
      <p:sp>
        <p:nvSpPr>
          <p:cNvPr id="50" name="Google Shape;50;p227"/>
          <p:cNvSpPr>
            <a:spLocks noGrp="1"/>
          </p:cNvSpPr>
          <p:nvPr>
            <p:ph type="pic" idx="2"/>
          </p:nvPr>
        </p:nvSpPr>
        <p:spPr>
          <a:xfrm>
            <a:off x="4775079" y="0"/>
            <a:ext cx="7418239" cy="6467624"/>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51" name="Google Shape;51;p227"/>
          <p:cNvSpPr txBox="1">
            <a:spLocks noGrp="1"/>
          </p:cNvSpPr>
          <p:nvPr>
            <p:ph type="body" idx="1"/>
          </p:nvPr>
        </p:nvSpPr>
        <p:spPr>
          <a:xfrm>
            <a:off x="624417"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52" name="Google Shape;52;p227"/>
          <p:cNvSpPr txBox="1">
            <a:spLocks noGrp="1"/>
          </p:cNvSpPr>
          <p:nvPr>
            <p:ph type="body" idx="3"/>
          </p:nvPr>
        </p:nvSpPr>
        <p:spPr>
          <a:xfrm>
            <a:off x="624417"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raphic with title 4">
  <p:cSld name="Graphic with title 4">
    <p:spTree>
      <p:nvGrpSpPr>
        <p:cNvPr id="1" name="Shape 53"/>
        <p:cNvGrpSpPr/>
        <p:nvPr/>
      </p:nvGrpSpPr>
      <p:grpSpPr>
        <a:xfrm>
          <a:off x="0" y="0"/>
          <a:ext cx="0" cy="0"/>
          <a:chOff x="0" y="0"/>
          <a:chExt cx="0" cy="0"/>
        </a:xfrm>
      </p:grpSpPr>
      <p:sp>
        <p:nvSpPr>
          <p:cNvPr id="54" name="Google Shape;54;p228"/>
          <p:cNvSpPr>
            <a:spLocks noGrp="1"/>
          </p:cNvSpPr>
          <p:nvPr>
            <p:ph type="pic" idx="2"/>
          </p:nvPr>
        </p:nvSpPr>
        <p:spPr>
          <a:xfrm>
            <a:off x="4898367" y="-461577"/>
            <a:ext cx="7418239" cy="740015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55" name="Google Shape;55;p228"/>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56" name="Google Shape;56;p228"/>
          <p:cNvSpPr txBox="1">
            <a:spLocks noGrp="1"/>
          </p:cNvSpPr>
          <p:nvPr>
            <p:ph type="body" idx="3"/>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cept graphic 1">
  <p:cSld name="Concept graphic 1">
    <p:spTree>
      <p:nvGrpSpPr>
        <p:cNvPr id="1" name="Shape 57"/>
        <p:cNvGrpSpPr/>
        <p:nvPr/>
      </p:nvGrpSpPr>
      <p:grpSpPr>
        <a:xfrm>
          <a:off x="0" y="0"/>
          <a:ext cx="0" cy="0"/>
          <a:chOff x="0" y="0"/>
          <a:chExt cx="0" cy="0"/>
        </a:xfrm>
      </p:grpSpPr>
      <p:sp>
        <p:nvSpPr>
          <p:cNvPr id="58" name="Google Shape;58;p229"/>
          <p:cNvSpPr>
            <a:spLocks noGrp="1"/>
          </p:cNvSpPr>
          <p:nvPr>
            <p:ph type="pic" idx="2"/>
          </p:nvPr>
        </p:nvSpPr>
        <p:spPr>
          <a:xfrm>
            <a:off x="-12742" y="-819120"/>
            <a:ext cx="12169663" cy="7450448"/>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cept graphic 2">
  <p:cSld name="Concept graphic 2">
    <p:spTree>
      <p:nvGrpSpPr>
        <p:cNvPr id="1" name="Shape 59"/>
        <p:cNvGrpSpPr/>
        <p:nvPr/>
      </p:nvGrpSpPr>
      <p:grpSpPr>
        <a:xfrm>
          <a:off x="0" y="0"/>
          <a:ext cx="0" cy="0"/>
          <a:chOff x="0" y="0"/>
          <a:chExt cx="0" cy="0"/>
        </a:xfrm>
      </p:grpSpPr>
      <p:sp>
        <p:nvSpPr>
          <p:cNvPr id="60" name="Google Shape;60;p230"/>
          <p:cNvSpPr>
            <a:spLocks noGrp="1"/>
          </p:cNvSpPr>
          <p:nvPr>
            <p:ph type="pic" idx="2"/>
          </p:nvPr>
        </p:nvSpPr>
        <p:spPr>
          <a:xfrm>
            <a:off x="1" y="0"/>
            <a:ext cx="12156920" cy="6628299"/>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cept graphic 3">
  <p:cSld name="Concept graphic 3">
    <p:spTree>
      <p:nvGrpSpPr>
        <p:cNvPr id="1" name="Shape 61"/>
        <p:cNvGrpSpPr/>
        <p:nvPr/>
      </p:nvGrpSpPr>
      <p:grpSpPr>
        <a:xfrm>
          <a:off x="0" y="0"/>
          <a:ext cx="0" cy="0"/>
          <a:chOff x="0" y="0"/>
          <a:chExt cx="0" cy="0"/>
        </a:xfrm>
      </p:grpSpPr>
      <p:sp>
        <p:nvSpPr>
          <p:cNvPr id="62" name="Google Shape;62;p231"/>
          <p:cNvSpPr>
            <a:spLocks noGrp="1"/>
          </p:cNvSpPr>
          <p:nvPr>
            <p:ph type="pic" idx="2"/>
          </p:nvPr>
        </p:nvSpPr>
        <p:spPr>
          <a:xfrm>
            <a:off x="5" y="2"/>
            <a:ext cx="12156919" cy="471976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cept graphic 4">
  <p:cSld name="Concept graphic 4">
    <p:spTree>
      <p:nvGrpSpPr>
        <p:cNvPr id="1" name="Shape 63"/>
        <p:cNvGrpSpPr/>
        <p:nvPr/>
      </p:nvGrpSpPr>
      <p:grpSpPr>
        <a:xfrm>
          <a:off x="0" y="0"/>
          <a:ext cx="0" cy="0"/>
          <a:chOff x="0" y="0"/>
          <a:chExt cx="0" cy="0"/>
        </a:xfrm>
      </p:grpSpPr>
      <p:sp>
        <p:nvSpPr>
          <p:cNvPr id="64" name="Google Shape;64;p232"/>
          <p:cNvSpPr>
            <a:spLocks noGrp="1"/>
          </p:cNvSpPr>
          <p:nvPr>
            <p:ph type="pic" idx="2"/>
          </p:nvPr>
        </p:nvSpPr>
        <p:spPr>
          <a:xfrm>
            <a:off x="-13635" y="-5335"/>
            <a:ext cx="12471072" cy="6021821"/>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cept graphic 5">
  <p:cSld name="Concept graphic 5">
    <p:spTree>
      <p:nvGrpSpPr>
        <p:cNvPr id="1" name="Shape 65"/>
        <p:cNvGrpSpPr/>
        <p:nvPr/>
      </p:nvGrpSpPr>
      <p:grpSpPr>
        <a:xfrm>
          <a:off x="0" y="0"/>
          <a:ext cx="0" cy="0"/>
          <a:chOff x="0" y="0"/>
          <a:chExt cx="0" cy="0"/>
        </a:xfrm>
      </p:grpSpPr>
      <p:sp>
        <p:nvSpPr>
          <p:cNvPr id="66" name="Google Shape;66;p233"/>
          <p:cNvSpPr>
            <a:spLocks noGrp="1"/>
          </p:cNvSpPr>
          <p:nvPr>
            <p:ph type="pic" idx="2"/>
          </p:nvPr>
        </p:nvSpPr>
        <p:spPr>
          <a:xfrm>
            <a:off x="1" y="494108"/>
            <a:ext cx="12448915" cy="5788955"/>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idle title ">
  <p:cSld name="Midle title ">
    <p:spTree>
      <p:nvGrpSpPr>
        <p:cNvPr id="1" name="Shape 67"/>
        <p:cNvGrpSpPr/>
        <p:nvPr/>
      </p:nvGrpSpPr>
      <p:grpSpPr>
        <a:xfrm>
          <a:off x="0" y="0"/>
          <a:ext cx="0" cy="0"/>
          <a:chOff x="0" y="0"/>
          <a:chExt cx="0" cy="0"/>
        </a:xfrm>
      </p:grpSpPr>
      <p:sp>
        <p:nvSpPr>
          <p:cNvPr id="68" name="Google Shape;68;p234"/>
          <p:cNvSpPr txBox="1">
            <a:spLocks noGrp="1"/>
          </p:cNvSpPr>
          <p:nvPr>
            <p:ph type="body" idx="1"/>
          </p:nvPr>
        </p:nvSpPr>
        <p:spPr>
          <a:xfrm>
            <a:off x="635165" y="3231595"/>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69" name="Google Shape;69;p234"/>
          <p:cNvSpPr txBox="1">
            <a:spLocks noGrp="1"/>
          </p:cNvSpPr>
          <p:nvPr>
            <p:ph type="body" idx="2"/>
          </p:nvPr>
        </p:nvSpPr>
        <p:spPr>
          <a:xfrm>
            <a:off x="635165" y="4060176"/>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op left title">
  <p:cSld name="Top left title">
    <p:spTree>
      <p:nvGrpSpPr>
        <p:cNvPr id="1" name="Shape 70"/>
        <p:cNvGrpSpPr/>
        <p:nvPr/>
      </p:nvGrpSpPr>
      <p:grpSpPr>
        <a:xfrm>
          <a:off x="0" y="0"/>
          <a:ext cx="0" cy="0"/>
          <a:chOff x="0" y="0"/>
          <a:chExt cx="0" cy="0"/>
        </a:xfrm>
      </p:grpSpPr>
      <p:sp>
        <p:nvSpPr>
          <p:cNvPr id="71" name="Google Shape;71;p235"/>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72" name="Google Shape;72;p235"/>
          <p:cNvSpPr txBox="1">
            <a:spLocks noGrp="1"/>
          </p:cNvSpPr>
          <p:nvPr>
            <p:ph type="body" idx="2"/>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op center title">
  <p:cSld name="Top center title">
    <p:spTree>
      <p:nvGrpSpPr>
        <p:cNvPr id="1" name="Shape 73"/>
        <p:cNvGrpSpPr/>
        <p:nvPr/>
      </p:nvGrpSpPr>
      <p:grpSpPr>
        <a:xfrm>
          <a:off x="0" y="0"/>
          <a:ext cx="0" cy="0"/>
          <a:chOff x="0" y="0"/>
          <a:chExt cx="0" cy="0"/>
        </a:xfrm>
      </p:grpSpPr>
      <p:sp>
        <p:nvSpPr>
          <p:cNvPr id="74" name="Google Shape;74;p236"/>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75" name="Google Shape;75;p236"/>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3_Top center title">
  <p:cSld name="13_Top center title">
    <p:spTree>
      <p:nvGrpSpPr>
        <p:cNvPr id="1" name="Shape 76"/>
        <p:cNvGrpSpPr/>
        <p:nvPr/>
      </p:nvGrpSpPr>
      <p:grpSpPr>
        <a:xfrm>
          <a:off x="0" y="0"/>
          <a:ext cx="0" cy="0"/>
          <a:chOff x="0" y="0"/>
          <a:chExt cx="0" cy="0"/>
        </a:xfrm>
      </p:grpSpPr>
      <p:sp>
        <p:nvSpPr>
          <p:cNvPr id="77" name="Google Shape;77;p237"/>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78" name="Google Shape;78;p237"/>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pic>
        <p:nvPicPr>
          <p:cNvPr id="79" name="Google Shape;79;p237" descr="New Macbook Silver.png"/>
          <p:cNvPicPr preferRelativeResize="0"/>
          <p:nvPr/>
        </p:nvPicPr>
        <p:blipFill rotWithShape="1">
          <a:blip r:embed="rId2">
            <a:alphaModFix/>
          </a:blip>
          <a:srcRect/>
          <a:stretch/>
        </p:blipFill>
        <p:spPr>
          <a:xfrm>
            <a:off x="624417" y="2628432"/>
            <a:ext cx="5960632" cy="3490232"/>
          </a:xfrm>
          <a:prstGeom prst="rect">
            <a:avLst/>
          </a:prstGeom>
          <a:noFill/>
          <a:ln>
            <a:noFill/>
          </a:ln>
        </p:spPr>
      </p:pic>
      <p:sp>
        <p:nvSpPr>
          <p:cNvPr id="80" name="Google Shape;80;p237"/>
          <p:cNvSpPr>
            <a:spLocks noGrp="1"/>
          </p:cNvSpPr>
          <p:nvPr>
            <p:ph type="pic" idx="3"/>
          </p:nvPr>
        </p:nvSpPr>
        <p:spPr>
          <a:xfrm>
            <a:off x="1309666" y="2882745"/>
            <a:ext cx="4548553" cy="287215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Top left title">
  <p:cSld name="1_Top left title">
    <p:spTree>
      <p:nvGrpSpPr>
        <p:cNvPr id="1" name="Shape 81"/>
        <p:cNvGrpSpPr/>
        <p:nvPr/>
      </p:nvGrpSpPr>
      <p:grpSpPr>
        <a:xfrm>
          <a:off x="0" y="0"/>
          <a:ext cx="0" cy="0"/>
          <a:chOff x="0" y="0"/>
          <a:chExt cx="0" cy="0"/>
        </a:xfrm>
      </p:grpSpPr>
      <p:sp>
        <p:nvSpPr>
          <p:cNvPr id="82" name="Google Shape;82;p238"/>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83" name="Google Shape;83;p238"/>
          <p:cNvSpPr txBox="1">
            <a:spLocks noGrp="1"/>
          </p:cNvSpPr>
          <p:nvPr>
            <p:ph type="body" idx="2"/>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grpSp>
        <p:nvGrpSpPr>
          <p:cNvPr id="84" name="Google Shape;84;p238"/>
          <p:cNvGrpSpPr/>
          <p:nvPr/>
        </p:nvGrpSpPr>
        <p:grpSpPr>
          <a:xfrm>
            <a:off x="6907316" y="497273"/>
            <a:ext cx="4008056" cy="5937596"/>
            <a:chOff x="0" y="0"/>
            <a:chExt cx="6591304" cy="9765730"/>
          </a:xfrm>
        </p:grpSpPr>
        <p:pic>
          <p:nvPicPr>
            <p:cNvPr id="85" name="Google Shape;85;p238"/>
            <p:cNvPicPr preferRelativeResize="0"/>
            <p:nvPr/>
          </p:nvPicPr>
          <p:blipFill rotWithShape="1">
            <a:blip r:embed="rId2">
              <a:alphaModFix/>
            </a:blip>
            <a:srcRect/>
            <a:stretch/>
          </p:blipFill>
          <p:spPr>
            <a:xfrm>
              <a:off x="0" y="0"/>
              <a:ext cx="6591304" cy="9765730"/>
            </a:xfrm>
            <a:prstGeom prst="rect">
              <a:avLst/>
            </a:prstGeom>
            <a:noFill/>
            <a:ln>
              <a:noFill/>
            </a:ln>
          </p:spPr>
        </p:pic>
        <p:sp>
          <p:nvSpPr>
            <p:cNvPr id="86" name="Google Shape;86;p238"/>
            <p:cNvSpPr/>
            <p:nvPr/>
          </p:nvSpPr>
          <p:spPr>
            <a:xfrm>
              <a:off x="363079" y="954047"/>
              <a:ext cx="5879097" cy="7806214"/>
            </a:xfrm>
            <a:prstGeom prst="rect">
              <a:avLst/>
            </a:prstGeom>
            <a:solidFill>
              <a:srgbClr val="606060"/>
            </a:solidFill>
            <a:ln w="25400" cap="flat" cmpd="sng">
              <a:solidFill>
                <a:srgbClr val="000000">
                  <a:alpha val="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331">
                <a:solidFill>
                  <a:srgbClr val="FFFFFF"/>
                </a:solidFill>
                <a:latin typeface="Calibri"/>
                <a:ea typeface="Calibri"/>
                <a:cs typeface="Calibri"/>
                <a:sym typeface="Calibri"/>
              </a:endParaRPr>
            </a:p>
          </p:txBody>
        </p:sp>
      </p:grpSp>
      <p:sp>
        <p:nvSpPr>
          <p:cNvPr id="87" name="Google Shape;87;p238"/>
          <p:cNvSpPr>
            <a:spLocks noGrp="1"/>
          </p:cNvSpPr>
          <p:nvPr>
            <p:ph type="pic" idx="3"/>
          </p:nvPr>
        </p:nvSpPr>
        <p:spPr>
          <a:xfrm>
            <a:off x="7128099" y="1077337"/>
            <a:ext cx="3574976" cy="4746204"/>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2_Top center title">
  <p:cSld name="12_Top center title">
    <p:spTree>
      <p:nvGrpSpPr>
        <p:cNvPr id="1" name="Shape 88"/>
        <p:cNvGrpSpPr/>
        <p:nvPr/>
      </p:nvGrpSpPr>
      <p:grpSpPr>
        <a:xfrm>
          <a:off x="0" y="0"/>
          <a:ext cx="0" cy="0"/>
          <a:chOff x="0" y="0"/>
          <a:chExt cx="0" cy="0"/>
        </a:xfrm>
      </p:grpSpPr>
      <p:sp>
        <p:nvSpPr>
          <p:cNvPr id="89" name="Google Shape;89;p239"/>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90" name="Google Shape;90;p239"/>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91" name="Google Shape;91;p239"/>
          <p:cNvSpPr>
            <a:spLocks noGrp="1"/>
          </p:cNvSpPr>
          <p:nvPr>
            <p:ph type="pic" idx="3"/>
          </p:nvPr>
        </p:nvSpPr>
        <p:spPr>
          <a:xfrm>
            <a:off x="6256285" y="2409093"/>
            <a:ext cx="5248843" cy="330628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4_Top center title">
  <p:cSld name="14_Top center title">
    <p:spTree>
      <p:nvGrpSpPr>
        <p:cNvPr id="1" name="Shape 92"/>
        <p:cNvGrpSpPr/>
        <p:nvPr/>
      </p:nvGrpSpPr>
      <p:grpSpPr>
        <a:xfrm>
          <a:off x="0" y="0"/>
          <a:ext cx="0" cy="0"/>
          <a:chOff x="0" y="0"/>
          <a:chExt cx="0" cy="0"/>
        </a:xfrm>
      </p:grpSpPr>
      <p:sp>
        <p:nvSpPr>
          <p:cNvPr id="93" name="Google Shape;93;p240"/>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94" name="Google Shape;94;p240"/>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95" name="Google Shape;95;p240"/>
          <p:cNvSpPr>
            <a:spLocks noGrp="1"/>
          </p:cNvSpPr>
          <p:nvPr>
            <p:ph type="pic" idx="3"/>
          </p:nvPr>
        </p:nvSpPr>
        <p:spPr>
          <a:xfrm>
            <a:off x="722679" y="2409093"/>
            <a:ext cx="5248843" cy="330628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5_Top center title">
  <p:cSld name="5_Top center title">
    <p:spTree>
      <p:nvGrpSpPr>
        <p:cNvPr id="1" name="Shape 96"/>
        <p:cNvGrpSpPr/>
        <p:nvPr/>
      </p:nvGrpSpPr>
      <p:grpSpPr>
        <a:xfrm>
          <a:off x="0" y="0"/>
          <a:ext cx="0" cy="0"/>
          <a:chOff x="0" y="0"/>
          <a:chExt cx="0" cy="0"/>
        </a:xfrm>
      </p:grpSpPr>
      <p:sp>
        <p:nvSpPr>
          <p:cNvPr id="97" name="Google Shape;97;p241"/>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98" name="Google Shape;98;p241"/>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99" name="Google Shape;99;p241"/>
          <p:cNvSpPr>
            <a:spLocks noGrp="1"/>
          </p:cNvSpPr>
          <p:nvPr>
            <p:ph type="pic" idx="3"/>
          </p:nvPr>
        </p:nvSpPr>
        <p:spPr>
          <a:xfrm>
            <a:off x="0" y="1875696"/>
            <a:ext cx="12192000" cy="4982305"/>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6_Top center title">
  <p:cSld name="6_Top center title">
    <p:spTree>
      <p:nvGrpSpPr>
        <p:cNvPr id="1" name="Shape 100"/>
        <p:cNvGrpSpPr/>
        <p:nvPr/>
      </p:nvGrpSpPr>
      <p:grpSpPr>
        <a:xfrm>
          <a:off x="0" y="0"/>
          <a:ext cx="0" cy="0"/>
          <a:chOff x="0" y="0"/>
          <a:chExt cx="0" cy="0"/>
        </a:xfrm>
      </p:grpSpPr>
      <p:sp>
        <p:nvSpPr>
          <p:cNvPr id="101" name="Google Shape;101;p242"/>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02" name="Google Shape;102;p242"/>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03" name="Google Shape;103;p242"/>
          <p:cNvSpPr>
            <a:spLocks noGrp="1"/>
          </p:cNvSpPr>
          <p:nvPr>
            <p:ph type="pic" idx="3"/>
          </p:nvPr>
        </p:nvSpPr>
        <p:spPr>
          <a:xfrm>
            <a:off x="0" y="1875695"/>
            <a:ext cx="12192000" cy="2930767"/>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_Top center title">
  <p:cSld name="4_Top center title">
    <p:spTree>
      <p:nvGrpSpPr>
        <p:cNvPr id="1" name="Shape 104"/>
        <p:cNvGrpSpPr/>
        <p:nvPr/>
      </p:nvGrpSpPr>
      <p:grpSpPr>
        <a:xfrm>
          <a:off x="0" y="0"/>
          <a:ext cx="0" cy="0"/>
          <a:chOff x="0" y="0"/>
          <a:chExt cx="0" cy="0"/>
        </a:xfrm>
      </p:grpSpPr>
      <p:sp>
        <p:nvSpPr>
          <p:cNvPr id="105" name="Google Shape;105;p243"/>
          <p:cNvSpPr txBox="1">
            <a:spLocks noGrp="1"/>
          </p:cNvSpPr>
          <p:nvPr>
            <p:ph type="body" idx="1"/>
          </p:nvPr>
        </p:nvSpPr>
        <p:spPr>
          <a:xfrm>
            <a:off x="3329431" y="309709"/>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06" name="Google Shape;106;p243"/>
          <p:cNvSpPr txBox="1">
            <a:spLocks noGrp="1"/>
          </p:cNvSpPr>
          <p:nvPr>
            <p:ph type="body" idx="2"/>
          </p:nvPr>
        </p:nvSpPr>
        <p:spPr>
          <a:xfrm>
            <a:off x="3329431" y="1138291"/>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07" name="Google Shape;107;p243"/>
          <p:cNvSpPr>
            <a:spLocks noGrp="1"/>
          </p:cNvSpPr>
          <p:nvPr>
            <p:ph type="pic" idx="3"/>
          </p:nvPr>
        </p:nvSpPr>
        <p:spPr>
          <a:xfrm>
            <a:off x="624417" y="1685045"/>
            <a:ext cx="3475892" cy="3475892"/>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08" name="Google Shape;108;p243"/>
          <p:cNvSpPr>
            <a:spLocks noGrp="1"/>
          </p:cNvSpPr>
          <p:nvPr>
            <p:ph type="pic" idx="4"/>
          </p:nvPr>
        </p:nvSpPr>
        <p:spPr>
          <a:xfrm>
            <a:off x="4358054" y="1685045"/>
            <a:ext cx="3475892" cy="3475892"/>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09" name="Google Shape;109;p243"/>
          <p:cNvSpPr>
            <a:spLocks noGrp="1"/>
          </p:cNvSpPr>
          <p:nvPr>
            <p:ph type="pic" idx="5"/>
          </p:nvPr>
        </p:nvSpPr>
        <p:spPr>
          <a:xfrm>
            <a:off x="8091691" y="1685045"/>
            <a:ext cx="3475892" cy="3475892"/>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1_Top center title">
  <p:cSld name="11_Top center title">
    <p:spTree>
      <p:nvGrpSpPr>
        <p:cNvPr id="1" name="Shape 110"/>
        <p:cNvGrpSpPr/>
        <p:nvPr/>
      </p:nvGrpSpPr>
      <p:grpSpPr>
        <a:xfrm>
          <a:off x="0" y="0"/>
          <a:ext cx="0" cy="0"/>
          <a:chOff x="0" y="0"/>
          <a:chExt cx="0" cy="0"/>
        </a:xfrm>
      </p:grpSpPr>
      <p:sp>
        <p:nvSpPr>
          <p:cNvPr id="111" name="Google Shape;111;p244"/>
          <p:cNvSpPr txBox="1">
            <a:spLocks noGrp="1"/>
          </p:cNvSpPr>
          <p:nvPr>
            <p:ph type="body" idx="1"/>
          </p:nvPr>
        </p:nvSpPr>
        <p:spPr>
          <a:xfrm>
            <a:off x="3329431" y="309709"/>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12" name="Google Shape;112;p244"/>
          <p:cNvSpPr txBox="1">
            <a:spLocks noGrp="1"/>
          </p:cNvSpPr>
          <p:nvPr>
            <p:ph type="body" idx="2"/>
          </p:nvPr>
        </p:nvSpPr>
        <p:spPr>
          <a:xfrm>
            <a:off x="3329431" y="1138291"/>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13" name="Google Shape;113;p244"/>
          <p:cNvSpPr>
            <a:spLocks noGrp="1"/>
          </p:cNvSpPr>
          <p:nvPr>
            <p:ph type="pic" idx="3"/>
          </p:nvPr>
        </p:nvSpPr>
        <p:spPr>
          <a:xfrm>
            <a:off x="624420" y="1705708"/>
            <a:ext cx="5248843" cy="330628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14" name="Google Shape;114;p244"/>
          <p:cNvSpPr>
            <a:spLocks noGrp="1"/>
          </p:cNvSpPr>
          <p:nvPr>
            <p:ph type="pic" idx="4"/>
          </p:nvPr>
        </p:nvSpPr>
        <p:spPr>
          <a:xfrm>
            <a:off x="6318741" y="1705708"/>
            <a:ext cx="5248843" cy="330628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0_Top center title">
  <p:cSld name="10_Top center title">
    <p:spTree>
      <p:nvGrpSpPr>
        <p:cNvPr id="1" name="Shape 115"/>
        <p:cNvGrpSpPr/>
        <p:nvPr/>
      </p:nvGrpSpPr>
      <p:grpSpPr>
        <a:xfrm>
          <a:off x="0" y="0"/>
          <a:ext cx="0" cy="0"/>
          <a:chOff x="0" y="0"/>
          <a:chExt cx="0" cy="0"/>
        </a:xfrm>
      </p:grpSpPr>
      <p:sp>
        <p:nvSpPr>
          <p:cNvPr id="116" name="Google Shape;116;p245"/>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17" name="Google Shape;117;p245"/>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18" name="Google Shape;118;p245"/>
          <p:cNvSpPr>
            <a:spLocks noGrp="1"/>
          </p:cNvSpPr>
          <p:nvPr>
            <p:ph type="pic" idx="3"/>
          </p:nvPr>
        </p:nvSpPr>
        <p:spPr>
          <a:xfrm>
            <a:off x="1160588" y="2262559"/>
            <a:ext cx="2614243" cy="261424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19" name="Google Shape;119;p245"/>
          <p:cNvSpPr>
            <a:spLocks noGrp="1"/>
          </p:cNvSpPr>
          <p:nvPr>
            <p:ph type="pic" idx="4"/>
          </p:nvPr>
        </p:nvSpPr>
        <p:spPr>
          <a:xfrm>
            <a:off x="4788879" y="2262559"/>
            <a:ext cx="2614243" cy="261424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20" name="Google Shape;120;p245"/>
          <p:cNvSpPr>
            <a:spLocks noGrp="1"/>
          </p:cNvSpPr>
          <p:nvPr>
            <p:ph type="pic" idx="5"/>
          </p:nvPr>
        </p:nvSpPr>
        <p:spPr>
          <a:xfrm>
            <a:off x="8305797" y="2262559"/>
            <a:ext cx="2614243" cy="261424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7_Top center title">
  <p:cSld name="7_Top center title">
    <p:spTree>
      <p:nvGrpSpPr>
        <p:cNvPr id="1" name="Shape 121"/>
        <p:cNvGrpSpPr/>
        <p:nvPr/>
      </p:nvGrpSpPr>
      <p:grpSpPr>
        <a:xfrm>
          <a:off x="0" y="0"/>
          <a:ext cx="0" cy="0"/>
          <a:chOff x="0" y="0"/>
          <a:chExt cx="0" cy="0"/>
        </a:xfrm>
      </p:grpSpPr>
      <p:sp>
        <p:nvSpPr>
          <p:cNvPr id="122" name="Google Shape;122;p246"/>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23" name="Google Shape;123;p246"/>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24" name="Google Shape;124;p246"/>
          <p:cNvSpPr>
            <a:spLocks noGrp="1"/>
          </p:cNvSpPr>
          <p:nvPr>
            <p:ph type="pic" idx="3"/>
          </p:nvPr>
        </p:nvSpPr>
        <p:spPr>
          <a:xfrm>
            <a:off x="624418" y="2133604"/>
            <a:ext cx="2344613" cy="234461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25" name="Google Shape;125;p246"/>
          <p:cNvSpPr>
            <a:spLocks noGrp="1"/>
          </p:cNvSpPr>
          <p:nvPr>
            <p:ph type="pic" idx="4"/>
          </p:nvPr>
        </p:nvSpPr>
        <p:spPr>
          <a:xfrm>
            <a:off x="3490708" y="2133604"/>
            <a:ext cx="2344613" cy="234461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26" name="Google Shape;126;p246"/>
          <p:cNvSpPr>
            <a:spLocks noGrp="1"/>
          </p:cNvSpPr>
          <p:nvPr>
            <p:ph type="pic" idx="5"/>
          </p:nvPr>
        </p:nvSpPr>
        <p:spPr>
          <a:xfrm>
            <a:off x="6356999" y="2133604"/>
            <a:ext cx="2344613" cy="234461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27" name="Google Shape;127;p246"/>
          <p:cNvSpPr>
            <a:spLocks noGrp="1"/>
          </p:cNvSpPr>
          <p:nvPr>
            <p:ph type="pic" idx="6"/>
          </p:nvPr>
        </p:nvSpPr>
        <p:spPr>
          <a:xfrm>
            <a:off x="9222971" y="2133604"/>
            <a:ext cx="2344613" cy="234461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8_Top center title">
  <p:cSld name="8_Top center title">
    <p:spTree>
      <p:nvGrpSpPr>
        <p:cNvPr id="1" name="Shape 128"/>
        <p:cNvGrpSpPr/>
        <p:nvPr/>
      </p:nvGrpSpPr>
      <p:grpSpPr>
        <a:xfrm>
          <a:off x="0" y="0"/>
          <a:ext cx="0" cy="0"/>
          <a:chOff x="0" y="0"/>
          <a:chExt cx="0" cy="0"/>
        </a:xfrm>
      </p:grpSpPr>
      <p:sp>
        <p:nvSpPr>
          <p:cNvPr id="129" name="Google Shape;129;p247"/>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30" name="Google Shape;130;p247"/>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31" name="Google Shape;131;p247"/>
          <p:cNvSpPr>
            <a:spLocks noGrp="1"/>
          </p:cNvSpPr>
          <p:nvPr>
            <p:ph type="pic" idx="3"/>
          </p:nvPr>
        </p:nvSpPr>
        <p:spPr>
          <a:xfrm>
            <a:off x="624418" y="2074991"/>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32" name="Google Shape;132;p247"/>
          <p:cNvSpPr>
            <a:spLocks noGrp="1"/>
          </p:cNvSpPr>
          <p:nvPr>
            <p:ph type="pic" idx="4"/>
          </p:nvPr>
        </p:nvSpPr>
        <p:spPr>
          <a:xfrm>
            <a:off x="2869443" y="2074991"/>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33" name="Google Shape;133;p247"/>
          <p:cNvSpPr>
            <a:spLocks noGrp="1"/>
          </p:cNvSpPr>
          <p:nvPr>
            <p:ph type="pic" idx="5"/>
          </p:nvPr>
        </p:nvSpPr>
        <p:spPr>
          <a:xfrm>
            <a:off x="5114470" y="2074991"/>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34" name="Google Shape;134;p247"/>
          <p:cNvSpPr>
            <a:spLocks noGrp="1"/>
          </p:cNvSpPr>
          <p:nvPr>
            <p:ph type="pic" idx="6"/>
          </p:nvPr>
        </p:nvSpPr>
        <p:spPr>
          <a:xfrm>
            <a:off x="7359497" y="2074991"/>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35" name="Google Shape;135;p247"/>
          <p:cNvSpPr>
            <a:spLocks noGrp="1"/>
          </p:cNvSpPr>
          <p:nvPr>
            <p:ph type="pic" idx="7"/>
          </p:nvPr>
        </p:nvSpPr>
        <p:spPr>
          <a:xfrm>
            <a:off x="9604523" y="2074991"/>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9_Top center title">
  <p:cSld name="9_Top center title">
    <p:spTree>
      <p:nvGrpSpPr>
        <p:cNvPr id="1" name="Shape 136"/>
        <p:cNvGrpSpPr/>
        <p:nvPr/>
      </p:nvGrpSpPr>
      <p:grpSpPr>
        <a:xfrm>
          <a:off x="0" y="0"/>
          <a:ext cx="0" cy="0"/>
          <a:chOff x="0" y="0"/>
          <a:chExt cx="0" cy="0"/>
        </a:xfrm>
      </p:grpSpPr>
      <p:sp>
        <p:nvSpPr>
          <p:cNvPr id="137" name="Google Shape;137;p248"/>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38" name="Google Shape;138;p248"/>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39" name="Google Shape;139;p248"/>
          <p:cNvSpPr>
            <a:spLocks noGrp="1"/>
          </p:cNvSpPr>
          <p:nvPr>
            <p:ph type="pic" idx="3"/>
          </p:nvPr>
        </p:nvSpPr>
        <p:spPr>
          <a:xfrm>
            <a:off x="624418" y="2074991"/>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0" name="Google Shape;140;p248"/>
          <p:cNvSpPr>
            <a:spLocks noGrp="1"/>
          </p:cNvSpPr>
          <p:nvPr>
            <p:ph type="pic" idx="4"/>
          </p:nvPr>
        </p:nvSpPr>
        <p:spPr>
          <a:xfrm>
            <a:off x="624418" y="4290653"/>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1" name="Google Shape;141;p248"/>
          <p:cNvSpPr>
            <a:spLocks noGrp="1"/>
          </p:cNvSpPr>
          <p:nvPr>
            <p:ph type="pic" idx="5"/>
          </p:nvPr>
        </p:nvSpPr>
        <p:spPr>
          <a:xfrm>
            <a:off x="6096001" y="2074991"/>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2" name="Google Shape;142;p248"/>
          <p:cNvSpPr>
            <a:spLocks noGrp="1"/>
          </p:cNvSpPr>
          <p:nvPr>
            <p:ph type="pic" idx="6"/>
          </p:nvPr>
        </p:nvSpPr>
        <p:spPr>
          <a:xfrm>
            <a:off x="6096001" y="4290653"/>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2_Top center title">
  <p:cSld name="2_Top center title">
    <p:spTree>
      <p:nvGrpSpPr>
        <p:cNvPr id="1" name="Shape 143"/>
        <p:cNvGrpSpPr/>
        <p:nvPr/>
      </p:nvGrpSpPr>
      <p:grpSpPr>
        <a:xfrm>
          <a:off x="0" y="0"/>
          <a:ext cx="0" cy="0"/>
          <a:chOff x="0" y="0"/>
          <a:chExt cx="0" cy="0"/>
        </a:xfrm>
      </p:grpSpPr>
      <p:sp>
        <p:nvSpPr>
          <p:cNvPr id="144" name="Google Shape;144;p249"/>
          <p:cNvSpPr txBox="1">
            <a:spLocks noGrp="1"/>
          </p:cNvSpPr>
          <p:nvPr>
            <p:ph type="body" idx="1"/>
          </p:nvPr>
        </p:nvSpPr>
        <p:spPr>
          <a:xfrm>
            <a:off x="3329431" y="849205"/>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5" name="Google Shape;145;p249"/>
          <p:cNvSpPr txBox="1">
            <a:spLocks noGrp="1"/>
          </p:cNvSpPr>
          <p:nvPr>
            <p:ph type="body" idx="2"/>
          </p:nvPr>
        </p:nvSpPr>
        <p:spPr>
          <a:xfrm>
            <a:off x="3329431" y="1677787"/>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6" name="Google Shape;146;p249"/>
          <p:cNvSpPr txBox="1">
            <a:spLocks noGrp="1"/>
          </p:cNvSpPr>
          <p:nvPr>
            <p:ph type="body" idx="3"/>
          </p:nvPr>
        </p:nvSpPr>
        <p:spPr>
          <a:xfrm>
            <a:off x="1033355"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7" name="Google Shape;147;p249"/>
          <p:cNvSpPr/>
          <p:nvPr/>
        </p:nvSpPr>
        <p:spPr>
          <a:xfrm flipH="1">
            <a:off x="682508" y="5595943"/>
            <a:ext cx="240000" cy="2400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7F7F7F"/>
              </a:solidFill>
              <a:latin typeface="Raleway Black"/>
              <a:ea typeface="Raleway Black"/>
              <a:cs typeface="Raleway Black"/>
              <a:sym typeface="Raleway Black"/>
            </a:endParaRPr>
          </a:p>
        </p:txBody>
      </p:sp>
      <p:sp>
        <p:nvSpPr>
          <p:cNvPr id="148" name="Google Shape;148;p249"/>
          <p:cNvSpPr txBox="1">
            <a:spLocks noGrp="1"/>
          </p:cNvSpPr>
          <p:nvPr>
            <p:ph type="body" idx="4"/>
          </p:nvPr>
        </p:nvSpPr>
        <p:spPr>
          <a:xfrm>
            <a:off x="1033355"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49" name="Google Shape;149;p249"/>
          <p:cNvSpPr/>
          <p:nvPr/>
        </p:nvSpPr>
        <p:spPr>
          <a:xfrm flipH="1">
            <a:off x="682508" y="6002343"/>
            <a:ext cx="240000" cy="2400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7F7F7F"/>
              </a:solidFill>
              <a:latin typeface="Raleway Black"/>
              <a:ea typeface="Raleway Black"/>
              <a:cs typeface="Raleway Black"/>
              <a:sym typeface="Raleway Black"/>
            </a:endParaRPr>
          </a:p>
        </p:txBody>
      </p:sp>
      <p:sp>
        <p:nvSpPr>
          <p:cNvPr id="150" name="Google Shape;150;p249"/>
          <p:cNvSpPr txBox="1">
            <a:spLocks noGrp="1"/>
          </p:cNvSpPr>
          <p:nvPr>
            <p:ph type="body" idx="5"/>
          </p:nvPr>
        </p:nvSpPr>
        <p:spPr>
          <a:xfrm>
            <a:off x="3806016"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51" name="Google Shape;151;p249"/>
          <p:cNvSpPr/>
          <p:nvPr/>
        </p:nvSpPr>
        <p:spPr>
          <a:xfrm flipH="1">
            <a:off x="3455169" y="5595943"/>
            <a:ext cx="240000" cy="2400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A5A5A5"/>
              </a:solidFill>
              <a:latin typeface="Raleway Black"/>
              <a:ea typeface="Raleway Black"/>
              <a:cs typeface="Raleway Black"/>
              <a:sym typeface="Raleway Black"/>
            </a:endParaRPr>
          </a:p>
        </p:txBody>
      </p:sp>
      <p:sp>
        <p:nvSpPr>
          <p:cNvPr id="152" name="Google Shape;152;p249"/>
          <p:cNvSpPr txBox="1">
            <a:spLocks noGrp="1"/>
          </p:cNvSpPr>
          <p:nvPr>
            <p:ph type="body" idx="6"/>
          </p:nvPr>
        </p:nvSpPr>
        <p:spPr>
          <a:xfrm>
            <a:off x="3806016"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53" name="Google Shape;153;p249"/>
          <p:cNvSpPr/>
          <p:nvPr/>
        </p:nvSpPr>
        <p:spPr>
          <a:xfrm flipH="1">
            <a:off x="3455169" y="6002343"/>
            <a:ext cx="240000" cy="2400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A5A5A5"/>
              </a:solidFill>
              <a:latin typeface="Raleway Black"/>
              <a:ea typeface="Raleway Black"/>
              <a:cs typeface="Raleway Black"/>
              <a:sym typeface="Raleway Black"/>
            </a:endParaRPr>
          </a:p>
        </p:txBody>
      </p:sp>
      <p:sp>
        <p:nvSpPr>
          <p:cNvPr id="154" name="Google Shape;154;p249"/>
          <p:cNvSpPr txBox="1">
            <a:spLocks noGrp="1"/>
          </p:cNvSpPr>
          <p:nvPr>
            <p:ph type="body" idx="7"/>
          </p:nvPr>
        </p:nvSpPr>
        <p:spPr>
          <a:xfrm>
            <a:off x="6494011"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55" name="Google Shape;155;p249"/>
          <p:cNvSpPr/>
          <p:nvPr/>
        </p:nvSpPr>
        <p:spPr>
          <a:xfrm flipH="1">
            <a:off x="6143164" y="5595943"/>
            <a:ext cx="240000" cy="2400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A5A5A5"/>
              </a:solidFill>
              <a:latin typeface="Raleway Black"/>
              <a:ea typeface="Raleway Black"/>
              <a:cs typeface="Raleway Black"/>
              <a:sym typeface="Raleway Black"/>
            </a:endParaRPr>
          </a:p>
        </p:txBody>
      </p:sp>
      <p:sp>
        <p:nvSpPr>
          <p:cNvPr id="156" name="Google Shape;156;p249"/>
          <p:cNvSpPr txBox="1">
            <a:spLocks noGrp="1"/>
          </p:cNvSpPr>
          <p:nvPr>
            <p:ph type="body" idx="8"/>
          </p:nvPr>
        </p:nvSpPr>
        <p:spPr>
          <a:xfrm>
            <a:off x="6494011"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57" name="Google Shape;157;p249"/>
          <p:cNvSpPr/>
          <p:nvPr/>
        </p:nvSpPr>
        <p:spPr>
          <a:xfrm flipH="1">
            <a:off x="6143164" y="6002343"/>
            <a:ext cx="240000" cy="240000"/>
          </a:xfrm>
          <a:prstGeom prst="ellipse">
            <a:avLst/>
          </a:prstGeom>
          <a:solidFill>
            <a:srgbClr val="48365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A5A5A5"/>
              </a:solidFill>
              <a:latin typeface="Raleway Black"/>
              <a:ea typeface="Raleway Black"/>
              <a:cs typeface="Raleway Black"/>
              <a:sym typeface="Raleway Black"/>
            </a:endParaRPr>
          </a:p>
        </p:txBody>
      </p:sp>
      <p:sp>
        <p:nvSpPr>
          <p:cNvPr id="158" name="Google Shape;158;p249"/>
          <p:cNvSpPr txBox="1">
            <a:spLocks noGrp="1"/>
          </p:cNvSpPr>
          <p:nvPr>
            <p:ph type="body" idx="9"/>
          </p:nvPr>
        </p:nvSpPr>
        <p:spPr>
          <a:xfrm>
            <a:off x="9182005"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59" name="Google Shape;159;p249"/>
          <p:cNvSpPr/>
          <p:nvPr/>
        </p:nvSpPr>
        <p:spPr>
          <a:xfrm flipH="1">
            <a:off x="8831159" y="5595943"/>
            <a:ext cx="240000" cy="240000"/>
          </a:xfrm>
          <a:prstGeom prst="ellipse">
            <a:avLst/>
          </a:prstGeom>
          <a:solidFill>
            <a:srgbClr val="50771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A5A5A5"/>
              </a:solidFill>
              <a:latin typeface="Raleway Black"/>
              <a:ea typeface="Raleway Black"/>
              <a:cs typeface="Raleway Black"/>
              <a:sym typeface="Raleway Black"/>
            </a:endParaRPr>
          </a:p>
        </p:txBody>
      </p:sp>
      <p:sp>
        <p:nvSpPr>
          <p:cNvPr id="160" name="Google Shape;160;p249"/>
          <p:cNvSpPr txBox="1">
            <a:spLocks noGrp="1"/>
          </p:cNvSpPr>
          <p:nvPr>
            <p:ph type="body" idx="13"/>
          </p:nvPr>
        </p:nvSpPr>
        <p:spPr>
          <a:xfrm>
            <a:off x="9182005"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61" name="Google Shape;161;p249"/>
          <p:cNvSpPr/>
          <p:nvPr/>
        </p:nvSpPr>
        <p:spPr>
          <a:xfrm flipH="1">
            <a:off x="8831159" y="6002343"/>
            <a:ext cx="240000" cy="240000"/>
          </a:xfrm>
          <a:prstGeom prst="ellipse">
            <a:avLst/>
          </a:prstGeom>
          <a:solidFill>
            <a:srgbClr val="1442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A5A5A5"/>
              </a:solidFill>
              <a:latin typeface="Raleway Black"/>
              <a:ea typeface="Raleway Black"/>
              <a:cs typeface="Raleway Black"/>
              <a:sym typeface="Raleway Black"/>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3_Top center title">
  <p:cSld name="3_Top center title">
    <p:spTree>
      <p:nvGrpSpPr>
        <p:cNvPr id="1" name="Shape 162"/>
        <p:cNvGrpSpPr/>
        <p:nvPr/>
      </p:nvGrpSpPr>
      <p:grpSpPr>
        <a:xfrm>
          <a:off x="0" y="0"/>
          <a:ext cx="0" cy="0"/>
          <a:chOff x="0" y="0"/>
          <a:chExt cx="0" cy="0"/>
        </a:xfrm>
      </p:grpSpPr>
      <p:sp>
        <p:nvSpPr>
          <p:cNvPr id="163" name="Google Shape;163;p250"/>
          <p:cNvSpPr txBox="1">
            <a:spLocks noGrp="1"/>
          </p:cNvSpPr>
          <p:nvPr>
            <p:ph type="body" idx="1"/>
          </p:nvPr>
        </p:nvSpPr>
        <p:spPr>
          <a:xfrm>
            <a:off x="3329431" y="19561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64" name="Google Shape;164;p250"/>
          <p:cNvSpPr txBox="1">
            <a:spLocks noGrp="1"/>
          </p:cNvSpPr>
          <p:nvPr>
            <p:ph type="body" idx="2"/>
          </p:nvPr>
        </p:nvSpPr>
        <p:spPr>
          <a:xfrm>
            <a:off x="3329431" y="102419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65" name="Google Shape;165;p250"/>
          <p:cNvSpPr/>
          <p:nvPr/>
        </p:nvSpPr>
        <p:spPr>
          <a:xfrm>
            <a:off x="1050232" y="1656563"/>
            <a:ext cx="2112000" cy="2111997"/>
          </a:xfrm>
          <a:prstGeom prst="arc">
            <a:avLst>
              <a:gd name="adj1" fmla="val 11622373"/>
              <a:gd name="adj2" fmla="val 10303517"/>
            </a:avLst>
          </a:prstGeom>
          <a:noFill/>
          <a:ln w="127000" cap="sq" cmpd="sng">
            <a:solidFill>
              <a:schemeClr val="accent2"/>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166" name="Google Shape;166;p250"/>
          <p:cNvSpPr/>
          <p:nvPr/>
        </p:nvSpPr>
        <p:spPr>
          <a:xfrm>
            <a:off x="710333" y="2347948"/>
            <a:ext cx="749283" cy="74927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167" name="Google Shape;167;p250"/>
          <p:cNvSpPr txBox="1">
            <a:spLocks noGrp="1"/>
          </p:cNvSpPr>
          <p:nvPr>
            <p:ph type="body" idx="3"/>
          </p:nvPr>
        </p:nvSpPr>
        <p:spPr>
          <a:xfrm>
            <a:off x="732028" y="230286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68" name="Google Shape;168;p250"/>
          <p:cNvSpPr>
            <a:spLocks noGrp="1"/>
          </p:cNvSpPr>
          <p:nvPr>
            <p:ph type="pic" idx="4"/>
          </p:nvPr>
        </p:nvSpPr>
        <p:spPr>
          <a:xfrm>
            <a:off x="1308070" y="1814003"/>
            <a:ext cx="1692180" cy="1775640"/>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69" name="Google Shape;169;p250"/>
          <p:cNvSpPr/>
          <p:nvPr/>
        </p:nvSpPr>
        <p:spPr>
          <a:xfrm>
            <a:off x="6492164" y="1656563"/>
            <a:ext cx="2112000" cy="2111997"/>
          </a:xfrm>
          <a:prstGeom prst="arc">
            <a:avLst>
              <a:gd name="adj1" fmla="val 11622373"/>
              <a:gd name="adj2" fmla="val 10303517"/>
            </a:avLst>
          </a:prstGeom>
          <a:noFill/>
          <a:ln w="127000" cap="sq" cmpd="sng">
            <a:solidFill>
              <a:schemeClr val="accent3"/>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170" name="Google Shape;170;p250"/>
          <p:cNvSpPr/>
          <p:nvPr/>
        </p:nvSpPr>
        <p:spPr>
          <a:xfrm>
            <a:off x="6152265" y="2347948"/>
            <a:ext cx="749283" cy="749277"/>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171" name="Google Shape;171;p250"/>
          <p:cNvSpPr txBox="1">
            <a:spLocks noGrp="1"/>
          </p:cNvSpPr>
          <p:nvPr>
            <p:ph type="body" idx="5"/>
          </p:nvPr>
        </p:nvSpPr>
        <p:spPr>
          <a:xfrm>
            <a:off x="6173960" y="230286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72" name="Google Shape;172;p250"/>
          <p:cNvSpPr>
            <a:spLocks noGrp="1"/>
          </p:cNvSpPr>
          <p:nvPr>
            <p:ph type="pic" idx="6"/>
          </p:nvPr>
        </p:nvSpPr>
        <p:spPr>
          <a:xfrm>
            <a:off x="6750002" y="1814003"/>
            <a:ext cx="1692180" cy="1775640"/>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73" name="Google Shape;173;p250"/>
          <p:cNvSpPr/>
          <p:nvPr/>
        </p:nvSpPr>
        <p:spPr>
          <a:xfrm>
            <a:off x="1050232" y="4182244"/>
            <a:ext cx="2112000" cy="2111997"/>
          </a:xfrm>
          <a:prstGeom prst="arc">
            <a:avLst>
              <a:gd name="adj1" fmla="val 11622373"/>
              <a:gd name="adj2" fmla="val 10303517"/>
            </a:avLst>
          </a:prstGeom>
          <a:noFill/>
          <a:ln w="127000" cap="sq" cmpd="sng">
            <a:solidFill>
              <a:schemeClr val="accent4"/>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174" name="Google Shape;174;p250"/>
          <p:cNvSpPr/>
          <p:nvPr/>
        </p:nvSpPr>
        <p:spPr>
          <a:xfrm>
            <a:off x="710333" y="4873630"/>
            <a:ext cx="749283" cy="749277"/>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175" name="Google Shape;175;p250"/>
          <p:cNvSpPr txBox="1">
            <a:spLocks noGrp="1"/>
          </p:cNvSpPr>
          <p:nvPr>
            <p:ph type="body" idx="7"/>
          </p:nvPr>
        </p:nvSpPr>
        <p:spPr>
          <a:xfrm>
            <a:off x="732028" y="4828546"/>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76" name="Google Shape;176;p250"/>
          <p:cNvSpPr>
            <a:spLocks noGrp="1"/>
          </p:cNvSpPr>
          <p:nvPr>
            <p:ph type="pic" idx="8"/>
          </p:nvPr>
        </p:nvSpPr>
        <p:spPr>
          <a:xfrm>
            <a:off x="1308070" y="4339684"/>
            <a:ext cx="1692180" cy="1775640"/>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77" name="Google Shape;177;p250"/>
          <p:cNvSpPr/>
          <p:nvPr/>
        </p:nvSpPr>
        <p:spPr>
          <a:xfrm>
            <a:off x="6492164" y="4182244"/>
            <a:ext cx="2112000" cy="2111997"/>
          </a:xfrm>
          <a:prstGeom prst="arc">
            <a:avLst>
              <a:gd name="adj1" fmla="val 11622373"/>
              <a:gd name="adj2" fmla="val 10303517"/>
            </a:avLst>
          </a:prstGeom>
          <a:noFill/>
          <a:ln w="127000" cap="sq" cmpd="sng">
            <a:solidFill>
              <a:schemeClr val="accent5"/>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178" name="Google Shape;178;p250"/>
          <p:cNvSpPr/>
          <p:nvPr/>
        </p:nvSpPr>
        <p:spPr>
          <a:xfrm>
            <a:off x="6152265" y="4873630"/>
            <a:ext cx="749283" cy="749277"/>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179" name="Google Shape;179;p250"/>
          <p:cNvSpPr txBox="1">
            <a:spLocks noGrp="1"/>
          </p:cNvSpPr>
          <p:nvPr>
            <p:ph type="body" idx="9"/>
          </p:nvPr>
        </p:nvSpPr>
        <p:spPr>
          <a:xfrm>
            <a:off x="6173960" y="4828546"/>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80" name="Google Shape;180;p250"/>
          <p:cNvSpPr>
            <a:spLocks noGrp="1"/>
          </p:cNvSpPr>
          <p:nvPr>
            <p:ph type="pic" idx="13"/>
          </p:nvPr>
        </p:nvSpPr>
        <p:spPr>
          <a:xfrm>
            <a:off x="6750002" y="4339684"/>
            <a:ext cx="1692180" cy="1775640"/>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Right top title">
  <p:cSld name="Right top title">
    <p:spTree>
      <p:nvGrpSpPr>
        <p:cNvPr id="1" name="Shape 181"/>
        <p:cNvGrpSpPr/>
        <p:nvPr/>
      </p:nvGrpSpPr>
      <p:grpSpPr>
        <a:xfrm>
          <a:off x="0" y="0"/>
          <a:ext cx="0" cy="0"/>
          <a:chOff x="0" y="0"/>
          <a:chExt cx="0" cy="0"/>
        </a:xfrm>
      </p:grpSpPr>
      <p:sp>
        <p:nvSpPr>
          <p:cNvPr id="182" name="Google Shape;182;p251"/>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83" name="Google Shape;183;p251"/>
          <p:cNvSpPr txBox="1">
            <a:spLocks noGrp="1"/>
          </p:cNvSpPr>
          <p:nvPr>
            <p:ph type="body" idx="2"/>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treghts">
  <p:cSld name="Streghts">
    <p:spTree>
      <p:nvGrpSpPr>
        <p:cNvPr id="1" name="Shape 184"/>
        <p:cNvGrpSpPr/>
        <p:nvPr/>
      </p:nvGrpSpPr>
      <p:grpSpPr>
        <a:xfrm>
          <a:off x="0" y="0"/>
          <a:ext cx="0" cy="0"/>
          <a:chOff x="0" y="0"/>
          <a:chExt cx="0" cy="0"/>
        </a:xfrm>
      </p:grpSpPr>
      <p:sp>
        <p:nvSpPr>
          <p:cNvPr id="185" name="Google Shape;185;p252"/>
          <p:cNvSpPr>
            <a:spLocks noGrp="1"/>
          </p:cNvSpPr>
          <p:nvPr>
            <p:ph type="pic" idx="2"/>
          </p:nvPr>
        </p:nvSpPr>
        <p:spPr>
          <a:xfrm>
            <a:off x="1348366" y="989762"/>
            <a:ext cx="3433996" cy="474047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86" name="Google Shape;186;p252"/>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87" name="Google Shape;187;p252"/>
          <p:cNvSpPr txBox="1">
            <a:spLocks noGrp="1"/>
          </p:cNvSpPr>
          <p:nvPr>
            <p:ph type="body" idx="3"/>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Weacknesses">
  <p:cSld name="Weacknesses">
    <p:spTree>
      <p:nvGrpSpPr>
        <p:cNvPr id="1" name="Shape 188"/>
        <p:cNvGrpSpPr/>
        <p:nvPr/>
      </p:nvGrpSpPr>
      <p:grpSpPr>
        <a:xfrm>
          <a:off x="0" y="0"/>
          <a:ext cx="0" cy="0"/>
          <a:chOff x="0" y="0"/>
          <a:chExt cx="0" cy="0"/>
        </a:xfrm>
      </p:grpSpPr>
      <p:sp>
        <p:nvSpPr>
          <p:cNvPr id="189" name="Google Shape;189;p253"/>
          <p:cNvSpPr>
            <a:spLocks noGrp="1"/>
          </p:cNvSpPr>
          <p:nvPr>
            <p:ph type="pic" idx="2"/>
          </p:nvPr>
        </p:nvSpPr>
        <p:spPr>
          <a:xfrm>
            <a:off x="6202129" y="989762"/>
            <a:ext cx="5259327" cy="4897868"/>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90" name="Google Shape;190;p253"/>
          <p:cNvSpPr txBox="1">
            <a:spLocks noGrp="1"/>
          </p:cNvSpPr>
          <p:nvPr>
            <p:ph type="body" idx="1"/>
          </p:nvPr>
        </p:nvSpPr>
        <p:spPr>
          <a:xfrm>
            <a:off x="624416"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91" name="Google Shape;191;p253"/>
          <p:cNvSpPr txBox="1">
            <a:spLocks noGrp="1"/>
          </p:cNvSpPr>
          <p:nvPr>
            <p:ph type="body" idx="3"/>
          </p:nvPr>
        </p:nvSpPr>
        <p:spPr>
          <a:xfrm>
            <a:off x="624416"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Oportunities">
  <p:cSld name="Oportunities">
    <p:spTree>
      <p:nvGrpSpPr>
        <p:cNvPr id="1" name="Shape 192"/>
        <p:cNvGrpSpPr/>
        <p:nvPr/>
      </p:nvGrpSpPr>
      <p:grpSpPr>
        <a:xfrm>
          <a:off x="0" y="0"/>
          <a:ext cx="0" cy="0"/>
          <a:chOff x="0" y="0"/>
          <a:chExt cx="0" cy="0"/>
        </a:xfrm>
      </p:grpSpPr>
      <p:sp>
        <p:nvSpPr>
          <p:cNvPr id="193" name="Google Shape;193;p254"/>
          <p:cNvSpPr>
            <a:spLocks noGrp="1"/>
          </p:cNvSpPr>
          <p:nvPr>
            <p:ph type="pic" idx="2"/>
          </p:nvPr>
        </p:nvSpPr>
        <p:spPr>
          <a:xfrm>
            <a:off x="1066285" y="959478"/>
            <a:ext cx="4276177" cy="5307917"/>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94" name="Google Shape;194;p254"/>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95" name="Google Shape;195;p254"/>
          <p:cNvSpPr txBox="1">
            <a:spLocks noGrp="1"/>
          </p:cNvSpPr>
          <p:nvPr>
            <p:ph type="body" idx="3"/>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hreats">
  <p:cSld name="Threats">
    <p:spTree>
      <p:nvGrpSpPr>
        <p:cNvPr id="1" name="Shape 196"/>
        <p:cNvGrpSpPr/>
        <p:nvPr/>
      </p:nvGrpSpPr>
      <p:grpSpPr>
        <a:xfrm>
          <a:off x="0" y="0"/>
          <a:ext cx="0" cy="0"/>
          <a:chOff x="0" y="0"/>
          <a:chExt cx="0" cy="0"/>
        </a:xfrm>
      </p:grpSpPr>
      <p:sp>
        <p:nvSpPr>
          <p:cNvPr id="197" name="Google Shape;197;p255"/>
          <p:cNvSpPr>
            <a:spLocks noGrp="1"/>
          </p:cNvSpPr>
          <p:nvPr>
            <p:ph type="pic" idx="2"/>
          </p:nvPr>
        </p:nvSpPr>
        <p:spPr>
          <a:xfrm>
            <a:off x="7040660" y="973997"/>
            <a:ext cx="3582264" cy="563179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98" name="Google Shape;198;p255"/>
          <p:cNvSpPr txBox="1">
            <a:spLocks noGrp="1"/>
          </p:cNvSpPr>
          <p:nvPr>
            <p:ph type="body" idx="1"/>
          </p:nvPr>
        </p:nvSpPr>
        <p:spPr>
          <a:xfrm>
            <a:off x="624417"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199" name="Google Shape;199;p255"/>
          <p:cNvSpPr txBox="1">
            <a:spLocks noGrp="1"/>
          </p:cNvSpPr>
          <p:nvPr>
            <p:ph type="body" idx="3"/>
          </p:nvPr>
        </p:nvSpPr>
        <p:spPr>
          <a:xfrm>
            <a:off x="624417"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_Top center title">
  <p:cSld name="1_Top center title">
    <p:spTree>
      <p:nvGrpSpPr>
        <p:cNvPr id="1" name="Shape 200"/>
        <p:cNvGrpSpPr/>
        <p:nvPr/>
      </p:nvGrpSpPr>
      <p:grpSpPr>
        <a:xfrm>
          <a:off x="0" y="0"/>
          <a:ext cx="0" cy="0"/>
          <a:chOff x="0" y="0"/>
          <a:chExt cx="0" cy="0"/>
        </a:xfrm>
      </p:grpSpPr>
      <p:sp>
        <p:nvSpPr>
          <p:cNvPr id="201" name="Google Shape;201;p256"/>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02" name="Google Shape;202;p256"/>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03" name="Google Shape;203;p256"/>
          <p:cNvSpPr/>
          <p:nvPr/>
        </p:nvSpPr>
        <p:spPr>
          <a:xfrm>
            <a:off x="996833" y="2023904"/>
            <a:ext cx="2880004" cy="2880000"/>
          </a:xfrm>
          <a:prstGeom prst="ellipse">
            <a:avLst/>
          </a:prstGeom>
          <a:noFill/>
          <a:ln w="381000" cap="rnd"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204" name="Google Shape;204;p256"/>
          <p:cNvSpPr/>
          <p:nvPr/>
        </p:nvSpPr>
        <p:spPr>
          <a:xfrm>
            <a:off x="4654431" y="2023904"/>
            <a:ext cx="2880004" cy="2880000"/>
          </a:xfrm>
          <a:prstGeom prst="ellipse">
            <a:avLst/>
          </a:prstGeom>
          <a:noFill/>
          <a:ln w="381000" cap="rnd"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205" name="Google Shape;205;p256"/>
          <p:cNvSpPr/>
          <p:nvPr/>
        </p:nvSpPr>
        <p:spPr>
          <a:xfrm>
            <a:off x="8334609" y="2023904"/>
            <a:ext cx="2880004" cy="2880000"/>
          </a:xfrm>
          <a:prstGeom prst="ellipse">
            <a:avLst/>
          </a:prstGeom>
          <a:noFill/>
          <a:ln w="381000" cap="rnd"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206" name="Google Shape;206;p256"/>
          <p:cNvSpPr/>
          <p:nvPr/>
        </p:nvSpPr>
        <p:spPr>
          <a:xfrm>
            <a:off x="3873618" y="3114585"/>
            <a:ext cx="816001" cy="815999"/>
          </a:xfrm>
          <a:prstGeom prst="ellipse">
            <a:avLst/>
          </a:prstGeom>
          <a:solidFill>
            <a:srgbClr val="48365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207" name="Google Shape;207;p256"/>
          <p:cNvSpPr/>
          <p:nvPr/>
        </p:nvSpPr>
        <p:spPr>
          <a:xfrm>
            <a:off x="7514986" y="3114585"/>
            <a:ext cx="816001" cy="815999"/>
          </a:xfrm>
          <a:prstGeom prst="ellipse">
            <a:avLst/>
          </a:prstGeom>
          <a:solidFill>
            <a:srgbClr val="50771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208" name="Google Shape;208;p256"/>
          <p:cNvSpPr>
            <a:spLocks noGrp="1"/>
          </p:cNvSpPr>
          <p:nvPr>
            <p:ph type="pic" idx="3"/>
          </p:nvPr>
        </p:nvSpPr>
        <p:spPr>
          <a:xfrm>
            <a:off x="874187" y="1912129"/>
            <a:ext cx="3072984" cy="3120000"/>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09" name="Google Shape;209;p256"/>
          <p:cNvSpPr>
            <a:spLocks noGrp="1"/>
          </p:cNvSpPr>
          <p:nvPr>
            <p:ph type="pic" idx="4"/>
          </p:nvPr>
        </p:nvSpPr>
        <p:spPr>
          <a:xfrm>
            <a:off x="4585804" y="1912129"/>
            <a:ext cx="3016120" cy="3120000"/>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10" name="Google Shape;210;p256"/>
          <p:cNvSpPr>
            <a:spLocks noGrp="1"/>
          </p:cNvSpPr>
          <p:nvPr>
            <p:ph type="pic" idx="5"/>
          </p:nvPr>
        </p:nvSpPr>
        <p:spPr>
          <a:xfrm>
            <a:off x="8254103" y="1912129"/>
            <a:ext cx="3071508" cy="3120000"/>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11" name="Google Shape;211;p256"/>
          <p:cNvSpPr txBox="1">
            <a:spLocks noGrp="1"/>
          </p:cNvSpPr>
          <p:nvPr>
            <p:ph type="body" idx="6"/>
          </p:nvPr>
        </p:nvSpPr>
        <p:spPr>
          <a:xfrm>
            <a:off x="3947171" y="311458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12" name="Google Shape;212;p256"/>
          <p:cNvSpPr txBox="1">
            <a:spLocks noGrp="1"/>
          </p:cNvSpPr>
          <p:nvPr>
            <p:ph type="body" idx="7"/>
          </p:nvPr>
        </p:nvSpPr>
        <p:spPr>
          <a:xfrm>
            <a:off x="7572830" y="311458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213"/>
        <p:cNvGrpSpPr/>
        <p:nvPr/>
      </p:nvGrpSpPr>
      <p:grpSpPr>
        <a:xfrm>
          <a:off x="0" y="0"/>
          <a:ext cx="0" cy="0"/>
          <a:chOff x="0" y="0"/>
          <a:chExt cx="0" cy="0"/>
        </a:xfrm>
      </p:grpSpPr>
      <p:sp>
        <p:nvSpPr>
          <p:cNvPr id="214" name="Google Shape;214;p257"/>
          <p:cNvSpPr/>
          <p:nvPr/>
        </p:nvSpPr>
        <p:spPr>
          <a:xfrm>
            <a:off x="954808" y="1980090"/>
            <a:ext cx="1793877" cy="1823989"/>
          </a:xfrm>
          <a:prstGeom prst="ellipse">
            <a:avLst/>
          </a:prstGeom>
          <a:noFill/>
          <a:ln w="381000" cap="rnd"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215" name="Google Shape;215;p257"/>
          <p:cNvSpPr>
            <a:spLocks noGrp="1"/>
          </p:cNvSpPr>
          <p:nvPr>
            <p:ph type="pic" idx="2"/>
          </p:nvPr>
        </p:nvSpPr>
        <p:spPr>
          <a:xfrm>
            <a:off x="858412" y="1861557"/>
            <a:ext cx="2029915" cy="2063988"/>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16" name="Google Shape;216;p257"/>
          <p:cNvSpPr txBox="1">
            <a:spLocks noGrp="1"/>
          </p:cNvSpPr>
          <p:nvPr>
            <p:ph type="body" idx="1"/>
          </p:nvPr>
        </p:nvSpPr>
        <p:spPr>
          <a:xfrm>
            <a:off x="858649"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17" name="Google Shape;217;p257"/>
          <p:cNvSpPr txBox="1">
            <a:spLocks noGrp="1"/>
          </p:cNvSpPr>
          <p:nvPr>
            <p:ph type="body" idx="3"/>
          </p:nvPr>
        </p:nvSpPr>
        <p:spPr>
          <a:xfrm>
            <a:off x="858649"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18" name="Google Shape;218;p257"/>
          <p:cNvSpPr txBox="1">
            <a:spLocks noGrp="1"/>
          </p:cNvSpPr>
          <p:nvPr>
            <p:ph type="body" idx="4"/>
          </p:nvPr>
        </p:nvSpPr>
        <p:spPr>
          <a:xfrm>
            <a:off x="858651"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19" name="Google Shape;219;p257"/>
          <p:cNvSpPr txBox="1">
            <a:spLocks noGrp="1"/>
          </p:cNvSpPr>
          <p:nvPr>
            <p:ph type="body" idx="5"/>
          </p:nvPr>
        </p:nvSpPr>
        <p:spPr>
          <a:xfrm>
            <a:off x="1610728"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accent2"/>
              </a:buClr>
              <a:buSzPts val="3333"/>
              <a:buFont typeface="Arial"/>
              <a:buNone/>
              <a:defRPr sz="3333" b="1" i="0" u="none" strike="noStrike" cap="none">
                <a:solidFill>
                  <a:schemeClr val="accent2"/>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cxnSp>
        <p:nvCxnSpPr>
          <p:cNvPr id="220" name="Google Shape;220;p257"/>
          <p:cNvCxnSpPr/>
          <p:nvPr/>
        </p:nvCxnSpPr>
        <p:spPr>
          <a:xfrm>
            <a:off x="3228335" y="1851379"/>
            <a:ext cx="0" cy="4607999"/>
          </a:xfrm>
          <a:prstGeom prst="straightConnector1">
            <a:avLst/>
          </a:prstGeom>
          <a:noFill/>
          <a:ln w="9525" cap="flat" cmpd="sng">
            <a:solidFill>
              <a:srgbClr val="D8D8D8"/>
            </a:solidFill>
            <a:prstDash val="dash"/>
            <a:miter lim="800000"/>
            <a:headEnd type="none" w="sm" len="sm"/>
            <a:tailEnd type="none" w="sm" len="sm"/>
          </a:ln>
        </p:spPr>
      </p:cxnSp>
      <p:sp>
        <p:nvSpPr>
          <p:cNvPr id="221" name="Google Shape;221;p257"/>
          <p:cNvSpPr/>
          <p:nvPr/>
        </p:nvSpPr>
        <p:spPr>
          <a:xfrm>
            <a:off x="3761934" y="1980090"/>
            <a:ext cx="1793877" cy="1823989"/>
          </a:xfrm>
          <a:prstGeom prst="ellipse">
            <a:avLst/>
          </a:prstGeom>
          <a:noFill/>
          <a:ln w="381000" cap="rnd"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222" name="Google Shape;222;p257"/>
          <p:cNvSpPr>
            <a:spLocks noGrp="1"/>
          </p:cNvSpPr>
          <p:nvPr>
            <p:ph type="pic" idx="6"/>
          </p:nvPr>
        </p:nvSpPr>
        <p:spPr>
          <a:xfrm>
            <a:off x="3665537" y="1861557"/>
            <a:ext cx="2029915" cy="2063988"/>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23" name="Google Shape;223;p257"/>
          <p:cNvSpPr txBox="1">
            <a:spLocks noGrp="1"/>
          </p:cNvSpPr>
          <p:nvPr>
            <p:ph type="body" idx="7"/>
          </p:nvPr>
        </p:nvSpPr>
        <p:spPr>
          <a:xfrm>
            <a:off x="3610341"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24" name="Google Shape;224;p257"/>
          <p:cNvSpPr txBox="1">
            <a:spLocks noGrp="1"/>
          </p:cNvSpPr>
          <p:nvPr>
            <p:ph type="body" idx="8"/>
          </p:nvPr>
        </p:nvSpPr>
        <p:spPr>
          <a:xfrm>
            <a:off x="3610341"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25" name="Google Shape;225;p257"/>
          <p:cNvSpPr txBox="1">
            <a:spLocks noGrp="1"/>
          </p:cNvSpPr>
          <p:nvPr>
            <p:ph type="body" idx="9"/>
          </p:nvPr>
        </p:nvSpPr>
        <p:spPr>
          <a:xfrm>
            <a:off x="3610343"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26" name="Google Shape;226;p257"/>
          <p:cNvSpPr txBox="1">
            <a:spLocks noGrp="1"/>
          </p:cNvSpPr>
          <p:nvPr>
            <p:ph type="body" idx="13"/>
          </p:nvPr>
        </p:nvSpPr>
        <p:spPr>
          <a:xfrm>
            <a:off x="4362420"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rgbClr val="50771B"/>
              </a:buClr>
              <a:buSzPts val="3333"/>
              <a:buFont typeface="Arial"/>
              <a:buNone/>
              <a:defRPr sz="3333" b="1" i="0" u="none" strike="noStrike" cap="none">
                <a:solidFill>
                  <a:srgbClr val="50771B"/>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cxnSp>
        <p:nvCxnSpPr>
          <p:cNvPr id="227" name="Google Shape;227;p257"/>
          <p:cNvCxnSpPr/>
          <p:nvPr/>
        </p:nvCxnSpPr>
        <p:spPr>
          <a:xfrm>
            <a:off x="6099319" y="1851379"/>
            <a:ext cx="0" cy="4607999"/>
          </a:xfrm>
          <a:prstGeom prst="straightConnector1">
            <a:avLst/>
          </a:prstGeom>
          <a:noFill/>
          <a:ln w="9525" cap="flat" cmpd="sng">
            <a:solidFill>
              <a:srgbClr val="D8D8D8"/>
            </a:solidFill>
            <a:prstDash val="dash"/>
            <a:miter lim="800000"/>
            <a:headEnd type="none" w="sm" len="sm"/>
            <a:tailEnd type="none" w="sm" len="sm"/>
          </a:ln>
        </p:spPr>
      </p:cxnSp>
      <p:sp>
        <p:nvSpPr>
          <p:cNvPr id="228" name="Google Shape;228;p257"/>
          <p:cNvSpPr/>
          <p:nvPr/>
        </p:nvSpPr>
        <p:spPr>
          <a:xfrm>
            <a:off x="6525956" y="1980090"/>
            <a:ext cx="1793877" cy="1823989"/>
          </a:xfrm>
          <a:prstGeom prst="ellipse">
            <a:avLst/>
          </a:prstGeom>
          <a:noFill/>
          <a:ln w="381000" cap="rnd"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229" name="Google Shape;229;p257"/>
          <p:cNvSpPr>
            <a:spLocks noGrp="1"/>
          </p:cNvSpPr>
          <p:nvPr>
            <p:ph type="pic" idx="14"/>
          </p:nvPr>
        </p:nvSpPr>
        <p:spPr>
          <a:xfrm>
            <a:off x="6429560" y="1861557"/>
            <a:ext cx="2029915" cy="2063988"/>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30" name="Google Shape;230;p257"/>
          <p:cNvSpPr txBox="1">
            <a:spLocks noGrp="1"/>
          </p:cNvSpPr>
          <p:nvPr>
            <p:ph type="body" idx="15"/>
          </p:nvPr>
        </p:nvSpPr>
        <p:spPr>
          <a:xfrm>
            <a:off x="6374364"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31" name="Google Shape;231;p257"/>
          <p:cNvSpPr txBox="1">
            <a:spLocks noGrp="1"/>
          </p:cNvSpPr>
          <p:nvPr>
            <p:ph type="body" idx="16"/>
          </p:nvPr>
        </p:nvSpPr>
        <p:spPr>
          <a:xfrm>
            <a:off x="6374364"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32" name="Google Shape;232;p257"/>
          <p:cNvSpPr txBox="1">
            <a:spLocks noGrp="1"/>
          </p:cNvSpPr>
          <p:nvPr>
            <p:ph type="body" idx="17"/>
          </p:nvPr>
        </p:nvSpPr>
        <p:spPr>
          <a:xfrm>
            <a:off x="6374365"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33" name="Google Shape;233;p257"/>
          <p:cNvSpPr txBox="1">
            <a:spLocks noGrp="1"/>
          </p:cNvSpPr>
          <p:nvPr>
            <p:ph type="body" idx="18"/>
          </p:nvPr>
        </p:nvSpPr>
        <p:spPr>
          <a:xfrm>
            <a:off x="7126443"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accent5"/>
              </a:buClr>
              <a:buSzPts val="3333"/>
              <a:buFont typeface="Arial"/>
              <a:buNone/>
              <a:defRPr sz="3333" b="1" i="0" u="none" strike="noStrike" cap="none">
                <a:solidFill>
                  <a:schemeClr val="accent5"/>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cxnSp>
        <p:nvCxnSpPr>
          <p:cNvPr id="234" name="Google Shape;234;p257"/>
          <p:cNvCxnSpPr/>
          <p:nvPr/>
        </p:nvCxnSpPr>
        <p:spPr>
          <a:xfrm>
            <a:off x="8811788" y="1851379"/>
            <a:ext cx="0" cy="4607999"/>
          </a:xfrm>
          <a:prstGeom prst="straightConnector1">
            <a:avLst/>
          </a:prstGeom>
          <a:noFill/>
          <a:ln w="9525" cap="flat" cmpd="sng">
            <a:solidFill>
              <a:srgbClr val="D8D8D8"/>
            </a:solidFill>
            <a:prstDash val="dash"/>
            <a:miter lim="800000"/>
            <a:headEnd type="none" w="sm" len="sm"/>
            <a:tailEnd type="none" w="sm" len="sm"/>
          </a:ln>
        </p:spPr>
      </p:cxnSp>
      <p:sp>
        <p:nvSpPr>
          <p:cNvPr id="235" name="Google Shape;235;p257"/>
          <p:cNvSpPr/>
          <p:nvPr/>
        </p:nvSpPr>
        <p:spPr>
          <a:xfrm>
            <a:off x="9315796" y="1980090"/>
            <a:ext cx="1793877" cy="1823989"/>
          </a:xfrm>
          <a:prstGeom prst="ellipse">
            <a:avLst/>
          </a:prstGeom>
          <a:noFill/>
          <a:ln w="381000" cap="rnd"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236" name="Google Shape;236;p257"/>
          <p:cNvSpPr>
            <a:spLocks noGrp="1"/>
          </p:cNvSpPr>
          <p:nvPr>
            <p:ph type="pic" idx="19"/>
          </p:nvPr>
        </p:nvSpPr>
        <p:spPr>
          <a:xfrm>
            <a:off x="9219400" y="1861557"/>
            <a:ext cx="2029915" cy="2063988"/>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37" name="Google Shape;237;p257"/>
          <p:cNvSpPr txBox="1">
            <a:spLocks noGrp="1"/>
          </p:cNvSpPr>
          <p:nvPr>
            <p:ph type="body" idx="20"/>
          </p:nvPr>
        </p:nvSpPr>
        <p:spPr>
          <a:xfrm>
            <a:off x="9199956"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38" name="Google Shape;238;p257"/>
          <p:cNvSpPr txBox="1">
            <a:spLocks noGrp="1"/>
          </p:cNvSpPr>
          <p:nvPr>
            <p:ph type="body" idx="21"/>
          </p:nvPr>
        </p:nvSpPr>
        <p:spPr>
          <a:xfrm>
            <a:off x="9199956"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39" name="Google Shape;239;p257"/>
          <p:cNvSpPr txBox="1">
            <a:spLocks noGrp="1"/>
          </p:cNvSpPr>
          <p:nvPr>
            <p:ph type="body" idx="22"/>
          </p:nvPr>
        </p:nvSpPr>
        <p:spPr>
          <a:xfrm>
            <a:off x="9199957"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40" name="Google Shape;240;p257"/>
          <p:cNvSpPr txBox="1">
            <a:spLocks noGrp="1"/>
          </p:cNvSpPr>
          <p:nvPr>
            <p:ph type="body" idx="23"/>
          </p:nvPr>
        </p:nvSpPr>
        <p:spPr>
          <a:xfrm>
            <a:off x="9952035"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rgbClr val="BFBFBF"/>
              </a:buClr>
              <a:buSzPts val="3333"/>
              <a:buFont typeface="Arial"/>
              <a:buNone/>
              <a:defRPr sz="3333" b="1" i="0" u="none" strike="noStrike" cap="none">
                <a:solidFill>
                  <a:srgbClr val="BFBFBF"/>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41" name="Google Shape;241;p257"/>
          <p:cNvSpPr txBox="1">
            <a:spLocks noGrp="1"/>
          </p:cNvSpPr>
          <p:nvPr>
            <p:ph type="body" idx="24"/>
          </p:nvPr>
        </p:nvSpPr>
        <p:spPr>
          <a:xfrm>
            <a:off x="3329431" y="248361"/>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42" name="Google Shape;242;p257"/>
          <p:cNvSpPr txBox="1">
            <a:spLocks noGrp="1"/>
          </p:cNvSpPr>
          <p:nvPr>
            <p:ph type="body" idx="25"/>
          </p:nvPr>
        </p:nvSpPr>
        <p:spPr>
          <a:xfrm>
            <a:off x="3329431" y="107694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lear">
  <p:cSld name="Clear">
    <p:spTree>
      <p:nvGrpSpPr>
        <p:cNvPr id="1" name="Shape 247"/>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Graphic with title 1">
  <p:cSld name="Graphic with title 1">
    <p:spTree>
      <p:nvGrpSpPr>
        <p:cNvPr id="1" name="Shape 248"/>
        <p:cNvGrpSpPr/>
        <p:nvPr/>
      </p:nvGrpSpPr>
      <p:grpSpPr>
        <a:xfrm>
          <a:off x="0" y="0"/>
          <a:ext cx="0" cy="0"/>
          <a:chOff x="0" y="0"/>
          <a:chExt cx="0" cy="0"/>
        </a:xfrm>
      </p:grpSpPr>
      <p:sp>
        <p:nvSpPr>
          <p:cNvPr id="249" name="Google Shape;249;p263"/>
          <p:cNvSpPr>
            <a:spLocks noGrp="1"/>
          </p:cNvSpPr>
          <p:nvPr>
            <p:ph type="pic" idx="2"/>
          </p:nvPr>
        </p:nvSpPr>
        <p:spPr>
          <a:xfrm>
            <a:off x="0" y="219127"/>
            <a:ext cx="5398451" cy="69341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50" name="Google Shape;250;p263"/>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51" name="Google Shape;251;p263"/>
          <p:cNvSpPr txBox="1">
            <a:spLocks noGrp="1"/>
          </p:cNvSpPr>
          <p:nvPr>
            <p:ph type="body" idx="3"/>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Graphic with title 2">
  <p:cSld name="Graphic with title 2">
    <p:spTree>
      <p:nvGrpSpPr>
        <p:cNvPr id="1" name="Shape 252"/>
        <p:cNvGrpSpPr/>
        <p:nvPr/>
      </p:nvGrpSpPr>
      <p:grpSpPr>
        <a:xfrm>
          <a:off x="0" y="0"/>
          <a:ext cx="0" cy="0"/>
          <a:chOff x="0" y="0"/>
          <a:chExt cx="0" cy="0"/>
        </a:xfrm>
      </p:grpSpPr>
      <p:sp>
        <p:nvSpPr>
          <p:cNvPr id="253" name="Google Shape;253;p264"/>
          <p:cNvSpPr>
            <a:spLocks noGrp="1"/>
          </p:cNvSpPr>
          <p:nvPr>
            <p:ph type="pic" idx="2"/>
          </p:nvPr>
        </p:nvSpPr>
        <p:spPr>
          <a:xfrm>
            <a:off x="4898367" y="-706535"/>
            <a:ext cx="7418239" cy="740015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54" name="Google Shape;254;p264"/>
          <p:cNvSpPr txBox="1">
            <a:spLocks noGrp="1"/>
          </p:cNvSpPr>
          <p:nvPr>
            <p:ph type="body" idx="1"/>
          </p:nvPr>
        </p:nvSpPr>
        <p:spPr>
          <a:xfrm>
            <a:off x="624417"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55" name="Google Shape;255;p264"/>
          <p:cNvSpPr txBox="1">
            <a:spLocks noGrp="1"/>
          </p:cNvSpPr>
          <p:nvPr>
            <p:ph type="body" idx="3"/>
          </p:nvPr>
        </p:nvSpPr>
        <p:spPr>
          <a:xfrm>
            <a:off x="624417"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Graphic with title 3">
  <p:cSld name="Graphic with title 3">
    <p:spTree>
      <p:nvGrpSpPr>
        <p:cNvPr id="1" name="Shape 256"/>
        <p:cNvGrpSpPr/>
        <p:nvPr/>
      </p:nvGrpSpPr>
      <p:grpSpPr>
        <a:xfrm>
          <a:off x="0" y="0"/>
          <a:ext cx="0" cy="0"/>
          <a:chOff x="0" y="0"/>
          <a:chExt cx="0" cy="0"/>
        </a:xfrm>
      </p:grpSpPr>
      <p:sp>
        <p:nvSpPr>
          <p:cNvPr id="257" name="Google Shape;257;p265"/>
          <p:cNvSpPr>
            <a:spLocks noGrp="1"/>
          </p:cNvSpPr>
          <p:nvPr>
            <p:ph type="pic" idx="2"/>
          </p:nvPr>
        </p:nvSpPr>
        <p:spPr>
          <a:xfrm>
            <a:off x="4775079" y="0"/>
            <a:ext cx="7418239" cy="6467624"/>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58" name="Google Shape;258;p265"/>
          <p:cNvSpPr txBox="1">
            <a:spLocks noGrp="1"/>
          </p:cNvSpPr>
          <p:nvPr>
            <p:ph type="body" idx="1"/>
          </p:nvPr>
        </p:nvSpPr>
        <p:spPr>
          <a:xfrm>
            <a:off x="624417"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59" name="Google Shape;259;p265"/>
          <p:cNvSpPr txBox="1">
            <a:spLocks noGrp="1"/>
          </p:cNvSpPr>
          <p:nvPr>
            <p:ph type="body" idx="3"/>
          </p:nvPr>
        </p:nvSpPr>
        <p:spPr>
          <a:xfrm>
            <a:off x="624417"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Graphic with title 4">
  <p:cSld name="Graphic with title 4">
    <p:spTree>
      <p:nvGrpSpPr>
        <p:cNvPr id="1" name="Shape 260"/>
        <p:cNvGrpSpPr/>
        <p:nvPr/>
      </p:nvGrpSpPr>
      <p:grpSpPr>
        <a:xfrm>
          <a:off x="0" y="0"/>
          <a:ext cx="0" cy="0"/>
          <a:chOff x="0" y="0"/>
          <a:chExt cx="0" cy="0"/>
        </a:xfrm>
      </p:grpSpPr>
      <p:sp>
        <p:nvSpPr>
          <p:cNvPr id="261" name="Google Shape;261;p266"/>
          <p:cNvSpPr>
            <a:spLocks noGrp="1"/>
          </p:cNvSpPr>
          <p:nvPr>
            <p:ph type="pic" idx="2"/>
          </p:nvPr>
        </p:nvSpPr>
        <p:spPr>
          <a:xfrm>
            <a:off x="4898367" y="-461577"/>
            <a:ext cx="7418239" cy="740015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62" name="Google Shape;262;p266"/>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63" name="Google Shape;263;p266"/>
          <p:cNvSpPr txBox="1">
            <a:spLocks noGrp="1"/>
          </p:cNvSpPr>
          <p:nvPr>
            <p:ph type="body" idx="3"/>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oncept graphic 1">
  <p:cSld name="Concept graphic 1">
    <p:spTree>
      <p:nvGrpSpPr>
        <p:cNvPr id="1" name="Shape 264"/>
        <p:cNvGrpSpPr/>
        <p:nvPr/>
      </p:nvGrpSpPr>
      <p:grpSpPr>
        <a:xfrm>
          <a:off x="0" y="0"/>
          <a:ext cx="0" cy="0"/>
          <a:chOff x="0" y="0"/>
          <a:chExt cx="0" cy="0"/>
        </a:xfrm>
      </p:grpSpPr>
      <p:sp>
        <p:nvSpPr>
          <p:cNvPr id="265" name="Google Shape;265;p267"/>
          <p:cNvSpPr>
            <a:spLocks noGrp="1"/>
          </p:cNvSpPr>
          <p:nvPr>
            <p:ph type="pic" idx="2"/>
          </p:nvPr>
        </p:nvSpPr>
        <p:spPr>
          <a:xfrm>
            <a:off x="-12742" y="-819120"/>
            <a:ext cx="12169663" cy="7450448"/>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ncept graphic 2">
  <p:cSld name="Concept graphic 2">
    <p:spTree>
      <p:nvGrpSpPr>
        <p:cNvPr id="1" name="Shape 266"/>
        <p:cNvGrpSpPr/>
        <p:nvPr/>
      </p:nvGrpSpPr>
      <p:grpSpPr>
        <a:xfrm>
          <a:off x="0" y="0"/>
          <a:ext cx="0" cy="0"/>
          <a:chOff x="0" y="0"/>
          <a:chExt cx="0" cy="0"/>
        </a:xfrm>
      </p:grpSpPr>
      <p:sp>
        <p:nvSpPr>
          <p:cNvPr id="267" name="Google Shape;267;p268"/>
          <p:cNvSpPr>
            <a:spLocks noGrp="1"/>
          </p:cNvSpPr>
          <p:nvPr>
            <p:ph type="pic" idx="2"/>
          </p:nvPr>
        </p:nvSpPr>
        <p:spPr>
          <a:xfrm>
            <a:off x="1" y="0"/>
            <a:ext cx="12156920" cy="6628299"/>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oncept graphic 3">
  <p:cSld name="Concept graphic 3">
    <p:spTree>
      <p:nvGrpSpPr>
        <p:cNvPr id="1" name="Shape 268"/>
        <p:cNvGrpSpPr/>
        <p:nvPr/>
      </p:nvGrpSpPr>
      <p:grpSpPr>
        <a:xfrm>
          <a:off x="0" y="0"/>
          <a:ext cx="0" cy="0"/>
          <a:chOff x="0" y="0"/>
          <a:chExt cx="0" cy="0"/>
        </a:xfrm>
      </p:grpSpPr>
      <p:sp>
        <p:nvSpPr>
          <p:cNvPr id="269" name="Google Shape;269;p269"/>
          <p:cNvSpPr>
            <a:spLocks noGrp="1"/>
          </p:cNvSpPr>
          <p:nvPr>
            <p:ph type="pic" idx="2"/>
          </p:nvPr>
        </p:nvSpPr>
        <p:spPr>
          <a:xfrm>
            <a:off x="5" y="2"/>
            <a:ext cx="12156919" cy="471976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oncept graphic 4">
  <p:cSld name="Concept graphic 4">
    <p:spTree>
      <p:nvGrpSpPr>
        <p:cNvPr id="1" name="Shape 270"/>
        <p:cNvGrpSpPr/>
        <p:nvPr/>
      </p:nvGrpSpPr>
      <p:grpSpPr>
        <a:xfrm>
          <a:off x="0" y="0"/>
          <a:ext cx="0" cy="0"/>
          <a:chOff x="0" y="0"/>
          <a:chExt cx="0" cy="0"/>
        </a:xfrm>
      </p:grpSpPr>
      <p:sp>
        <p:nvSpPr>
          <p:cNvPr id="271" name="Google Shape;271;p270"/>
          <p:cNvSpPr>
            <a:spLocks noGrp="1"/>
          </p:cNvSpPr>
          <p:nvPr>
            <p:ph type="pic" idx="2"/>
          </p:nvPr>
        </p:nvSpPr>
        <p:spPr>
          <a:xfrm>
            <a:off x="-13635" y="-5335"/>
            <a:ext cx="12471072" cy="6021821"/>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Concept graphic 5">
  <p:cSld name="Concept graphic 5">
    <p:spTree>
      <p:nvGrpSpPr>
        <p:cNvPr id="1" name="Shape 272"/>
        <p:cNvGrpSpPr/>
        <p:nvPr/>
      </p:nvGrpSpPr>
      <p:grpSpPr>
        <a:xfrm>
          <a:off x="0" y="0"/>
          <a:ext cx="0" cy="0"/>
          <a:chOff x="0" y="0"/>
          <a:chExt cx="0" cy="0"/>
        </a:xfrm>
      </p:grpSpPr>
      <p:sp>
        <p:nvSpPr>
          <p:cNvPr id="273" name="Google Shape;273;p271"/>
          <p:cNvSpPr>
            <a:spLocks noGrp="1"/>
          </p:cNvSpPr>
          <p:nvPr>
            <p:ph type="pic" idx="2"/>
          </p:nvPr>
        </p:nvSpPr>
        <p:spPr>
          <a:xfrm>
            <a:off x="1" y="494108"/>
            <a:ext cx="12448915" cy="5788955"/>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Midle title ">
  <p:cSld name="Midle title ">
    <p:spTree>
      <p:nvGrpSpPr>
        <p:cNvPr id="1" name="Shape 274"/>
        <p:cNvGrpSpPr/>
        <p:nvPr/>
      </p:nvGrpSpPr>
      <p:grpSpPr>
        <a:xfrm>
          <a:off x="0" y="0"/>
          <a:ext cx="0" cy="0"/>
          <a:chOff x="0" y="0"/>
          <a:chExt cx="0" cy="0"/>
        </a:xfrm>
      </p:grpSpPr>
      <p:sp>
        <p:nvSpPr>
          <p:cNvPr id="275" name="Google Shape;275;p272"/>
          <p:cNvSpPr txBox="1">
            <a:spLocks noGrp="1"/>
          </p:cNvSpPr>
          <p:nvPr>
            <p:ph type="body" idx="1"/>
          </p:nvPr>
        </p:nvSpPr>
        <p:spPr>
          <a:xfrm>
            <a:off x="635165" y="3231595"/>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76" name="Google Shape;276;p272"/>
          <p:cNvSpPr txBox="1">
            <a:spLocks noGrp="1"/>
          </p:cNvSpPr>
          <p:nvPr>
            <p:ph type="body" idx="2"/>
          </p:nvPr>
        </p:nvSpPr>
        <p:spPr>
          <a:xfrm>
            <a:off x="635165" y="4060176"/>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op left title">
  <p:cSld name="Top left title">
    <p:spTree>
      <p:nvGrpSpPr>
        <p:cNvPr id="1" name="Shape 277"/>
        <p:cNvGrpSpPr/>
        <p:nvPr/>
      </p:nvGrpSpPr>
      <p:grpSpPr>
        <a:xfrm>
          <a:off x="0" y="0"/>
          <a:ext cx="0" cy="0"/>
          <a:chOff x="0" y="0"/>
          <a:chExt cx="0" cy="0"/>
        </a:xfrm>
      </p:grpSpPr>
      <p:sp>
        <p:nvSpPr>
          <p:cNvPr id="278" name="Google Shape;278;p273"/>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79" name="Google Shape;279;p273"/>
          <p:cNvSpPr txBox="1">
            <a:spLocks noGrp="1"/>
          </p:cNvSpPr>
          <p:nvPr>
            <p:ph type="body" idx="2"/>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op center title">
  <p:cSld name="Top center title">
    <p:spTree>
      <p:nvGrpSpPr>
        <p:cNvPr id="1" name="Shape 280"/>
        <p:cNvGrpSpPr/>
        <p:nvPr/>
      </p:nvGrpSpPr>
      <p:grpSpPr>
        <a:xfrm>
          <a:off x="0" y="0"/>
          <a:ext cx="0" cy="0"/>
          <a:chOff x="0" y="0"/>
          <a:chExt cx="0" cy="0"/>
        </a:xfrm>
      </p:grpSpPr>
      <p:sp>
        <p:nvSpPr>
          <p:cNvPr id="281" name="Google Shape;281;p274"/>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82" name="Google Shape;282;p274"/>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3_Top center title">
  <p:cSld name="13_Top center title">
    <p:spTree>
      <p:nvGrpSpPr>
        <p:cNvPr id="1" name="Shape 283"/>
        <p:cNvGrpSpPr/>
        <p:nvPr/>
      </p:nvGrpSpPr>
      <p:grpSpPr>
        <a:xfrm>
          <a:off x="0" y="0"/>
          <a:ext cx="0" cy="0"/>
          <a:chOff x="0" y="0"/>
          <a:chExt cx="0" cy="0"/>
        </a:xfrm>
      </p:grpSpPr>
      <p:sp>
        <p:nvSpPr>
          <p:cNvPr id="284" name="Google Shape;284;p275"/>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85" name="Google Shape;285;p275"/>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pic>
        <p:nvPicPr>
          <p:cNvPr id="286" name="Google Shape;286;p275" descr="New Macbook Silver.png"/>
          <p:cNvPicPr preferRelativeResize="0"/>
          <p:nvPr/>
        </p:nvPicPr>
        <p:blipFill rotWithShape="1">
          <a:blip r:embed="rId2">
            <a:alphaModFix/>
          </a:blip>
          <a:srcRect/>
          <a:stretch/>
        </p:blipFill>
        <p:spPr>
          <a:xfrm>
            <a:off x="624417" y="2628432"/>
            <a:ext cx="5960632" cy="3490232"/>
          </a:xfrm>
          <a:prstGeom prst="rect">
            <a:avLst/>
          </a:prstGeom>
          <a:noFill/>
          <a:ln>
            <a:noFill/>
          </a:ln>
        </p:spPr>
      </p:pic>
      <p:sp>
        <p:nvSpPr>
          <p:cNvPr id="287" name="Google Shape;287;p275"/>
          <p:cNvSpPr>
            <a:spLocks noGrp="1"/>
          </p:cNvSpPr>
          <p:nvPr>
            <p:ph type="pic" idx="3"/>
          </p:nvPr>
        </p:nvSpPr>
        <p:spPr>
          <a:xfrm>
            <a:off x="1309666" y="2882745"/>
            <a:ext cx="4548553" cy="287215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1_Top left title">
  <p:cSld name="1_Top left title">
    <p:spTree>
      <p:nvGrpSpPr>
        <p:cNvPr id="1" name="Shape 288"/>
        <p:cNvGrpSpPr/>
        <p:nvPr/>
      </p:nvGrpSpPr>
      <p:grpSpPr>
        <a:xfrm>
          <a:off x="0" y="0"/>
          <a:ext cx="0" cy="0"/>
          <a:chOff x="0" y="0"/>
          <a:chExt cx="0" cy="0"/>
        </a:xfrm>
      </p:grpSpPr>
      <p:sp>
        <p:nvSpPr>
          <p:cNvPr id="289" name="Google Shape;289;p276"/>
          <p:cNvSpPr txBox="1">
            <a:spLocks noGrp="1"/>
          </p:cNvSpPr>
          <p:nvPr>
            <p:ph type="body" idx="1"/>
          </p:nvPr>
        </p:nvSpPr>
        <p:spPr>
          <a:xfrm>
            <a:off x="62977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90" name="Google Shape;290;p276"/>
          <p:cNvSpPr txBox="1">
            <a:spLocks noGrp="1"/>
          </p:cNvSpPr>
          <p:nvPr>
            <p:ph type="body" idx="2"/>
          </p:nvPr>
        </p:nvSpPr>
        <p:spPr>
          <a:xfrm>
            <a:off x="62977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grpSp>
        <p:nvGrpSpPr>
          <p:cNvPr id="291" name="Google Shape;291;p276"/>
          <p:cNvGrpSpPr/>
          <p:nvPr/>
        </p:nvGrpSpPr>
        <p:grpSpPr>
          <a:xfrm>
            <a:off x="6907316" y="497273"/>
            <a:ext cx="4008056" cy="5937596"/>
            <a:chOff x="0" y="0"/>
            <a:chExt cx="6591304" cy="9765730"/>
          </a:xfrm>
        </p:grpSpPr>
        <p:pic>
          <p:nvPicPr>
            <p:cNvPr id="292" name="Google Shape;292;p276"/>
            <p:cNvPicPr preferRelativeResize="0"/>
            <p:nvPr/>
          </p:nvPicPr>
          <p:blipFill rotWithShape="1">
            <a:blip r:embed="rId2">
              <a:alphaModFix/>
            </a:blip>
            <a:srcRect/>
            <a:stretch/>
          </p:blipFill>
          <p:spPr>
            <a:xfrm>
              <a:off x="0" y="0"/>
              <a:ext cx="6591304" cy="9765730"/>
            </a:xfrm>
            <a:prstGeom prst="rect">
              <a:avLst/>
            </a:prstGeom>
            <a:noFill/>
            <a:ln>
              <a:noFill/>
            </a:ln>
          </p:spPr>
        </p:pic>
        <p:sp>
          <p:nvSpPr>
            <p:cNvPr id="293" name="Google Shape;293;p276"/>
            <p:cNvSpPr/>
            <p:nvPr/>
          </p:nvSpPr>
          <p:spPr>
            <a:xfrm>
              <a:off x="363079" y="954047"/>
              <a:ext cx="5879097" cy="7806214"/>
            </a:xfrm>
            <a:prstGeom prst="rect">
              <a:avLst/>
            </a:prstGeom>
            <a:solidFill>
              <a:srgbClr val="606060"/>
            </a:solidFill>
            <a:ln w="25400" cap="flat" cmpd="sng">
              <a:solidFill>
                <a:srgbClr val="000000">
                  <a:alpha val="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5331">
                <a:solidFill>
                  <a:srgbClr val="FFFFFF"/>
                </a:solidFill>
                <a:latin typeface="Calibri"/>
                <a:ea typeface="Calibri"/>
                <a:cs typeface="Calibri"/>
                <a:sym typeface="Calibri"/>
              </a:endParaRPr>
            </a:p>
          </p:txBody>
        </p:sp>
      </p:grpSp>
      <p:sp>
        <p:nvSpPr>
          <p:cNvPr id="294" name="Google Shape;294;p276"/>
          <p:cNvSpPr>
            <a:spLocks noGrp="1"/>
          </p:cNvSpPr>
          <p:nvPr>
            <p:ph type="pic" idx="3"/>
          </p:nvPr>
        </p:nvSpPr>
        <p:spPr>
          <a:xfrm>
            <a:off x="7128099" y="1077337"/>
            <a:ext cx="3574976" cy="4746204"/>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12_Top center title">
  <p:cSld name="12_Top center title">
    <p:spTree>
      <p:nvGrpSpPr>
        <p:cNvPr id="1" name="Shape 295"/>
        <p:cNvGrpSpPr/>
        <p:nvPr/>
      </p:nvGrpSpPr>
      <p:grpSpPr>
        <a:xfrm>
          <a:off x="0" y="0"/>
          <a:ext cx="0" cy="0"/>
          <a:chOff x="0" y="0"/>
          <a:chExt cx="0" cy="0"/>
        </a:xfrm>
      </p:grpSpPr>
      <p:sp>
        <p:nvSpPr>
          <p:cNvPr id="296" name="Google Shape;296;p277"/>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97" name="Google Shape;297;p277"/>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298" name="Google Shape;298;p277"/>
          <p:cNvSpPr>
            <a:spLocks noGrp="1"/>
          </p:cNvSpPr>
          <p:nvPr>
            <p:ph type="pic" idx="3"/>
          </p:nvPr>
        </p:nvSpPr>
        <p:spPr>
          <a:xfrm>
            <a:off x="6256285" y="2409093"/>
            <a:ext cx="5248843" cy="330628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14_Top center title">
  <p:cSld name="14_Top center title">
    <p:spTree>
      <p:nvGrpSpPr>
        <p:cNvPr id="1" name="Shape 299"/>
        <p:cNvGrpSpPr/>
        <p:nvPr/>
      </p:nvGrpSpPr>
      <p:grpSpPr>
        <a:xfrm>
          <a:off x="0" y="0"/>
          <a:ext cx="0" cy="0"/>
          <a:chOff x="0" y="0"/>
          <a:chExt cx="0" cy="0"/>
        </a:xfrm>
      </p:grpSpPr>
      <p:sp>
        <p:nvSpPr>
          <p:cNvPr id="300" name="Google Shape;300;p278"/>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01" name="Google Shape;301;p278"/>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02" name="Google Shape;302;p278"/>
          <p:cNvSpPr>
            <a:spLocks noGrp="1"/>
          </p:cNvSpPr>
          <p:nvPr>
            <p:ph type="pic" idx="3"/>
          </p:nvPr>
        </p:nvSpPr>
        <p:spPr>
          <a:xfrm>
            <a:off x="722679" y="2409093"/>
            <a:ext cx="5248843" cy="330628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5_Top center title">
  <p:cSld name="5_Top center title">
    <p:spTree>
      <p:nvGrpSpPr>
        <p:cNvPr id="1" name="Shape 303"/>
        <p:cNvGrpSpPr/>
        <p:nvPr/>
      </p:nvGrpSpPr>
      <p:grpSpPr>
        <a:xfrm>
          <a:off x="0" y="0"/>
          <a:ext cx="0" cy="0"/>
          <a:chOff x="0" y="0"/>
          <a:chExt cx="0" cy="0"/>
        </a:xfrm>
      </p:grpSpPr>
      <p:sp>
        <p:nvSpPr>
          <p:cNvPr id="304" name="Google Shape;304;p279"/>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05" name="Google Shape;305;p279"/>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06" name="Google Shape;306;p279"/>
          <p:cNvSpPr>
            <a:spLocks noGrp="1"/>
          </p:cNvSpPr>
          <p:nvPr>
            <p:ph type="pic" idx="3"/>
          </p:nvPr>
        </p:nvSpPr>
        <p:spPr>
          <a:xfrm>
            <a:off x="0" y="1875696"/>
            <a:ext cx="12192000" cy="4982305"/>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6_Top center title">
  <p:cSld name="6_Top center title">
    <p:spTree>
      <p:nvGrpSpPr>
        <p:cNvPr id="1" name="Shape 307"/>
        <p:cNvGrpSpPr/>
        <p:nvPr/>
      </p:nvGrpSpPr>
      <p:grpSpPr>
        <a:xfrm>
          <a:off x="0" y="0"/>
          <a:ext cx="0" cy="0"/>
          <a:chOff x="0" y="0"/>
          <a:chExt cx="0" cy="0"/>
        </a:xfrm>
      </p:grpSpPr>
      <p:sp>
        <p:nvSpPr>
          <p:cNvPr id="308" name="Google Shape;308;p280"/>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09" name="Google Shape;309;p280"/>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10" name="Google Shape;310;p280"/>
          <p:cNvSpPr>
            <a:spLocks noGrp="1"/>
          </p:cNvSpPr>
          <p:nvPr>
            <p:ph type="pic" idx="3"/>
          </p:nvPr>
        </p:nvSpPr>
        <p:spPr>
          <a:xfrm>
            <a:off x="0" y="1875695"/>
            <a:ext cx="12192000" cy="2930767"/>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4_Top center title">
  <p:cSld name="4_Top center title">
    <p:spTree>
      <p:nvGrpSpPr>
        <p:cNvPr id="1" name="Shape 311"/>
        <p:cNvGrpSpPr/>
        <p:nvPr/>
      </p:nvGrpSpPr>
      <p:grpSpPr>
        <a:xfrm>
          <a:off x="0" y="0"/>
          <a:ext cx="0" cy="0"/>
          <a:chOff x="0" y="0"/>
          <a:chExt cx="0" cy="0"/>
        </a:xfrm>
      </p:grpSpPr>
      <p:sp>
        <p:nvSpPr>
          <p:cNvPr id="312" name="Google Shape;312;p281"/>
          <p:cNvSpPr txBox="1">
            <a:spLocks noGrp="1"/>
          </p:cNvSpPr>
          <p:nvPr>
            <p:ph type="body" idx="1"/>
          </p:nvPr>
        </p:nvSpPr>
        <p:spPr>
          <a:xfrm>
            <a:off x="3329431" y="309709"/>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13" name="Google Shape;313;p281"/>
          <p:cNvSpPr txBox="1">
            <a:spLocks noGrp="1"/>
          </p:cNvSpPr>
          <p:nvPr>
            <p:ph type="body" idx="2"/>
          </p:nvPr>
        </p:nvSpPr>
        <p:spPr>
          <a:xfrm>
            <a:off x="3329431" y="1138291"/>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14" name="Google Shape;314;p281"/>
          <p:cNvSpPr>
            <a:spLocks noGrp="1"/>
          </p:cNvSpPr>
          <p:nvPr>
            <p:ph type="pic" idx="3"/>
          </p:nvPr>
        </p:nvSpPr>
        <p:spPr>
          <a:xfrm>
            <a:off x="624417" y="1685045"/>
            <a:ext cx="3475892" cy="3475892"/>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15" name="Google Shape;315;p281"/>
          <p:cNvSpPr>
            <a:spLocks noGrp="1"/>
          </p:cNvSpPr>
          <p:nvPr>
            <p:ph type="pic" idx="4"/>
          </p:nvPr>
        </p:nvSpPr>
        <p:spPr>
          <a:xfrm>
            <a:off x="4358054" y="1685045"/>
            <a:ext cx="3475892" cy="3475892"/>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16" name="Google Shape;316;p281"/>
          <p:cNvSpPr>
            <a:spLocks noGrp="1"/>
          </p:cNvSpPr>
          <p:nvPr>
            <p:ph type="pic" idx="5"/>
          </p:nvPr>
        </p:nvSpPr>
        <p:spPr>
          <a:xfrm>
            <a:off x="8091691" y="1685045"/>
            <a:ext cx="3475892" cy="3475892"/>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11_Top center title">
  <p:cSld name="11_Top center title">
    <p:spTree>
      <p:nvGrpSpPr>
        <p:cNvPr id="1" name="Shape 317"/>
        <p:cNvGrpSpPr/>
        <p:nvPr/>
      </p:nvGrpSpPr>
      <p:grpSpPr>
        <a:xfrm>
          <a:off x="0" y="0"/>
          <a:ext cx="0" cy="0"/>
          <a:chOff x="0" y="0"/>
          <a:chExt cx="0" cy="0"/>
        </a:xfrm>
      </p:grpSpPr>
      <p:sp>
        <p:nvSpPr>
          <p:cNvPr id="318" name="Google Shape;318;p282"/>
          <p:cNvSpPr txBox="1">
            <a:spLocks noGrp="1"/>
          </p:cNvSpPr>
          <p:nvPr>
            <p:ph type="body" idx="1"/>
          </p:nvPr>
        </p:nvSpPr>
        <p:spPr>
          <a:xfrm>
            <a:off x="3329431" y="309709"/>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19" name="Google Shape;319;p282"/>
          <p:cNvSpPr txBox="1">
            <a:spLocks noGrp="1"/>
          </p:cNvSpPr>
          <p:nvPr>
            <p:ph type="body" idx="2"/>
          </p:nvPr>
        </p:nvSpPr>
        <p:spPr>
          <a:xfrm>
            <a:off x="3329431" y="1138291"/>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20" name="Google Shape;320;p282"/>
          <p:cNvSpPr>
            <a:spLocks noGrp="1"/>
          </p:cNvSpPr>
          <p:nvPr>
            <p:ph type="pic" idx="3"/>
          </p:nvPr>
        </p:nvSpPr>
        <p:spPr>
          <a:xfrm>
            <a:off x="624420" y="1705708"/>
            <a:ext cx="5248843" cy="330628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21" name="Google Shape;321;p282"/>
          <p:cNvSpPr>
            <a:spLocks noGrp="1"/>
          </p:cNvSpPr>
          <p:nvPr>
            <p:ph type="pic" idx="4"/>
          </p:nvPr>
        </p:nvSpPr>
        <p:spPr>
          <a:xfrm>
            <a:off x="6318741" y="1705708"/>
            <a:ext cx="5248843" cy="330628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10_Top center title">
  <p:cSld name="10_Top center title">
    <p:spTree>
      <p:nvGrpSpPr>
        <p:cNvPr id="1" name="Shape 322"/>
        <p:cNvGrpSpPr/>
        <p:nvPr/>
      </p:nvGrpSpPr>
      <p:grpSpPr>
        <a:xfrm>
          <a:off x="0" y="0"/>
          <a:ext cx="0" cy="0"/>
          <a:chOff x="0" y="0"/>
          <a:chExt cx="0" cy="0"/>
        </a:xfrm>
      </p:grpSpPr>
      <p:sp>
        <p:nvSpPr>
          <p:cNvPr id="323" name="Google Shape;323;p283"/>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24" name="Google Shape;324;p283"/>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25" name="Google Shape;325;p283"/>
          <p:cNvSpPr>
            <a:spLocks noGrp="1"/>
          </p:cNvSpPr>
          <p:nvPr>
            <p:ph type="pic" idx="3"/>
          </p:nvPr>
        </p:nvSpPr>
        <p:spPr>
          <a:xfrm>
            <a:off x="1160588" y="2262559"/>
            <a:ext cx="2614243" cy="261424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26" name="Google Shape;326;p283"/>
          <p:cNvSpPr>
            <a:spLocks noGrp="1"/>
          </p:cNvSpPr>
          <p:nvPr>
            <p:ph type="pic" idx="4"/>
          </p:nvPr>
        </p:nvSpPr>
        <p:spPr>
          <a:xfrm>
            <a:off x="4788879" y="2262559"/>
            <a:ext cx="2614243" cy="261424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27" name="Google Shape;327;p283"/>
          <p:cNvSpPr>
            <a:spLocks noGrp="1"/>
          </p:cNvSpPr>
          <p:nvPr>
            <p:ph type="pic" idx="5"/>
          </p:nvPr>
        </p:nvSpPr>
        <p:spPr>
          <a:xfrm>
            <a:off x="8305797" y="2262559"/>
            <a:ext cx="2614243" cy="261424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7_Top center title">
  <p:cSld name="7_Top center title">
    <p:spTree>
      <p:nvGrpSpPr>
        <p:cNvPr id="1" name="Shape 328"/>
        <p:cNvGrpSpPr/>
        <p:nvPr/>
      </p:nvGrpSpPr>
      <p:grpSpPr>
        <a:xfrm>
          <a:off x="0" y="0"/>
          <a:ext cx="0" cy="0"/>
          <a:chOff x="0" y="0"/>
          <a:chExt cx="0" cy="0"/>
        </a:xfrm>
      </p:grpSpPr>
      <p:sp>
        <p:nvSpPr>
          <p:cNvPr id="329" name="Google Shape;329;p284"/>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30" name="Google Shape;330;p284"/>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31" name="Google Shape;331;p284"/>
          <p:cNvSpPr>
            <a:spLocks noGrp="1"/>
          </p:cNvSpPr>
          <p:nvPr>
            <p:ph type="pic" idx="3"/>
          </p:nvPr>
        </p:nvSpPr>
        <p:spPr>
          <a:xfrm>
            <a:off x="624418" y="2133604"/>
            <a:ext cx="2344613" cy="234461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32" name="Google Shape;332;p284"/>
          <p:cNvSpPr>
            <a:spLocks noGrp="1"/>
          </p:cNvSpPr>
          <p:nvPr>
            <p:ph type="pic" idx="4"/>
          </p:nvPr>
        </p:nvSpPr>
        <p:spPr>
          <a:xfrm>
            <a:off x="3490708" y="2133604"/>
            <a:ext cx="2344613" cy="234461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33" name="Google Shape;333;p284"/>
          <p:cNvSpPr>
            <a:spLocks noGrp="1"/>
          </p:cNvSpPr>
          <p:nvPr>
            <p:ph type="pic" idx="5"/>
          </p:nvPr>
        </p:nvSpPr>
        <p:spPr>
          <a:xfrm>
            <a:off x="6356999" y="2133604"/>
            <a:ext cx="2344613" cy="234461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34" name="Google Shape;334;p284"/>
          <p:cNvSpPr>
            <a:spLocks noGrp="1"/>
          </p:cNvSpPr>
          <p:nvPr>
            <p:ph type="pic" idx="6"/>
          </p:nvPr>
        </p:nvSpPr>
        <p:spPr>
          <a:xfrm>
            <a:off x="9222971" y="2133604"/>
            <a:ext cx="2344613" cy="234461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8_Top center title">
  <p:cSld name="8_Top center title">
    <p:spTree>
      <p:nvGrpSpPr>
        <p:cNvPr id="1" name="Shape 335"/>
        <p:cNvGrpSpPr/>
        <p:nvPr/>
      </p:nvGrpSpPr>
      <p:grpSpPr>
        <a:xfrm>
          <a:off x="0" y="0"/>
          <a:ext cx="0" cy="0"/>
          <a:chOff x="0" y="0"/>
          <a:chExt cx="0" cy="0"/>
        </a:xfrm>
      </p:grpSpPr>
      <p:sp>
        <p:nvSpPr>
          <p:cNvPr id="336" name="Google Shape;336;p285"/>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37" name="Google Shape;337;p285"/>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38" name="Google Shape;338;p285"/>
          <p:cNvSpPr>
            <a:spLocks noGrp="1"/>
          </p:cNvSpPr>
          <p:nvPr>
            <p:ph type="pic" idx="3"/>
          </p:nvPr>
        </p:nvSpPr>
        <p:spPr>
          <a:xfrm>
            <a:off x="624418" y="2074991"/>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39" name="Google Shape;339;p285"/>
          <p:cNvSpPr>
            <a:spLocks noGrp="1"/>
          </p:cNvSpPr>
          <p:nvPr>
            <p:ph type="pic" idx="4"/>
          </p:nvPr>
        </p:nvSpPr>
        <p:spPr>
          <a:xfrm>
            <a:off x="2869443" y="2074991"/>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40" name="Google Shape;340;p285"/>
          <p:cNvSpPr>
            <a:spLocks noGrp="1"/>
          </p:cNvSpPr>
          <p:nvPr>
            <p:ph type="pic" idx="5"/>
          </p:nvPr>
        </p:nvSpPr>
        <p:spPr>
          <a:xfrm>
            <a:off x="5114470" y="2074991"/>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41" name="Google Shape;341;p285"/>
          <p:cNvSpPr>
            <a:spLocks noGrp="1"/>
          </p:cNvSpPr>
          <p:nvPr>
            <p:ph type="pic" idx="6"/>
          </p:nvPr>
        </p:nvSpPr>
        <p:spPr>
          <a:xfrm>
            <a:off x="7359497" y="2074991"/>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42" name="Google Shape;342;p285"/>
          <p:cNvSpPr>
            <a:spLocks noGrp="1"/>
          </p:cNvSpPr>
          <p:nvPr>
            <p:ph type="pic" idx="7"/>
          </p:nvPr>
        </p:nvSpPr>
        <p:spPr>
          <a:xfrm>
            <a:off x="9604523" y="2074991"/>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9_Top center title">
  <p:cSld name="9_Top center title">
    <p:spTree>
      <p:nvGrpSpPr>
        <p:cNvPr id="1" name="Shape 343"/>
        <p:cNvGrpSpPr/>
        <p:nvPr/>
      </p:nvGrpSpPr>
      <p:grpSpPr>
        <a:xfrm>
          <a:off x="0" y="0"/>
          <a:ext cx="0" cy="0"/>
          <a:chOff x="0" y="0"/>
          <a:chExt cx="0" cy="0"/>
        </a:xfrm>
      </p:grpSpPr>
      <p:sp>
        <p:nvSpPr>
          <p:cNvPr id="344" name="Google Shape;344;p286"/>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45" name="Google Shape;345;p286"/>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46" name="Google Shape;346;p286"/>
          <p:cNvSpPr>
            <a:spLocks noGrp="1"/>
          </p:cNvSpPr>
          <p:nvPr>
            <p:ph type="pic" idx="3"/>
          </p:nvPr>
        </p:nvSpPr>
        <p:spPr>
          <a:xfrm>
            <a:off x="624418" y="2074991"/>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47" name="Google Shape;347;p286"/>
          <p:cNvSpPr>
            <a:spLocks noGrp="1"/>
          </p:cNvSpPr>
          <p:nvPr>
            <p:ph type="pic" idx="4"/>
          </p:nvPr>
        </p:nvSpPr>
        <p:spPr>
          <a:xfrm>
            <a:off x="624418" y="4290653"/>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48" name="Google Shape;348;p286"/>
          <p:cNvSpPr>
            <a:spLocks noGrp="1"/>
          </p:cNvSpPr>
          <p:nvPr>
            <p:ph type="pic" idx="5"/>
          </p:nvPr>
        </p:nvSpPr>
        <p:spPr>
          <a:xfrm>
            <a:off x="6096001" y="2074991"/>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49" name="Google Shape;349;p286"/>
          <p:cNvSpPr>
            <a:spLocks noGrp="1"/>
          </p:cNvSpPr>
          <p:nvPr>
            <p:ph type="pic" idx="6"/>
          </p:nvPr>
        </p:nvSpPr>
        <p:spPr>
          <a:xfrm>
            <a:off x="6096001" y="4290653"/>
            <a:ext cx="1981196" cy="198119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2_Top center title">
  <p:cSld name="2_Top center title">
    <p:spTree>
      <p:nvGrpSpPr>
        <p:cNvPr id="1" name="Shape 350"/>
        <p:cNvGrpSpPr/>
        <p:nvPr/>
      </p:nvGrpSpPr>
      <p:grpSpPr>
        <a:xfrm>
          <a:off x="0" y="0"/>
          <a:ext cx="0" cy="0"/>
          <a:chOff x="0" y="0"/>
          <a:chExt cx="0" cy="0"/>
        </a:xfrm>
      </p:grpSpPr>
      <p:sp>
        <p:nvSpPr>
          <p:cNvPr id="351" name="Google Shape;351;p287"/>
          <p:cNvSpPr txBox="1">
            <a:spLocks noGrp="1"/>
          </p:cNvSpPr>
          <p:nvPr>
            <p:ph type="body" idx="1"/>
          </p:nvPr>
        </p:nvSpPr>
        <p:spPr>
          <a:xfrm>
            <a:off x="3329431" y="849205"/>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52" name="Google Shape;352;p287"/>
          <p:cNvSpPr txBox="1">
            <a:spLocks noGrp="1"/>
          </p:cNvSpPr>
          <p:nvPr>
            <p:ph type="body" idx="2"/>
          </p:nvPr>
        </p:nvSpPr>
        <p:spPr>
          <a:xfrm>
            <a:off x="3329431" y="1677787"/>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53" name="Google Shape;353;p287"/>
          <p:cNvSpPr txBox="1">
            <a:spLocks noGrp="1"/>
          </p:cNvSpPr>
          <p:nvPr>
            <p:ph type="body" idx="3"/>
          </p:nvPr>
        </p:nvSpPr>
        <p:spPr>
          <a:xfrm>
            <a:off x="1033355"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54" name="Google Shape;354;p287"/>
          <p:cNvSpPr/>
          <p:nvPr/>
        </p:nvSpPr>
        <p:spPr>
          <a:xfrm flipH="1">
            <a:off x="682508" y="5595943"/>
            <a:ext cx="240000" cy="2400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7F7F7F"/>
              </a:solidFill>
              <a:latin typeface="Raleway Black"/>
              <a:ea typeface="Raleway Black"/>
              <a:cs typeface="Raleway Black"/>
              <a:sym typeface="Raleway Black"/>
            </a:endParaRPr>
          </a:p>
        </p:txBody>
      </p:sp>
      <p:sp>
        <p:nvSpPr>
          <p:cNvPr id="355" name="Google Shape;355;p287"/>
          <p:cNvSpPr txBox="1">
            <a:spLocks noGrp="1"/>
          </p:cNvSpPr>
          <p:nvPr>
            <p:ph type="body" idx="4"/>
          </p:nvPr>
        </p:nvSpPr>
        <p:spPr>
          <a:xfrm>
            <a:off x="1033355"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56" name="Google Shape;356;p287"/>
          <p:cNvSpPr/>
          <p:nvPr/>
        </p:nvSpPr>
        <p:spPr>
          <a:xfrm flipH="1">
            <a:off x="682508" y="6002343"/>
            <a:ext cx="240000" cy="2400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7F7F7F"/>
              </a:solidFill>
              <a:latin typeface="Raleway Black"/>
              <a:ea typeface="Raleway Black"/>
              <a:cs typeface="Raleway Black"/>
              <a:sym typeface="Raleway Black"/>
            </a:endParaRPr>
          </a:p>
        </p:txBody>
      </p:sp>
      <p:sp>
        <p:nvSpPr>
          <p:cNvPr id="357" name="Google Shape;357;p287"/>
          <p:cNvSpPr txBox="1">
            <a:spLocks noGrp="1"/>
          </p:cNvSpPr>
          <p:nvPr>
            <p:ph type="body" idx="5"/>
          </p:nvPr>
        </p:nvSpPr>
        <p:spPr>
          <a:xfrm>
            <a:off x="3806016"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58" name="Google Shape;358;p287"/>
          <p:cNvSpPr/>
          <p:nvPr/>
        </p:nvSpPr>
        <p:spPr>
          <a:xfrm flipH="1">
            <a:off x="3455169" y="5595943"/>
            <a:ext cx="240000" cy="2400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A5A5A5"/>
              </a:solidFill>
              <a:latin typeface="Raleway Black"/>
              <a:ea typeface="Raleway Black"/>
              <a:cs typeface="Raleway Black"/>
              <a:sym typeface="Raleway Black"/>
            </a:endParaRPr>
          </a:p>
        </p:txBody>
      </p:sp>
      <p:sp>
        <p:nvSpPr>
          <p:cNvPr id="359" name="Google Shape;359;p287"/>
          <p:cNvSpPr txBox="1">
            <a:spLocks noGrp="1"/>
          </p:cNvSpPr>
          <p:nvPr>
            <p:ph type="body" idx="6"/>
          </p:nvPr>
        </p:nvSpPr>
        <p:spPr>
          <a:xfrm>
            <a:off x="3806016"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60" name="Google Shape;360;p287"/>
          <p:cNvSpPr/>
          <p:nvPr/>
        </p:nvSpPr>
        <p:spPr>
          <a:xfrm flipH="1">
            <a:off x="3455169" y="6002343"/>
            <a:ext cx="240000" cy="2400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A5A5A5"/>
              </a:solidFill>
              <a:latin typeface="Raleway Black"/>
              <a:ea typeface="Raleway Black"/>
              <a:cs typeface="Raleway Black"/>
              <a:sym typeface="Raleway Black"/>
            </a:endParaRPr>
          </a:p>
        </p:txBody>
      </p:sp>
      <p:sp>
        <p:nvSpPr>
          <p:cNvPr id="361" name="Google Shape;361;p287"/>
          <p:cNvSpPr txBox="1">
            <a:spLocks noGrp="1"/>
          </p:cNvSpPr>
          <p:nvPr>
            <p:ph type="body" idx="7"/>
          </p:nvPr>
        </p:nvSpPr>
        <p:spPr>
          <a:xfrm>
            <a:off x="6494011"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62" name="Google Shape;362;p287"/>
          <p:cNvSpPr/>
          <p:nvPr/>
        </p:nvSpPr>
        <p:spPr>
          <a:xfrm flipH="1">
            <a:off x="6143164" y="5595943"/>
            <a:ext cx="240000" cy="2400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A5A5A5"/>
              </a:solidFill>
              <a:latin typeface="Raleway Black"/>
              <a:ea typeface="Raleway Black"/>
              <a:cs typeface="Raleway Black"/>
              <a:sym typeface="Raleway Black"/>
            </a:endParaRPr>
          </a:p>
        </p:txBody>
      </p:sp>
      <p:sp>
        <p:nvSpPr>
          <p:cNvPr id="363" name="Google Shape;363;p287"/>
          <p:cNvSpPr txBox="1">
            <a:spLocks noGrp="1"/>
          </p:cNvSpPr>
          <p:nvPr>
            <p:ph type="body" idx="8"/>
          </p:nvPr>
        </p:nvSpPr>
        <p:spPr>
          <a:xfrm>
            <a:off x="6494011"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64" name="Google Shape;364;p287"/>
          <p:cNvSpPr/>
          <p:nvPr/>
        </p:nvSpPr>
        <p:spPr>
          <a:xfrm flipH="1">
            <a:off x="6143164" y="6002343"/>
            <a:ext cx="240000" cy="240000"/>
          </a:xfrm>
          <a:prstGeom prst="ellipse">
            <a:avLst/>
          </a:prstGeom>
          <a:solidFill>
            <a:srgbClr val="48365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A5A5A5"/>
              </a:solidFill>
              <a:latin typeface="Raleway Black"/>
              <a:ea typeface="Raleway Black"/>
              <a:cs typeface="Raleway Black"/>
              <a:sym typeface="Raleway Black"/>
            </a:endParaRPr>
          </a:p>
        </p:txBody>
      </p:sp>
      <p:sp>
        <p:nvSpPr>
          <p:cNvPr id="365" name="Google Shape;365;p287"/>
          <p:cNvSpPr txBox="1">
            <a:spLocks noGrp="1"/>
          </p:cNvSpPr>
          <p:nvPr>
            <p:ph type="body" idx="9"/>
          </p:nvPr>
        </p:nvSpPr>
        <p:spPr>
          <a:xfrm>
            <a:off x="9182005" y="55918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66" name="Google Shape;366;p287"/>
          <p:cNvSpPr/>
          <p:nvPr/>
        </p:nvSpPr>
        <p:spPr>
          <a:xfrm flipH="1">
            <a:off x="8831159" y="5595943"/>
            <a:ext cx="240000" cy="240000"/>
          </a:xfrm>
          <a:prstGeom prst="ellipse">
            <a:avLst/>
          </a:prstGeom>
          <a:solidFill>
            <a:srgbClr val="50771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A5A5A5"/>
              </a:solidFill>
              <a:latin typeface="Raleway Black"/>
              <a:ea typeface="Raleway Black"/>
              <a:cs typeface="Raleway Black"/>
              <a:sym typeface="Raleway Black"/>
            </a:endParaRPr>
          </a:p>
        </p:txBody>
      </p:sp>
      <p:sp>
        <p:nvSpPr>
          <p:cNvPr id="367" name="Google Shape;367;p287"/>
          <p:cNvSpPr txBox="1">
            <a:spLocks noGrp="1"/>
          </p:cNvSpPr>
          <p:nvPr>
            <p:ph type="body" idx="13"/>
          </p:nvPr>
        </p:nvSpPr>
        <p:spPr>
          <a:xfrm>
            <a:off x="9182005" y="5998277"/>
            <a:ext cx="2399995" cy="240000"/>
          </a:xfrm>
          <a:prstGeom prst="rect">
            <a:avLst/>
          </a:prstGeom>
          <a:noFill/>
          <a:ln>
            <a:noFill/>
          </a:ln>
        </p:spPr>
        <p:txBody>
          <a:bodyPr spcFirstLastPara="1" wrap="square" lIns="0" tIns="40500" rIns="0" bIns="40500" anchor="ctr" anchorCtr="0">
            <a:noAutofit/>
          </a:bodyPr>
          <a:lstStyle>
            <a:lvl1pPr marL="457200" marR="0" lvl="0" indent="-228600" algn="l" rtl="0">
              <a:lnSpc>
                <a:spcPct val="100000"/>
              </a:lnSpc>
              <a:spcBef>
                <a:spcPts val="0"/>
              </a:spcBef>
              <a:spcAft>
                <a:spcPts val="0"/>
              </a:spcAft>
              <a:buClr>
                <a:srgbClr val="A5A5A5"/>
              </a:buClr>
              <a:buSzPts val="1333"/>
              <a:buFont typeface="Arial"/>
              <a:buNone/>
              <a:defRPr sz="1333" b="1" i="0" u="none" strike="noStrike" cap="none">
                <a:solidFill>
                  <a:srgbClr val="A5A5A5"/>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68" name="Google Shape;368;p287"/>
          <p:cNvSpPr/>
          <p:nvPr/>
        </p:nvSpPr>
        <p:spPr>
          <a:xfrm flipH="1">
            <a:off x="8831159" y="6002343"/>
            <a:ext cx="240000" cy="240000"/>
          </a:xfrm>
          <a:prstGeom prst="ellipse">
            <a:avLst/>
          </a:prstGeom>
          <a:solidFill>
            <a:srgbClr val="14425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b="1">
              <a:solidFill>
                <a:srgbClr val="A5A5A5"/>
              </a:solidFill>
              <a:latin typeface="Raleway Black"/>
              <a:ea typeface="Raleway Black"/>
              <a:cs typeface="Raleway Black"/>
              <a:sym typeface="Raleway Black"/>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3_Top center title">
  <p:cSld name="3_Top center title">
    <p:spTree>
      <p:nvGrpSpPr>
        <p:cNvPr id="1" name="Shape 369"/>
        <p:cNvGrpSpPr/>
        <p:nvPr/>
      </p:nvGrpSpPr>
      <p:grpSpPr>
        <a:xfrm>
          <a:off x="0" y="0"/>
          <a:ext cx="0" cy="0"/>
          <a:chOff x="0" y="0"/>
          <a:chExt cx="0" cy="0"/>
        </a:xfrm>
      </p:grpSpPr>
      <p:sp>
        <p:nvSpPr>
          <p:cNvPr id="370" name="Google Shape;370;p288"/>
          <p:cNvSpPr txBox="1">
            <a:spLocks noGrp="1"/>
          </p:cNvSpPr>
          <p:nvPr>
            <p:ph type="body" idx="1"/>
          </p:nvPr>
        </p:nvSpPr>
        <p:spPr>
          <a:xfrm>
            <a:off x="3329431" y="19561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71" name="Google Shape;371;p288"/>
          <p:cNvSpPr txBox="1">
            <a:spLocks noGrp="1"/>
          </p:cNvSpPr>
          <p:nvPr>
            <p:ph type="body" idx="2"/>
          </p:nvPr>
        </p:nvSpPr>
        <p:spPr>
          <a:xfrm>
            <a:off x="3329431" y="102419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72" name="Google Shape;372;p288"/>
          <p:cNvSpPr/>
          <p:nvPr/>
        </p:nvSpPr>
        <p:spPr>
          <a:xfrm>
            <a:off x="1050232" y="1656563"/>
            <a:ext cx="2112000" cy="2111997"/>
          </a:xfrm>
          <a:prstGeom prst="arc">
            <a:avLst>
              <a:gd name="adj1" fmla="val 11622373"/>
              <a:gd name="adj2" fmla="val 10303517"/>
            </a:avLst>
          </a:prstGeom>
          <a:noFill/>
          <a:ln w="127000" cap="sq" cmpd="sng">
            <a:solidFill>
              <a:schemeClr val="accent2"/>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373" name="Google Shape;373;p288"/>
          <p:cNvSpPr/>
          <p:nvPr/>
        </p:nvSpPr>
        <p:spPr>
          <a:xfrm>
            <a:off x="710333" y="2347948"/>
            <a:ext cx="749283" cy="74927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374" name="Google Shape;374;p288"/>
          <p:cNvSpPr txBox="1">
            <a:spLocks noGrp="1"/>
          </p:cNvSpPr>
          <p:nvPr>
            <p:ph type="body" idx="3"/>
          </p:nvPr>
        </p:nvSpPr>
        <p:spPr>
          <a:xfrm>
            <a:off x="732028" y="230286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75" name="Google Shape;375;p288"/>
          <p:cNvSpPr>
            <a:spLocks noGrp="1"/>
          </p:cNvSpPr>
          <p:nvPr>
            <p:ph type="pic" idx="4"/>
          </p:nvPr>
        </p:nvSpPr>
        <p:spPr>
          <a:xfrm>
            <a:off x="1308070" y="1814003"/>
            <a:ext cx="1692180" cy="1775640"/>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76" name="Google Shape;376;p288"/>
          <p:cNvSpPr/>
          <p:nvPr/>
        </p:nvSpPr>
        <p:spPr>
          <a:xfrm>
            <a:off x="6492164" y="1656563"/>
            <a:ext cx="2112000" cy="2111997"/>
          </a:xfrm>
          <a:prstGeom prst="arc">
            <a:avLst>
              <a:gd name="adj1" fmla="val 11622373"/>
              <a:gd name="adj2" fmla="val 10303517"/>
            </a:avLst>
          </a:prstGeom>
          <a:noFill/>
          <a:ln w="127000" cap="sq" cmpd="sng">
            <a:solidFill>
              <a:schemeClr val="accent3"/>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377" name="Google Shape;377;p288"/>
          <p:cNvSpPr/>
          <p:nvPr/>
        </p:nvSpPr>
        <p:spPr>
          <a:xfrm>
            <a:off x="6152265" y="2347948"/>
            <a:ext cx="749283" cy="749277"/>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378" name="Google Shape;378;p288"/>
          <p:cNvSpPr txBox="1">
            <a:spLocks noGrp="1"/>
          </p:cNvSpPr>
          <p:nvPr>
            <p:ph type="body" idx="5"/>
          </p:nvPr>
        </p:nvSpPr>
        <p:spPr>
          <a:xfrm>
            <a:off x="6173960" y="230286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79" name="Google Shape;379;p288"/>
          <p:cNvSpPr>
            <a:spLocks noGrp="1"/>
          </p:cNvSpPr>
          <p:nvPr>
            <p:ph type="pic" idx="6"/>
          </p:nvPr>
        </p:nvSpPr>
        <p:spPr>
          <a:xfrm>
            <a:off x="6750002" y="1814003"/>
            <a:ext cx="1692180" cy="1775640"/>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80" name="Google Shape;380;p288"/>
          <p:cNvSpPr/>
          <p:nvPr/>
        </p:nvSpPr>
        <p:spPr>
          <a:xfrm>
            <a:off x="1050232" y="4182244"/>
            <a:ext cx="2112000" cy="2111997"/>
          </a:xfrm>
          <a:prstGeom prst="arc">
            <a:avLst>
              <a:gd name="adj1" fmla="val 11622373"/>
              <a:gd name="adj2" fmla="val 10303517"/>
            </a:avLst>
          </a:prstGeom>
          <a:noFill/>
          <a:ln w="127000" cap="sq" cmpd="sng">
            <a:solidFill>
              <a:schemeClr val="accent4"/>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381" name="Google Shape;381;p288"/>
          <p:cNvSpPr/>
          <p:nvPr/>
        </p:nvSpPr>
        <p:spPr>
          <a:xfrm>
            <a:off x="710333" y="4873630"/>
            <a:ext cx="749283" cy="749277"/>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382" name="Google Shape;382;p288"/>
          <p:cNvSpPr txBox="1">
            <a:spLocks noGrp="1"/>
          </p:cNvSpPr>
          <p:nvPr>
            <p:ph type="body" idx="7"/>
          </p:nvPr>
        </p:nvSpPr>
        <p:spPr>
          <a:xfrm>
            <a:off x="732028" y="4828546"/>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83" name="Google Shape;383;p288"/>
          <p:cNvSpPr>
            <a:spLocks noGrp="1"/>
          </p:cNvSpPr>
          <p:nvPr>
            <p:ph type="pic" idx="8"/>
          </p:nvPr>
        </p:nvSpPr>
        <p:spPr>
          <a:xfrm>
            <a:off x="1308070" y="4339684"/>
            <a:ext cx="1692180" cy="1775640"/>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84" name="Google Shape;384;p288"/>
          <p:cNvSpPr/>
          <p:nvPr/>
        </p:nvSpPr>
        <p:spPr>
          <a:xfrm>
            <a:off x="6492164" y="4182244"/>
            <a:ext cx="2112000" cy="2111997"/>
          </a:xfrm>
          <a:prstGeom prst="arc">
            <a:avLst>
              <a:gd name="adj1" fmla="val 11622373"/>
              <a:gd name="adj2" fmla="val 10303517"/>
            </a:avLst>
          </a:prstGeom>
          <a:noFill/>
          <a:ln w="127000" cap="sq" cmpd="sng">
            <a:solidFill>
              <a:schemeClr val="accent5"/>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385" name="Google Shape;385;p288"/>
          <p:cNvSpPr/>
          <p:nvPr/>
        </p:nvSpPr>
        <p:spPr>
          <a:xfrm>
            <a:off x="6152265" y="4873630"/>
            <a:ext cx="749283" cy="749277"/>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386" name="Google Shape;386;p288"/>
          <p:cNvSpPr txBox="1">
            <a:spLocks noGrp="1"/>
          </p:cNvSpPr>
          <p:nvPr>
            <p:ph type="body" idx="9"/>
          </p:nvPr>
        </p:nvSpPr>
        <p:spPr>
          <a:xfrm>
            <a:off x="6173960" y="4828546"/>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87" name="Google Shape;387;p288"/>
          <p:cNvSpPr>
            <a:spLocks noGrp="1"/>
          </p:cNvSpPr>
          <p:nvPr>
            <p:ph type="pic" idx="13"/>
          </p:nvPr>
        </p:nvSpPr>
        <p:spPr>
          <a:xfrm>
            <a:off x="6750002" y="4339684"/>
            <a:ext cx="1692180" cy="1775640"/>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Right top title">
  <p:cSld name="Right top title">
    <p:spTree>
      <p:nvGrpSpPr>
        <p:cNvPr id="1" name="Shape 388"/>
        <p:cNvGrpSpPr/>
        <p:nvPr/>
      </p:nvGrpSpPr>
      <p:grpSpPr>
        <a:xfrm>
          <a:off x="0" y="0"/>
          <a:ext cx="0" cy="0"/>
          <a:chOff x="0" y="0"/>
          <a:chExt cx="0" cy="0"/>
        </a:xfrm>
      </p:grpSpPr>
      <p:sp>
        <p:nvSpPr>
          <p:cNvPr id="389" name="Google Shape;389;p289"/>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90" name="Google Shape;390;p289"/>
          <p:cNvSpPr txBox="1">
            <a:spLocks noGrp="1"/>
          </p:cNvSpPr>
          <p:nvPr>
            <p:ph type="body" idx="2"/>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treghts">
  <p:cSld name="Streghts">
    <p:spTree>
      <p:nvGrpSpPr>
        <p:cNvPr id="1" name="Shape 391"/>
        <p:cNvGrpSpPr/>
        <p:nvPr/>
      </p:nvGrpSpPr>
      <p:grpSpPr>
        <a:xfrm>
          <a:off x="0" y="0"/>
          <a:ext cx="0" cy="0"/>
          <a:chOff x="0" y="0"/>
          <a:chExt cx="0" cy="0"/>
        </a:xfrm>
      </p:grpSpPr>
      <p:sp>
        <p:nvSpPr>
          <p:cNvPr id="392" name="Google Shape;392;p290"/>
          <p:cNvSpPr>
            <a:spLocks noGrp="1"/>
          </p:cNvSpPr>
          <p:nvPr>
            <p:ph type="pic" idx="2"/>
          </p:nvPr>
        </p:nvSpPr>
        <p:spPr>
          <a:xfrm>
            <a:off x="1348366" y="989762"/>
            <a:ext cx="3433996" cy="4740476"/>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93" name="Google Shape;393;p290"/>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94" name="Google Shape;394;p290"/>
          <p:cNvSpPr txBox="1">
            <a:spLocks noGrp="1"/>
          </p:cNvSpPr>
          <p:nvPr>
            <p:ph type="body" idx="3"/>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Weacknesses">
  <p:cSld name="Weacknesses">
    <p:spTree>
      <p:nvGrpSpPr>
        <p:cNvPr id="1" name="Shape 395"/>
        <p:cNvGrpSpPr/>
        <p:nvPr/>
      </p:nvGrpSpPr>
      <p:grpSpPr>
        <a:xfrm>
          <a:off x="0" y="0"/>
          <a:ext cx="0" cy="0"/>
          <a:chOff x="0" y="0"/>
          <a:chExt cx="0" cy="0"/>
        </a:xfrm>
      </p:grpSpPr>
      <p:sp>
        <p:nvSpPr>
          <p:cNvPr id="396" name="Google Shape;396;p291"/>
          <p:cNvSpPr>
            <a:spLocks noGrp="1"/>
          </p:cNvSpPr>
          <p:nvPr>
            <p:ph type="pic" idx="2"/>
          </p:nvPr>
        </p:nvSpPr>
        <p:spPr>
          <a:xfrm>
            <a:off x="6202129" y="989762"/>
            <a:ext cx="5259327" cy="4897868"/>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97" name="Google Shape;397;p291"/>
          <p:cNvSpPr txBox="1">
            <a:spLocks noGrp="1"/>
          </p:cNvSpPr>
          <p:nvPr>
            <p:ph type="body" idx="1"/>
          </p:nvPr>
        </p:nvSpPr>
        <p:spPr>
          <a:xfrm>
            <a:off x="624416"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398" name="Google Shape;398;p291"/>
          <p:cNvSpPr txBox="1">
            <a:spLocks noGrp="1"/>
          </p:cNvSpPr>
          <p:nvPr>
            <p:ph type="body" idx="3"/>
          </p:nvPr>
        </p:nvSpPr>
        <p:spPr>
          <a:xfrm>
            <a:off x="624416"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Oportunities">
  <p:cSld name="Oportunities">
    <p:spTree>
      <p:nvGrpSpPr>
        <p:cNvPr id="1" name="Shape 399"/>
        <p:cNvGrpSpPr/>
        <p:nvPr/>
      </p:nvGrpSpPr>
      <p:grpSpPr>
        <a:xfrm>
          <a:off x="0" y="0"/>
          <a:ext cx="0" cy="0"/>
          <a:chOff x="0" y="0"/>
          <a:chExt cx="0" cy="0"/>
        </a:xfrm>
      </p:grpSpPr>
      <p:sp>
        <p:nvSpPr>
          <p:cNvPr id="400" name="Google Shape;400;p292"/>
          <p:cNvSpPr>
            <a:spLocks noGrp="1"/>
          </p:cNvSpPr>
          <p:nvPr>
            <p:ph type="pic" idx="2"/>
          </p:nvPr>
        </p:nvSpPr>
        <p:spPr>
          <a:xfrm>
            <a:off x="1066285" y="959478"/>
            <a:ext cx="4276177" cy="5307917"/>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01" name="Google Shape;401;p292"/>
          <p:cNvSpPr txBox="1">
            <a:spLocks noGrp="1"/>
          </p:cNvSpPr>
          <p:nvPr>
            <p:ph type="body" idx="1"/>
          </p:nvPr>
        </p:nvSpPr>
        <p:spPr>
          <a:xfrm>
            <a:off x="6096000"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02" name="Google Shape;402;p292"/>
          <p:cNvSpPr txBox="1">
            <a:spLocks noGrp="1"/>
          </p:cNvSpPr>
          <p:nvPr>
            <p:ph type="body" idx="3"/>
          </p:nvPr>
        </p:nvSpPr>
        <p:spPr>
          <a:xfrm>
            <a:off x="6096000"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hreats">
  <p:cSld name="Threats">
    <p:spTree>
      <p:nvGrpSpPr>
        <p:cNvPr id="1" name="Shape 403"/>
        <p:cNvGrpSpPr/>
        <p:nvPr/>
      </p:nvGrpSpPr>
      <p:grpSpPr>
        <a:xfrm>
          <a:off x="0" y="0"/>
          <a:ext cx="0" cy="0"/>
          <a:chOff x="0" y="0"/>
          <a:chExt cx="0" cy="0"/>
        </a:xfrm>
      </p:grpSpPr>
      <p:sp>
        <p:nvSpPr>
          <p:cNvPr id="404" name="Google Shape;404;p293"/>
          <p:cNvSpPr>
            <a:spLocks noGrp="1"/>
          </p:cNvSpPr>
          <p:nvPr>
            <p:ph type="pic" idx="2"/>
          </p:nvPr>
        </p:nvSpPr>
        <p:spPr>
          <a:xfrm>
            <a:off x="7040660" y="973997"/>
            <a:ext cx="3582264" cy="563179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333"/>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05" name="Google Shape;405;p293"/>
          <p:cNvSpPr txBox="1">
            <a:spLocks noGrp="1"/>
          </p:cNvSpPr>
          <p:nvPr>
            <p:ph type="body" idx="1"/>
          </p:nvPr>
        </p:nvSpPr>
        <p:spPr>
          <a:xfrm>
            <a:off x="624417" y="989761"/>
            <a:ext cx="5471584" cy="769275"/>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06" name="Google Shape;406;p293"/>
          <p:cNvSpPr txBox="1">
            <a:spLocks noGrp="1"/>
          </p:cNvSpPr>
          <p:nvPr>
            <p:ph type="body" idx="3"/>
          </p:nvPr>
        </p:nvSpPr>
        <p:spPr>
          <a:xfrm>
            <a:off x="624417" y="1818343"/>
            <a:ext cx="5471584" cy="2958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1_Top center title">
  <p:cSld name="1_Top center title">
    <p:spTree>
      <p:nvGrpSpPr>
        <p:cNvPr id="1" name="Shape 407"/>
        <p:cNvGrpSpPr/>
        <p:nvPr/>
      </p:nvGrpSpPr>
      <p:grpSpPr>
        <a:xfrm>
          <a:off x="0" y="0"/>
          <a:ext cx="0" cy="0"/>
          <a:chOff x="0" y="0"/>
          <a:chExt cx="0" cy="0"/>
        </a:xfrm>
      </p:grpSpPr>
      <p:sp>
        <p:nvSpPr>
          <p:cNvPr id="408" name="Google Shape;408;p294"/>
          <p:cNvSpPr txBox="1">
            <a:spLocks noGrp="1"/>
          </p:cNvSpPr>
          <p:nvPr>
            <p:ph type="body" idx="1"/>
          </p:nvPr>
        </p:nvSpPr>
        <p:spPr>
          <a:xfrm>
            <a:off x="3329431" y="497272"/>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09" name="Google Shape;409;p294"/>
          <p:cNvSpPr txBox="1">
            <a:spLocks noGrp="1"/>
          </p:cNvSpPr>
          <p:nvPr>
            <p:ph type="body" idx="2"/>
          </p:nvPr>
        </p:nvSpPr>
        <p:spPr>
          <a:xfrm>
            <a:off x="3329431" y="132585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10" name="Google Shape;410;p294"/>
          <p:cNvSpPr/>
          <p:nvPr/>
        </p:nvSpPr>
        <p:spPr>
          <a:xfrm>
            <a:off x="996833" y="2023904"/>
            <a:ext cx="2880004" cy="2880000"/>
          </a:xfrm>
          <a:prstGeom prst="ellipse">
            <a:avLst/>
          </a:prstGeom>
          <a:noFill/>
          <a:ln w="381000" cap="rnd"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411" name="Google Shape;411;p294"/>
          <p:cNvSpPr/>
          <p:nvPr/>
        </p:nvSpPr>
        <p:spPr>
          <a:xfrm>
            <a:off x="4654431" y="2023904"/>
            <a:ext cx="2880004" cy="2880000"/>
          </a:xfrm>
          <a:prstGeom prst="ellipse">
            <a:avLst/>
          </a:prstGeom>
          <a:noFill/>
          <a:ln w="381000" cap="rnd"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412" name="Google Shape;412;p294"/>
          <p:cNvSpPr/>
          <p:nvPr/>
        </p:nvSpPr>
        <p:spPr>
          <a:xfrm>
            <a:off x="8334609" y="2023904"/>
            <a:ext cx="2880004" cy="2880000"/>
          </a:xfrm>
          <a:prstGeom prst="ellipse">
            <a:avLst/>
          </a:prstGeom>
          <a:noFill/>
          <a:ln w="381000" cap="rnd"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413" name="Google Shape;413;p294"/>
          <p:cNvSpPr/>
          <p:nvPr/>
        </p:nvSpPr>
        <p:spPr>
          <a:xfrm>
            <a:off x="3873618" y="3114585"/>
            <a:ext cx="816001" cy="815999"/>
          </a:xfrm>
          <a:prstGeom prst="ellipse">
            <a:avLst/>
          </a:prstGeom>
          <a:solidFill>
            <a:srgbClr val="48365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414" name="Google Shape;414;p294"/>
          <p:cNvSpPr/>
          <p:nvPr/>
        </p:nvSpPr>
        <p:spPr>
          <a:xfrm>
            <a:off x="7514986" y="3114585"/>
            <a:ext cx="816001" cy="815999"/>
          </a:xfrm>
          <a:prstGeom prst="ellipse">
            <a:avLst/>
          </a:prstGeom>
          <a:solidFill>
            <a:srgbClr val="50771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415" name="Google Shape;415;p294"/>
          <p:cNvSpPr>
            <a:spLocks noGrp="1"/>
          </p:cNvSpPr>
          <p:nvPr>
            <p:ph type="pic" idx="3"/>
          </p:nvPr>
        </p:nvSpPr>
        <p:spPr>
          <a:xfrm>
            <a:off x="874187" y="1912129"/>
            <a:ext cx="3072984" cy="3120000"/>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16" name="Google Shape;416;p294"/>
          <p:cNvSpPr>
            <a:spLocks noGrp="1"/>
          </p:cNvSpPr>
          <p:nvPr>
            <p:ph type="pic" idx="4"/>
          </p:nvPr>
        </p:nvSpPr>
        <p:spPr>
          <a:xfrm>
            <a:off x="4585804" y="1912129"/>
            <a:ext cx="3016120" cy="3120000"/>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17" name="Google Shape;417;p294"/>
          <p:cNvSpPr>
            <a:spLocks noGrp="1"/>
          </p:cNvSpPr>
          <p:nvPr>
            <p:ph type="pic" idx="5"/>
          </p:nvPr>
        </p:nvSpPr>
        <p:spPr>
          <a:xfrm>
            <a:off x="8254103" y="1912129"/>
            <a:ext cx="3071508" cy="3120000"/>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18" name="Google Shape;418;p294"/>
          <p:cNvSpPr txBox="1">
            <a:spLocks noGrp="1"/>
          </p:cNvSpPr>
          <p:nvPr>
            <p:ph type="body" idx="6"/>
          </p:nvPr>
        </p:nvSpPr>
        <p:spPr>
          <a:xfrm>
            <a:off x="3947171" y="311458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19" name="Google Shape;419;p294"/>
          <p:cNvSpPr txBox="1">
            <a:spLocks noGrp="1"/>
          </p:cNvSpPr>
          <p:nvPr>
            <p:ph type="body" idx="7"/>
          </p:nvPr>
        </p:nvSpPr>
        <p:spPr>
          <a:xfrm>
            <a:off x="7572830" y="3114585"/>
            <a:ext cx="704141" cy="749465"/>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lt1"/>
              </a:buClr>
              <a:buSzPts val="2667"/>
              <a:buFont typeface="Arial"/>
              <a:buNone/>
              <a:defRPr sz="2667" b="1" i="0" u="none" strike="noStrike" cap="none">
                <a:solidFill>
                  <a:schemeClr val="lt1"/>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420"/>
        <p:cNvGrpSpPr/>
        <p:nvPr/>
      </p:nvGrpSpPr>
      <p:grpSpPr>
        <a:xfrm>
          <a:off x="0" y="0"/>
          <a:ext cx="0" cy="0"/>
          <a:chOff x="0" y="0"/>
          <a:chExt cx="0" cy="0"/>
        </a:xfrm>
      </p:grpSpPr>
      <p:sp>
        <p:nvSpPr>
          <p:cNvPr id="421" name="Google Shape;421;p295"/>
          <p:cNvSpPr/>
          <p:nvPr/>
        </p:nvSpPr>
        <p:spPr>
          <a:xfrm>
            <a:off x="954808" y="1980090"/>
            <a:ext cx="1793877" cy="1823989"/>
          </a:xfrm>
          <a:prstGeom prst="ellipse">
            <a:avLst/>
          </a:prstGeom>
          <a:noFill/>
          <a:ln w="381000" cap="rnd"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422" name="Google Shape;422;p295"/>
          <p:cNvSpPr>
            <a:spLocks noGrp="1"/>
          </p:cNvSpPr>
          <p:nvPr>
            <p:ph type="pic" idx="2"/>
          </p:nvPr>
        </p:nvSpPr>
        <p:spPr>
          <a:xfrm>
            <a:off x="858412" y="1861557"/>
            <a:ext cx="2029915" cy="2063988"/>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23" name="Google Shape;423;p295"/>
          <p:cNvSpPr txBox="1">
            <a:spLocks noGrp="1"/>
          </p:cNvSpPr>
          <p:nvPr>
            <p:ph type="body" idx="1"/>
          </p:nvPr>
        </p:nvSpPr>
        <p:spPr>
          <a:xfrm>
            <a:off x="858649"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24" name="Google Shape;424;p295"/>
          <p:cNvSpPr txBox="1">
            <a:spLocks noGrp="1"/>
          </p:cNvSpPr>
          <p:nvPr>
            <p:ph type="body" idx="3"/>
          </p:nvPr>
        </p:nvSpPr>
        <p:spPr>
          <a:xfrm>
            <a:off x="858649"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25" name="Google Shape;425;p295"/>
          <p:cNvSpPr txBox="1">
            <a:spLocks noGrp="1"/>
          </p:cNvSpPr>
          <p:nvPr>
            <p:ph type="body" idx="4"/>
          </p:nvPr>
        </p:nvSpPr>
        <p:spPr>
          <a:xfrm>
            <a:off x="858651"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26" name="Google Shape;426;p295"/>
          <p:cNvSpPr txBox="1">
            <a:spLocks noGrp="1"/>
          </p:cNvSpPr>
          <p:nvPr>
            <p:ph type="body" idx="5"/>
          </p:nvPr>
        </p:nvSpPr>
        <p:spPr>
          <a:xfrm>
            <a:off x="1610728"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accent2"/>
              </a:buClr>
              <a:buSzPts val="3333"/>
              <a:buFont typeface="Arial"/>
              <a:buNone/>
              <a:defRPr sz="3333" b="1" i="0" u="none" strike="noStrike" cap="none">
                <a:solidFill>
                  <a:schemeClr val="accent2"/>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cxnSp>
        <p:nvCxnSpPr>
          <p:cNvPr id="427" name="Google Shape;427;p295"/>
          <p:cNvCxnSpPr/>
          <p:nvPr/>
        </p:nvCxnSpPr>
        <p:spPr>
          <a:xfrm>
            <a:off x="3228335" y="1851379"/>
            <a:ext cx="0" cy="4607999"/>
          </a:xfrm>
          <a:prstGeom prst="straightConnector1">
            <a:avLst/>
          </a:prstGeom>
          <a:noFill/>
          <a:ln w="9525" cap="flat" cmpd="sng">
            <a:solidFill>
              <a:srgbClr val="D8D8D8"/>
            </a:solidFill>
            <a:prstDash val="dash"/>
            <a:miter lim="800000"/>
            <a:headEnd type="none" w="sm" len="sm"/>
            <a:tailEnd type="none" w="sm" len="sm"/>
          </a:ln>
        </p:spPr>
      </p:cxnSp>
      <p:sp>
        <p:nvSpPr>
          <p:cNvPr id="428" name="Google Shape;428;p295"/>
          <p:cNvSpPr/>
          <p:nvPr/>
        </p:nvSpPr>
        <p:spPr>
          <a:xfrm>
            <a:off x="3761934" y="1980090"/>
            <a:ext cx="1793877" cy="1823989"/>
          </a:xfrm>
          <a:prstGeom prst="ellipse">
            <a:avLst/>
          </a:prstGeom>
          <a:noFill/>
          <a:ln w="381000" cap="rnd"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429" name="Google Shape;429;p295"/>
          <p:cNvSpPr>
            <a:spLocks noGrp="1"/>
          </p:cNvSpPr>
          <p:nvPr>
            <p:ph type="pic" idx="6"/>
          </p:nvPr>
        </p:nvSpPr>
        <p:spPr>
          <a:xfrm>
            <a:off x="3665537" y="1861557"/>
            <a:ext cx="2029915" cy="2063988"/>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30" name="Google Shape;430;p295"/>
          <p:cNvSpPr txBox="1">
            <a:spLocks noGrp="1"/>
          </p:cNvSpPr>
          <p:nvPr>
            <p:ph type="body" idx="7"/>
          </p:nvPr>
        </p:nvSpPr>
        <p:spPr>
          <a:xfrm>
            <a:off x="3610341"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31" name="Google Shape;431;p295"/>
          <p:cNvSpPr txBox="1">
            <a:spLocks noGrp="1"/>
          </p:cNvSpPr>
          <p:nvPr>
            <p:ph type="body" idx="8"/>
          </p:nvPr>
        </p:nvSpPr>
        <p:spPr>
          <a:xfrm>
            <a:off x="3610341"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32" name="Google Shape;432;p295"/>
          <p:cNvSpPr txBox="1">
            <a:spLocks noGrp="1"/>
          </p:cNvSpPr>
          <p:nvPr>
            <p:ph type="body" idx="9"/>
          </p:nvPr>
        </p:nvSpPr>
        <p:spPr>
          <a:xfrm>
            <a:off x="3610343"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33" name="Google Shape;433;p295"/>
          <p:cNvSpPr txBox="1">
            <a:spLocks noGrp="1"/>
          </p:cNvSpPr>
          <p:nvPr>
            <p:ph type="body" idx="13"/>
          </p:nvPr>
        </p:nvSpPr>
        <p:spPr>
          <a:xfrm>
            <a:off x="4362420"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rgbClr val="50771B"/>
              </a:buClr>
              <a:buSzPts val="3333"/>
              <a:buFont typeface="Arial"/>
              <a:buNone/>
              <a:defRPr sz="3333" b="1" i="0" u="none" strike="noStrike" cap="none">
                <a:solidFill>
                  <a:srgbClr val="50771B"/>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cxnSp>
        <p:nvCxnSpPr>
          <p:cNvPr id="434" name="Google Shape;434;p295"/>
          <p:cNvCxnSpPr/>
          <p:nvPr/>
        </p:nvCxnSpPr>
        <p:spPr>
          <a:xfrm>
            <a:off x="6099319" y="1851379"/>
            <a:ext cx="0" cy="4607999"/>
          </a:xfrm>
          <a:prstGeom prst="straightConnector1">
            <a:avLst/>
          </a:prstGeom>
          <a:noFill/>
          <a:ln w="9525" cap="flat" cmpd="sng">
            <a:solidFill>
              <a:srgbClr val="D8D8D8"/>
            </a:solidFill>
            <a:prstDash val="dash"/>
            <a:miter lim="800000"/>
            <a:headEnd type="none" w="sm" len="sm"/>
            <a:tailEnd type="none" w="sm" len="sm"/>
          </a:ln>
        </p:spPr>
      </p:cxnSp>
      <p:sp>
        <p:nvSpPr>
          <p:cNvPr id="435" name="Google Shape;435;p295"/>
          <p:cNvSpPr/>
          <p:nvPr/>
        </p:nvSpPr>
        <p:spPr>
          <a:xfrm>
            <a:off x="6525956" y="1980090"/>
            <a:ext cx="1793877" cy="1823989"/>
          </a:xfrm>
          <a:prstGeom prst="ellipse">
            <a:avLst/>
          </a:prstGeom>
          <a:noFill/>
          <a:ln w="381000" cap="rnd"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436" name="Google Shape;436;p295"/>
          <p:cNvSpPr>
            <a:spLocks noGrp="1"/>
          </p:cNvSpPr>
          <p:nvPr>
            <p:ph type="pic" idx="14"/>
          </p:nvPr>
        </p:nvSpPr>
        <p:spPr>
          <a:xfrm>
            <a:off x="6429560" y="1861557"/>
            <a:ext cx="2029915" cy="2063988"/>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37" name="Google Shape;437;p295"/>
          <p:cNvSpPr txBox="1">
            <a:spLocks noGrp="1"/>
          </p:cNvSpPr>
          <p:nvPr>
            <p:ph type="body" idx="15"/>
          </p:nvPr>
        </p:nvSpPr>
        <p:spPr>
          <a:xfrm>
            <a:off x="6374364"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38" name="Google Shape;438;p295"/>
          <p:cNvSpPr txBox="1">
            <a:spLocks noGrp="1"/>
          </p:cNvSpPr>
          <p:nvPr>
            <p:ph type="body" idx="16"/>
          </p:nvPr>
        </p:nvSpPr>
        <p:spPr>
          <a:xfrm>
            <a:off x="6374364"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39" name="Google Shape;439;p295"/>
          <p:cNvSpPr txBox="1">
            <a:spLocks noGrp="1"/>
          </p:cNvSpPr>
          <p:nvPr>
            <p:ph type="body" idx="17"/>
          </p:nvPr>
        </p:nvSpPr>
        <p:spPr>
          <a:xfrm>
            <a:off x="6374365"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40" name="Google Shape;440;p295"/>
          <p:cNvSpPr txBox="1">
            <a:spLocks noGrp="1"/>
          </p:cNvSpPr>
          <p:nvPr>
            <p:ph type="body" idx="18"/>
          </p:nvPr>
        </p:nvSpPr>
        <p:spPr>
          <a:xfrm>
            <a:off x="7126443"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chemeClr val="accent5"/>
              </a:buClr>
              <a:buSzPts val="3333"/>
              <a:buFont typeface="Arial"/>
              <a:buNone/>
              <a:defRPr sz="3333" b="1" i="0" u="none" strike="noStrike" cap="none">
                <a:solidFill>
                  <a:schemeClr val="accent5"/>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cxnSp>
        <p:nvCxnSpPr>
          <p:cNvPr id="441" name="Google Shape;441;p295"/>
          <p:cNvCxnSpPr/>
          <p:nvPr/>
        </p:nvCxnSpPr>
        <p:spPr>
          <a:xfrm>
            <a:off x="8811788" y="1851379"/>
            <a:ext cx="0" cy="4607999"/>
          </a:xfrm>
          <a:prstGeom prst="straightConnector1">
            <a:avLst/>
          </a:prstGeom>
          <a:noFill/>
          <a:ln w="9525" cap="flat" cmpd="sng">
            <a:solidFill>
              <a:srgbClr val="D8D8D8"/>
            </a:solidFill>
            <a:prstDash val="dash"/>
            <a:miter lim="800000"/>
            <a:headEnd type="none" w="sm" len="sm"/>
            <a:tailEnd type="none" w="sm" len="sm"/>
          </a:ln>
        </p:spPr>
      </p:cxnSp>
      <p:sp>
        <p:nvSpPr>
          <p:cNvPr id="442" name="Google Shape;442;p295"/>
          <p:cNvSpPr/>
          <p:nvPr/>
        </p:nvSpPr>
        <p:spPr>
          <a:xfrm>
            <a:off x="9315796" y="1980090"/>
            <a:ext cx="1793877" cy="1823989"/>
          </a:xfrm>
          <a:prstGeom prst="ellipse">
            <a:avLst/>
          </a:prstGeom>
          <a:noFill/>
          <a:ln w="381000" cap="rnd"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267">
              <a:solidFill>
                <a:srgbClr val="000000"/>
              </a:solidFill>
              <a:latin typeface="Calibri"/>
              <a:ea typeface="Calibri"/>
              <a:cs typeface="Calibri"/>
              <a:sym typeface="Calibri"/>
            </a:endParaRPr>
          </a:p>
        </p:txBody>
      </p:sp>
      <p:sp>
        <p:nvSpPr>
          <p:cNvPr id="443" name="Google Shape;443;p295"/>
          <p:cNvSpPr>
            <a:spLocks noGrp="1"/>
          </p:cNvSpPr>
          <p:nvPr>
            <p:ph type="pic" idx="19"/>
          </p:nvPr>
        </p:nvSpPr>
        <p:spPr>
          <a:xfrm>
            <a:off x="9219400" y="1861557"/>
            <a:ext cx="2029915" cy="2063988"/>
          </a:xfrm>
          <a:prstGeom prst="rect">
            <a:avLst/>
          </a:prstGeom>
          <a:noFill/>
          <a:ln>
            <a:noFill/>
          </a:ln>
        </p:spPr>
        <p:txBody>
          <a:bodyPr spcFirstLastPara="1" wrap="square" lIns="95050" tIns="47525" rIns="95050" bIns="47525" anchor="t" anchorCtr="0">
            <a:noAutofit/>
          </a:bodyPr>
          <a:lstStyle>
            <a:lvl1pPr marR="0" lvl="0" algn="ctr" rtl="0">
              <a:lnSpc>
                <a:spcPct val="9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R="0" lvl="1"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R="0" lvl="2"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R="0" lvl="3"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R="0" lvl="4"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R="0" lvl="5"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R="0" lvl="6"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R="0" lvl="7"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R="0" lvl="8"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44" name="Google Shape;444;p295"/>
          <p:cNvSpPr txBox="1">
            <a:spLocks noGrp="1"/>
          </p:cNvSpPr>
          <p:nvPr>
            <p:ph type="body" idx="20"/>
          </p:nvPr>
        </p:nvSpPr>
        <p:spPr>
          <a:xfrm>
            <a:off x="9199956" y="4130546"/>
            <a:ext cx="2049120" cy="479756"/>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7F7F7F"/>
              </a:buClr>
              <a:buSzPts val="2133"/>
              <a:buFont typeface="Arial"/>
              <a:buNone/>
              <a:defRPr sz="2133" b="0" i="0" u="none" strike="noStrike" cap="none">
                <a:solidFill>
                  <a:srgbClr val="7F7F7F"/>
                </a:solidFill>
                <a:latin typeface="Raleway"/>
                <a:ea typeface="Raleway"/>
                <a:cs typeface="Raleway"/>
                <a:sym typeface="Raleway"/>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45" name="Google Shape;445;p295"/>
          <p:cNvSpPr txBox="1">
            <a:spLocks noGrp="1"/>
          </p:cNvSpPr>
          <p:nvPr>
            <p:ph type="body" idx="21"/>
          </p:nvPr>
        </p:nvSpPr>
        <p:spPr>
          <a:xfrm>
            <a:off x="9199956" y="4621172"/>
            <a:ext cx="2049120" cy="253835"/>
          </a:xfrm>
          <a:prstGeom prst="rect">
            <a:avLst/>
          </a:prstGeom>
          <a:noFill/>
          <a:ln>
            <a:noFill/>
          </a:ln>
        </p:spPr>
        <p:txBody>
          <a:bodyPr spcFirstLastPara="1" wrap="square" lIns="0" tIns="40500" rIns="0" bIns="40500" anchor="ctr" anchorCtr="0">
            <a:noAutofit/>
          </a:bodyPr>
          <a:lstStyle>
            <a:lvl1pPr marL="457200" marR="0" lvl="0" indent="-228600" algn="ctr" rtl="0">
              <a:lnSpc>
                <a:spcPct val="100000"/>
              </a:lnSpc>
              <a:spcBef>
                <a:spcPts val="0"/>
              </a:spcBef>
              <a:spcAft>
                <a:spcPts val="0"/>
              </a:spcAft>
              <a:buClr>
                <a:srgbClr val="48365A"/>
              </a:buClr>
              <a:buSzPts val="1333"/>
              <a:buFont typeface="Arial"/>
              <a:buNone/>
              <a:defRPr sz="1333" b="1" i="0" u="none" strike="noStrike" cap="none">
                <a:solidFill>
                  <a:srgbClr val="48365A"/>
                </a:solidFill>
                <a:latin typeface="Raleway Black"/>
                <a:ea typeface="Raleway Black"/>
                <a:cs typeface="Raleway Black"/>
                <a:sym typeface="Raleway Black"/>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46" name="Google Shape;446;p295"/>
          <p:cNvSpPr txBox="1">
            <a:spLocks noGrp="1"/>
          </p:cNvSpPr>
          <p:nvPr>
            <p:ph type="body" idx="22"/>
          </p:nvPr>
        </p:nvSpPr>
        <p:spPr>
          <a:xfrm>
            <a:off x="9199957" y="4965319"/>
            <a:ext cx="2049120" cy="866636"/>
          </a:xfrm>
          <a:prstGeom prst="rect">
            <a:avLst/>
          </a:prstGeom>
          <a:noFill/>
          <a:ln>
            <a:noFill/>
          </a:ln>
        </p:spPr>
        <p:txBody>
          <a:bodyPr spcFirstLastPara="1" wrap="square" lIns="0" tIns="0" rIns="0" bIns="0" anchor="t" anchorCtr="0">
            <a:noAutofit/>
          </a:bodyPr>
          <a:lstStyle>
            <a:lvl1pPr marL="457200" marR="0" lvl="0" indent="-228600" algn="ctr" rtl="0">
              <a:lnSpc>
                <a:spcPct val="130000"/>
              </a:lnSpc>
              <a:spcBef>
                <a:spcPts val="1333"/>
              </a:spcBef>
              <a:spcAft>
                <a:spcPts val="0"/>
              </a:spcAft>
              <a:buClr>
                <a:srgbClr val="7F7F7F"/>
              </a:buClr>
              <a:buSzPts val="1200"/>
              <a:buFont typeface="Arial"/>
              <a:buNone/>
              <a:defRPr sz="1200" b="0" i="0" u="none" strike="noStrike" cap="none">
                <a:solidFill>
                  <a:srgbClr val="7F7F7F"/>
                </a:solidFill>
                <a:latin typeface="Lato"/>
                <a:ea typeface="Lato"/>
                <a:cs typeface="Lato"/>
                <a:sym typeface="Lato"/>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47" name="Google Shape;447;p295"/>
          <p:cNvSpPr txBox="1">
            <a:spLocks noGrp="1"/>
          </p:cNvSpPr>
          <p:nvPr>
            <p:ph type="body" idx="23"/>
          </p:nvPr>
        </p:nvSpPr>
        <p:spPr>
          <a:xfrm>
            <a:off x="9952035" y="5854535"/>
            <a:ext cx="641923" cy="622979"/>
          </a:xfrm>
          <a:prstGeom prst="rect">
            <a:avLst/>
          </a:prstGeom>
          <a:noFill/>
          <a:ln>
            <a:noFill/>
          </a:ln>
        </p:spPr>
        <p:txBody>
          <a:bodyPr spcFirstLastPara="1" wrap="square" lIns="0" tIns="103875" rIns="0" bIns="103875" anchor="ctr" anchorCtr="0">
            <a:noAutofit/>
          </a:bodyPr>
          <a:lstStyle>
            <a:lvl1pPr marL="457200" marR="0" lvl="0" indent="-228600" algn="ctr" rtl="0">
              <a:lnSpc>
                <a:spcPct val="100000"/>
              </a:lnSpc>
              <a:spcBef>
                <a:spcPts val="0"/>
              </a:spcBef>
              <a:spcAft>
                <a:spcPts val="0"/>
              </a:spcAft>
              <a:buClr>
                <a:srgbClr val="BFBFBF"/>
              </a:buClr>
              <a:buSzPts val="3333"/>
              <a:buFont typeface="Arial"/>
              <a:buNone/>
              <a:defRPr sz="3333" b="1" i="0" u="none" strike="noStrike" cap="none">
                <a:solidFill>
                  <a:srgbClr val="BFBFBF"/>
                </a:solidFill>
                <a:latin typeface="Arial"/>
                <a:ea typeface="Arial"/>
                <a:cs typeface="Arial"/>
                <a:sym typeface="Arial"/>
              </a:defRPr>
            </a:lvl1pPr>
            <a:lvl2pPr marL="914400" marR="0" lvl="1" indent="-431800" algn="l" rtl="0">
              <a:lnSpc>
                <a:spcPct val="90000"/>
              </a:lnSpc>
              <a:spcBef>
                <a:spcPts val="667"/>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97954" algn="l" rtl="0">
              <a:lnSpc>
                <a:spcPct val="90000"/>
              </a:lnSpc>
              <a:spcBef>
                <a:spcPts val="667"/>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4pPr>
            <a:lvl5pPr marL="2286000" marR="0" lvl="4"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48" name="Google Shape;448;p295"/>
          <p:cNvSpPr txBox="1">
            <a:spLocks noGrp="1"/>
          </p:cNvSpPr>
          <p:nvPr>
            <p:ph type="body" idx="24"/>
          </p:nvPr>
        </p:nvSpPr>
        <p:spPr>
          <a:xfrm>
            <a:off x="3329431" y="248361"/>
            <a:ext cx="5551276" cy="769275"/>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rgbClr val="7F7F7F"/>
              </a:buClr>
              <a:buSzPts val="5333"/>
              <a:buFont typeface="Arial"/>
              <a:buNone/>
              <a:defRPr sz="5333" b="0" i="0" u="none" strike="noStrike" cap="none">
                <a:solidFill>
                  <a:srgbClr val="7F7F7F"/>
                </a:solidFill>
                <a:latin typeface="Raleway Light"/>
                <a:ea typeface="Raleway Light"/>
                <a:cs typeface="Raleway Light"/>
                <a:sym typeface="Raleway Light"/>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
        <p:nvSpPr>
          <p:cNvPr id="449" name="Google Shape;449;p295"/>
          <p:cNvSpPr txBox="1">
            <a:spLocks noGrp="1"/>
          </p:cNvSpPr>
          <p:nvPr>
            <p:ph type="body" idx="25"/>
          </p:nvPr>
        </p:nvSpPr>
        <p:spPr>
          <a:xfrm>
            <a:off x="3329431" y="1076943"/>
            <a:ext cx="5551276" cy="295800"/>
          </a:xfrm>
          <a:prstGeom prst="rect">
            <a:avLst/>
          </a:prstGeom>
          <a:noFill/>
          <a:ln>
            <a:noFill/>
          </a:ln>
        </p:spPr>
        <p:txBody>
          <a:bodyPr spcFirstLastPara="1" wrap="square" lIns="0" tIns="45700" rIns="91425" bIns="45700" anchor="t" anchorCtr="0">
            <a:noAutofit/>
          </a:bodyPr>
          <a:lstStyle>
            <a:lvl1pPr marL="457200" marR="0" lvl="0" indent="-228600" algn="ctr" rtl="0">
              <a:lnSpc>
                <a:spcPct val="90000"/>
              </a:lnSpc>
              <a:spcBef>
                <a:spcPts val="1333"/>
              </a:spcBef>
              <a:spcAft>
                <a:spcPts val="0"/>
              </a:spcAft>
              <a:buClr>
                <a:schemeClr val="accent2"/>
              </a:buClr>
              <a:buSzPts val="1333"/>
              <a:buFont typeface="Arial"/>
              <a:buNone/>
              <a:defRPr sz="1333" b="1" i="0" u="none" strike="noStrike" cap="none">
                <a:solidFill>
                  <a:schemeClr val="accent2"/>
                </a:solidFill>
                <a:latin typeface="Raleway Black"/>
                <a:ea typeface="Raleway Black"/>
                <a:cs typeface="Raleway Black"/>
                <a:sym typeface="Raleway Black"/>
              </a:defRPr>
            </a:lvl1pPr>
            <a:lvl2pPr marL="914400" marR="0" lvl="1"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2pPr>
            <a:lvl3pPr marL="1371600" marR="0" lvl="2"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3pPr>
            <a:lvl4pPr marL="1828800" marR="0" lvl="3"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4pPr>
            <a:lvl5pPr marL="2286000" marR="0" lvl="4" indent="-228600" algn="l" rtl="0">
              <a:lnSpc>
                <a:spcPct val="90000"/>
              </a:lnSpc>
              <a:spcBef>
                <a:spcPts val="667"/>
              </a:spcBef>
              <a:spcAft>
                <a:spcPts val="0"/>
              </a:spcAft>
              <a:buClr>
                <a:schemeClr val="dk1"/>
              </a:buClr>
              <a:buSzPts val="5333"/>
              <a:buFont typeface="Arial"/>
              <a:buNone/>
              <a:defRPr sz="5333" b="0" i="0" u="none" strike="noStrike" cap="none">
                <a:solidFill>
                  <a:schemeClr val="dk1"/>
                </a:solidFill>
                <a:latin typeface="Raleway Light"/>
                <a:ea typeface="Raleway Light"/>
                <a:cs typeface="Raleway Light"/>
                <a:sym typeface="Raleway Light"/>
              </a:defRPr>
            </a:lvl5pPr>
            <a:lvl6pPr marL="2743200" marR="0" lvl="5"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6pPr>
            <a:lvl7pPr marL="3200400" marR="0" lvl="6"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7pPr>
            <a:lvl8pPr marL="3657600" marR="0" lvl="7"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8pPr>
            <a:lvl9pPr marL="4114800" marR="0" lvl="8" indent="-381000" algn="l" rtl="0">
              <a:lnSpc>
                <a:spcPct val="90000"/>
              </a:lnSpc>
              <a:spcBef>
                <a:spcPts val="667"/>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1.jp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2.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slideLayout" Target="../slideLayouts/slideLayout34.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34" Type="http://schemas.openxmlformats.org/officeDocument/2006/relationships/theme" Target="../theme/theme3.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33" Type="http://schemas.openxmlformats.org/officeDocument/2006/relationships/slideLayout" Target="../slideLayouts/slideLayout41.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29" Type="http://schemas.openxmlformats.org/officeDocument/2006/relationships/slideLayout" Target="../slideLayouts/slideLayout37.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32" Type="http://schemas.openxmlformats.org/officeDocument/2006/relationships/slideLayout" Target="../slideLayouts/slideLayout40.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slideLayout" Target="../slideLayouts/slideLayout36.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31" Type="http://schemas.openxmlformats.org/officeDocument/2006/relationships/slideLayout" Target="../slideLayouts/slideLayout39.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slideLayout" Target="../slideLayouts/slideLayout35.xml"/><Relationship Id="rId30" Type="http://schemas.openxmlformats.org/officeDocument/2006/relationships/slideLayout" Target="../slideLayouts/slideLayout38.xml"/><Relationship Id="rId35" Type="http://schemas.openxmlformats.org/officeDocument/2006/relationships/image" Target="../media/image1.jp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image" Target="../media/image1.jpg"/><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6"/>
          <p:cNvSpPr/>
          <p:nvPr/>
        </p:nvSpPr>
        <p:spPr>
          <a:xfrm>
            <a:off x="8782521" y="6450660"/>
            <a:ext cx="338881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a:solidFill>
                  <a:srgbClr val="7F7F7F"/>
                </a:solidFill>
                <a:latin typeface="Lato"/>
                <a:ea typeface="Lato"/>
                <a:cs typeface="Lato"/>
                <a:sym typeface="Lato"/>
              </a:rPr>
              <a:t>Copyright Intellipaat. All rights reserved. </a:t>
            </a:r>
            <a:endParaRPr sz="1467" b="0" i="0" u="none" strike="noStrike" cap="none">
              <a:solidFill>
                <a:srgbClr val="000000"/>
              </a:solidFill>
              <a:latin typeface="Calibri"/>
              <a:ea typeface="Calibri"/>
              <a:cs typeface="Calibri"/>
              <a:sym typeface="Calibri"/>
            </a:endParaRPr>
          </a:p>
        </p:txBody>
      </p:sp>
      <p:pic>
        <p:nvPicPr>
          <p:cNvPr id="11" name="Google Shape;11;p216"/>
          <p:cNvPicPr preferRelativeResize="0"/>
          <p:nvPr/>
        </p:nvPicPr>
        <p:blipFill rotWithShape="1">
          <a:blip r:embed="rId5">
            <a:alphaModFix/>
          </a:blip>
          <a:srcRect/>
          <a:stretch/>
        </p:blipFill>
        <p:spPr>
          <a:xfrm>
            <a:off x="9727381" y="117421"/>
            <a:ext cx="2272908" cy="79231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 xmlns:p15="http://schemas.microsoft.com/office/powerpoint/2012/main">
        <p15:guide id="1" orient="horz" pos="1620">
          <p15:clr>
            <a:srgbClr val="F26B43"/>
          </p15:clr>
        </p15:guide>
        <p15:guide id="2" pos="2880">
          <p15:clr>
            <a:srgbClr val="F26B43"/>
          </p15:clr>
        </p15:guide>
        <p15:guide id="3" pos="5465">
          <p15:clr>
            <a:srgbClr val="F26B43"/>
          </p15:clr>
        </p15:guide>
        <p15:guide id="4" pos="29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
        <p:cNvGrpSpPr/>
        <p:nvPr/>
      </p:nvGrpSpPr>
      <p:grpSpPr>
        <a:xfrm>
          <a:off x="0" y="0"/>
          <a:ext cx="0" cy="0"/>
          <a:chOff x="0" y="0"/>
          <a:chExt cx="0" cy="0"/>
        </a:xfrm>
      </p:grpSpPr>
      <p:pic>
        <p:nvPicPr>
          <p:cNvPr id="20" name="Google Shape;20;p218"/>
          <p:cNvPicPr preferRelativeResize="0"/>
          <p:nvPr/>
        </p:nvPicPr>
        <p:blipFill rotWithShape="1">
          <a:blip r:embed="rId7">
            <a:alphaModFix/>
          </a:blip>
          <a:srcRect/>
          <a:stretch/>
        </p:blipFill>
        <p:spPr>
          <a:xfrm>
            <a:off x="196644" y="156750"/>
            <a:ext cx="2220469" cy="774036"/>
          </a:xfrm>
          <a:prstGeom prst="rect">
            <a:avLst/>
          </a:prstGeom>
          <a:noFill/>
          <a:ln>
            <a:noFill/>
          </a:ln>
        </p:spPr>
      </p:pic>
      <p:sp>
        <p:nvSpPr>
          <p:cNvPr id="21" name="Google Shape;21;p218"/>
          <p:cNvSpPr/>
          <p:nvPr/>
        </p:nvSpPr>
        <p:spPr>
          <a:xfrm>
            <a:off x="8782521" y="6450660"/>
            <a:ext cx="338881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a:solidFill>
                  <a:srgbClr val="7F7F7F"/>
                </a:solidFill>
                <a:latin typeface="Lato"/>
                <a:ea typeface="Lato"/>
                <a:cs typeface="Lato"/>
                <a:sym typeface="Lato"/>
              </a:rPr>
              <a:t>Copyright Intellipaat. All rights reserved. </a:t>
            </a:r>
            <a:endParaRPr sz="1467" b="0" i="0" u="none" strike="noStrike" cap="none">
              <a:solidFill>
                <a:srgbClr val="000000"/>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 xmlns:p15="http://schemas.microsoft.com/office/powerpoint/2012/main">
        <p15:guide id="1" orient="horz" pos="1620">
          <p15:clr>
            <a:srgbClr val="F26B43"/>
          </p15:clr>
        </p15:guide>
        <p15:guide id="2" pos="2880">
          <p15:clr>
            <a:srgbClr val="F26B43"/>
          </p15:clr>
        </p15:guide>
        <p15:guide id="3" pos="5465">
          <p15:clr>
            <a:srgbClr val="F26B43"/>
          </p15:clr>
        </p15:guide>
        <p15:guide id="4" pos="29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
        <p:cNvGrpSpPr/>
        <p:nvPr/>
      </p:nvGrpSpPr>
      <p:grpSpPr>
        <a:xfrm>
          <a:off x="0" y="0"/>
          <a:ext cx="0" cy="0"/>
          <a:chOff x="0" y="0"/>
          <a:chExt cx="0" cy="0"/>
        </a:xfrm>
      </p:grpSpPr>
      <p:pic>
        <p:nvPicPr>
          <p:cNvPr id="37" name="Google Shape;37;p221"/>
          <p:cNvPicPr preferRelativeResize="0"/>
          <p:nvPr/>
        </p:nvPicPr>
        <p:blipFill rotWithShape="1">
          <a:blip r:embed="rId35">
            <a:alphaModFix/>
          </a:blip>
          <a:srcRect/>
          <a:stretch/>
        </p:blipFill>
        <p:spPr>
          <a:xfrm>
            <a:off x="9979763" y="160554"/>
            <a:ext cx="1814099" cy="632379"/>
          </a:xfrm>
          <a:prstGeom prst="rect">
            <a:avLst/>
          </a:prstGeom>
          <a:noFill/>
          <a:ln>
            <a:noFill/>
          </a:ln>
        </p:spPr>
      </p:pic>
      <p:sp>
        <p:nvSpPr>
          <p:cNvPr id="38" name="Google Shape;38;p221"/>
          <p:cNvSpPr/>
          <p:nvPr/>
        </p:nvSpPr>
        <p:spPr>
          <a:xfrm>
            <a:off x="8782521" y="6450660"/>
            <a:ext cx="3359959"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a:solidFill>
                  <a:srgbClr val="7F7F7F"/>
                </a:solidFill>
                <a:latin typeface="Lato"/>
                <a:ea typeface="Lato"/>
                <a:cs typeface="Lato"/>
                <a:sym typeface="Lato"/>
              </a:rPr>
              <a:t>Copyright Intellipaat. All rights reserved. </a:t>
            </a:r>
            <a:endParaRPr sz="1467" b="0" i="0" u="none" strike="noStrike" cap="none">
              <a:solidFill>
                <a:srgbClr val="000000"/>
              </a:solidFill>
              <a:latin typeface="Calibri"/>
              <a:ea typeface="Calibri"/>
              <a:cs typeface="Calibri"/>
              <a:sym typeface="Calibri"/>
            </a:endParaRPr>
          </a:p>
        </p:txBody>
      </p:sp>
      <p:cxnSp>
        <p:nvCxnSpPr>
          <p:cNvPr id="39" name="Google Shape;39;p221"/>
          <p:cNvCxnSpPr/>
          <p:nvPr/>
        </p:nvCxnSpPr>
        <p:spPr>
          <a:xfrm rot="10800000">
            <a:off x="403103" y="983227"/>
            <a:ext cx="11390759" cy="0"/>
          </a:xfrm>
          <a:prstGeom prst="straightConnector1">
            <a:avLst/>
          </a:prstGeom>
          <a:noFill/>
          <a:ln w="28575" cap="flat" cmpd="sng">
            <a:solidFill>
              <a:schemeClr val="accent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59"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 xmlns:p15="http://schemas.microsoft.com/office/powerpoint/2012/main">
        <p15:guide id="1" orient="horz" pos="1620">
          <p15:clr>
            <a:srgbClr val="F26B43"/>
          </p15:clr>
        </p15:guide>
        <p15:guide id="2" pos="2880">
          <p15:clr>
            <a:srgbClr val="F26B43"/>
          </p15:clr>
        </p15:guide>
        <p15:guide id="3" pos="5465">
          <p15:clr>
            <a:srgbClr val="F26B43"/>
          </p15:clr>
        </p15:guide>
        <p15:guide id="4" pos="29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3"/>
        <p:cNvGrpSpPr/>
        <p:nvPr/>
      </p:nvGrpSpPr>
      <p:grpSpPr>
        <a:xfrm>
          <a:off x="0" y="0"/>
          <a:ext cx="0" cy="0"/>
          <a:chOff x="0" y="0"/>
          <a:chExt cx="0" cy="0"/>
        </a:xfrm>
      </p:grpSpPr>
      <p:pic>
        <p:nvPicPr>
          <p:cNvPr id="244" name="Google Shape;244;p261"/>
          <p:cNvPicPr preferRelativeResize="0"/>
          <p:nvPr/>
        </p:nvPicPr>
        <p:blipFill rotWithShape="1">
          <a:blip r:embed="rId36">
            <a:alphaModFix/>
          </a:blip>
          <a:srcRect/>
          <a:stretch/>
        </p:blipFill>
        <p:spPr>
          <a:xfrm>
            <a:off x="9979763" y="160554"/>
            <a:ext cx="1814099" cy="632379"/>
          </a:xfrm>
          <a:prstGeom prst="rect">
            <a:avLst/>
          </a:prstGeom>
          <a:noFill/>
          <a:ln>
            <a:noFill/>
          </a:ln>
        </p:spPr>
      </p:pic>
      <p:sp>
        <p:nvSpPr>
          <p:cNvPr id="245" name="Google Shape;245;p261"/>
          <p:cNvSpPr/>
          <p:nvPr/>
        </p:nvSpPr>
        <p:spPr>
          <a:xfrm>
            <a:off x="8782521" y="6450660"/>
            <a:ext cx="3359959"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7F7F7F"/>
                </a:solidFill>
                <a:latin typeface="Lato"/>
                <a:ea typeface="Lato"/>
                <a:cs typeface="Lato"/>
                <a:sym typeface="Lato"/>
              </a:rPr>
              <a:t>Copyright Intellipaat. All rights reserved. </a:t>
            </a:r>
            <a:endParaRPr sz="1467">
              <a:solidFill>
                <a:srgbClr val="000000"/>
              </a:solidFill>
              <a:latin typeface="Calibri"/>
              <a:ea typeface="Calibri"/>
              <a:cs typeface="Calibri"/>
              <a:sym typeface="Calibri"/>
            </a:endParaRPr>
          </a:p>
        </p:txBody>
      </p:sp>
      <p:cxnSp>
        <p:nvCxnSpPr>
          <p:cNvPr id="246" name="Google Shape;246;p261"/>
          <p:cNvCxnSpPr/>
          <p:nvPr/>
        </p:nvCxnSpPr>
        <p:spPr>
          <a:xfrm rot="10800000">
            <a:off x="403103" y="983227"/>
            <a:ext cx="11390759" cy="0"/>
          </a:xfrm>
          <a:prstGeom prst="straightConnector1">
            <a:avLst/>
          </a:prstGeom>
          <a:noFill/>
          <a:ln w="28575" cap="flat" cmpd="sng">
            <a:solidFill>
              <a:schemeClr val="accent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 id="2147483714" r:id="rId21"/>
    <p:sldLayoutId id="2147483715" r:id="rId22"/>
    <p:sldLayoutId id="2147483716" r:id="rId23"/>
    <p:sldLayoutId id="2147483717" r:id="rId24"/>
    <p:sldLayoutId id="2147483718" r:id="rId25"/>
    <p:sldLayoutId id="2147483719" r:id="rId26"/>
    <p:sldLayoutId id="2147483720" r:id="rId27"/>
    <p:sldLayoutId id="2147483721" r:id="rId28"/>
    <p:sldLayoutId id="2147483722" r:id="rId29"/>
    <p:sldLayoutId id="2147483723" r:id="rId30"/>
    <p:sldLayoutId id="2147483724" r:id="rId31"/>
    <p:sldLayoutId id="2147483725" r:id="rId32"/>
    <p:sldLayoutId id="2147483726" r:id="rId33"/>
    <p:sldLayoutId id="2147483727"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 xmlns:p15="http://schemas.microsoft.com/office/powerpoint/2012/main">
        <p15:guide id="1" orient="horz" pos="1620">
          <p15:clr>
            <a:srgbClr val="F26B43"/>
          </p15:clr>
        </p15:guide>
        <p15:guide id="2" pos="2880">
          <p15:clr>
            <a:srgbClr val="F26B43"/>
          </p15:clr>
        </p15:guide>
        <p15:guide id="3" pos="5465">
          <p15:clr>
            <a:srgbClr val="F26B43"/>
          </p15:clr>
        </p15:guide>
        <p15:guide id="4" pos="29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4.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9.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3.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5.xml"/><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7.xml"/><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9.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5.xml"/><Relationship Id="rId1" Type="http://schemas.openxmlformats.org/officeDocument/2006/relationships/slideLayout" Target="../slideLayouts/slideLayout9.xml"/><Relationship Id="rId4" Type="http://schemas.openxmlformats.org/officeDocument/2006/relationships/image" Target="../media/image36.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7.xml"/><Relationship Id="rId1" Type="http://schemas.openxmlformats.org/officeDocument/2006/relationships/slideLayout" Target="../slideLayouts/slideLayout9.xml"/><Relationship Id="rId4" Type="http://schemas.openxmlformats.org/officeDocument/2006/relationships/image" Target="../media/image38.png"/></Relationships>
</file>

<file path=ppt/slides/_rels/slide7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pic>
        <p:nvPicPr>
          <p:cNvPr id="455" name="Google Shape;455;p1"/>
          <p:cNvPicPr preferRelativeResize="0"/>
          <p:nvPr/>
        </p:nvPicPr>
        <p:blipFill rotWithShape="1">
          <a:blip r:embed="rId3">
            <a:alphaModFix/>
          </a:blip>
          <a:srcRect/>
          <a:stretch/>
        </p:blipFill>
        <p:spPr>
          <a:xfrm>
            <a:off x="1" y="3212"/>
            <a:ext cx="12192000" cy="6858000"/>
          </a:xfrm>
          <a:prstGeom prst="rect">
            <a:avLst/>
          </a:prstGeom>
          <a:noFill/>
          <a:ln>
            <a:noFill/>
          </a:ln>
        </p:spPr>
      </p:pic>
      <p:pic>
        <p:nvPicPr>
          <p:cNvPr id="456" name="Google Shape;456;p1"/>
          <p:cNvPicPr preferRelativeResize="0"/>
          <p:nvPr/>
        </p:nvPicPr>
        <p:blipFill rotWithShape="1">
          <a:blip r:embed="rId4">
            <a:alphaModFix/>
          </a:blip>
          <a:srcRect/>
          <a:stretch/>
        </p:blipFill>
        <p:spPr>
          <a:xfrm>
            <a:off x="464956" y="682529"/>
            <a:ext cx="3134817" cy="1092771"/>
          </a:xfrm>
          <a:prstGeom prst="rect">
            <a:avLst/>
          </a:prstGeom>
          <a:noFill/>
          <a:ln>
            <a:noFill/>
          </a:ln>
        </p:spPr>
      </p:pic>
      <p:sp>
        <p:nvSpPr>
          <p:cNvPr id="457" name="Google Shape;457;p1"/>
          <p:cNvSpPr/>
          <p:nvPr/>
        </p:nvSpPr>
        <p:spPr>
          <a:xfrm>
            <a:off x="9206669" y="0"/>
            <a:ext cx="2985331" cy="129124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458" name="Google Shape;458;p1"/>
          <p:cNvSpPr txBox="1">
            <a:spLocks noGrp="1"/>
          </p:cNvSpPr>
          <p:nvPr>
            <p:ph type="body" idx="1"/>
          </p:nvPr>
        </p:nvSpPr>
        <p:spPr>
          <a:xfrm>
            <a:off x="242184" y="2647217"/>
            <a:ext cx="5695556" cy="2100629"/>
          </a:xfrm>
          <a:prstGeom prst="rect">
            <a:avLst/>
          </a:prstGeom>
          <a:noFill/>
          <a:ln>
            <a:noFill/>
          </a:ln>
        </p:spPr>
        <p:txBody>
          <a:bodyPr spcFirstLastPara="1" wrap="square" lIns="0" tIns="45700" rIns="91425" bIns="45700" anchor="ctr" anchorCtr="0">
            <a:noAutofit/>
          </a:bodyPr>
          <a:lstStyle/>
          <a:p>
            <a:pPr marL="0" lvl="0" indent="0" algn="ctr" rtl="0">
              <a:lnSpc>
                <a:spcPct val="90000"/>
              </a:lnSpc>
              <a:spcBef>
                <a:spcPts val="0"/>
              </a:spcBef>
              <a:spcAft>
                <a:spcPts val="0"/>
              </a:spcAft>
              <a:buClr>
                <a:srgbClr val="7F7F7F"/>
              </a:buClr>
              <a:buSzPts val="5300"/>
              <a:buNone/>
            </a:pPr>
            <a:r>
              <a:rPr lang="af-ZA" dirty="0"/>
              <a:t>Linear Algebra For Machine Learning</a:t>
            </a:r>
            <a:endParaRPr dirty="0"/>
          </a:p>
        </p:txBody>
      </p:sp>
      <p:pic>
        <p:nvPicPr>
          <p:cNvPr id="460" name="Google Shape;460;p1"/>
          <p:cNvPicPr preferRelativeResize="0"/>
          <p:nvPr/>
        </p:nvPicPr>
        <p:blipFill rotWithShape="1">
          <a:blip r:embed="rId5">
            <a:alphaModFix/>
          </a:blip>
          <a:srcRect/>
          <a:stretch/>
        </p:blipFill>
        <p:spPr>
          <a:xfrm>
            <a:off x="6316433" y="1153204"/>
            <a:ext cx="4551592" cy="4551592"/>
          </a:xfrm>
          <a:prstGeom prst="rect">
            <a:avLst/>
          </a:prstGeom>
          <a:noFill/>
          <a:ln>
            <a:noFill/>
          </a:ln>
          <a:effectLst>
            <a:outerShdw blurRad="76200" sy="23000" kx="-1200000" algn="bl" rotWithShape="0">
              <a:srgbClr val="000000">
                <a:alpha val="2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2"/>
          <p:cNvSpPr txBox="1">
            <a:spLocks noGrp="1"/>
          </p:cNvSpPr>
          <p:nvPr>
            <p:ph type="body" idx="1"/>
          </p:nvPr>
        </p:nvSpPr>
        <p:spPr>
          <a:xfrm>
            <a:off x="3329431" y="429895"/>
            <a:ext cx="5551276" cy="769275"/>
          </a:xfrm>
          <a:prstGeom prst="rect">
            <a:avLst/>
          </a:prstGeom>
          <a:noFill/>
          <a:ln>
            <a:noFill/>
          </a:ln>
        </p:spPr>
        <p:txBody>
          <a:bodyPr spcFirstLastPara="1" wrap="square" lIns="0" tIns="45700" rIns="91425" bIns="45700" anchor="t" anchorCtr="0">
            <a:noAutofit/>
          </a:bodyPr>
          <a:lstStyle/>
          <a:p>
            <a:pPr marL="0" lvl="0" indent="0" algn="ctr" rtl="0">
              <a:lnSpc>
                <a:spcPct val="90000"/>
              </a:lnSpc>
              <a:spcBef>
                <a:spcPts val="0"/>
              </a:spcBef>
              <a:spcAft>
                <a:spcPts val="0"/>
              </a:spcAft>
              <a:buClr>
                <a:srgbClr val="7F7F7F"/>
              </a:buClr>
              <a:buSzPts val="5300"/>
              <a:buNone/>
            </a:pPr>
            <a:r>
              <a:rPr lang="en-US"/>
              <a:t>Agenda</a:t>
            </a:r>
            <a:endParaRPr/>
          </a:p>
        </p:txBody>
      </p:sp>
      <p:grpSp>
        <p:nvGrpSpPr>
          <p:cNvPr id="466" name="Google Shape;466;p2"/>
          <p:cNvGrpSpPr/>
          <p:nvPr/>
        </p:nvGrpSpPr>
        <p:grpSpPr>
          <a:xfrm>
            <a:off x="1079970" y="2927692"/>
            <a:ext cx="4016236" cy="612000"/>
            <a:chOff x="1705166" y="1581736"/>
            <a:chExt cx="4016236" cy="612000"/>
          </a:xfrm>
        </p:grpSpPr>
        <p:sp>
          <p:nvSpPr>
            <p:cNvPr id="467" name="Google Shape;467;p2"/>
            <p:cNvSpPr/>
            <p:nvPr/>
          </p:nvSpPr>
          <p:spPr>
            <a:xfrm>
              <a:off x="1705166" y="1581736"/>
              <a:ext cx="715620" cy="612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rgbClr val="FFFFFF"/>
                  </a:solidFill>
                  <a:latin typeface="Raleway"/>
                  <a:ea typeface="Raleway"/>
                  <a:cs typeface="Raleway"/>
                  <a:sym typeface="Raleway"/>
                </a:rPr>
                <a:t>02</a:t>
              </a:r>
              <a:endParaRPr dirty="0"/>
            </a:p>
          </p:txBody>
        </p:sp>
        <p:sp>
          <p:nvSpPr>
            <p:cNvPr id="468" name="Google Shape;468;p2"/>
            <p:cNvSpPr txBox="1"/>
            <p:nvPr/>
          </p:nvSpPr>
          <p:spPr>
            <a:xfrm>
              <a:off x="2445637" y="1681652"/>
              <a:ext cx="327576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rgbClr val="7F7F7F"/>
                  </a:solidFill>
                  <a:latin typeface="Raleway"/>
                  <a:ea typeface="Raleway"/>
                  <a:cs typeface="Raleway"/>
                  <a:sym typeface="Raleway"/>
                </a:rPr>
                <a:t>Matrix Operations</a:t>
              </a:r>
              <a:endParaRPr dirty="0"/>
            </a:p>
          </p:txBody>
        </p:sp>
      </p:grpSp>
      <p:grpSp>
        <p:nvGrpSpPr>
          <p:cNvPr id="469" name="Google Shape;469;p2"/>
          <p:cNvGrpSpPr/>
          <p:nvPr/>
        </p:nvGrpSpPr>
        <p:grpSpPr>
          <a:xfrm>
            <a:off x="1079970" y="3754166"/>
            <a:ext cx="3743134" cy="612000"/>
            <a:chOff x="1705166" y="2436571"/>
            <a:chExt cx="3743134" cy="612000"/>
          </a:xfrm>
        </p:grpSpPr>
        <p:sp>
          <p:nvSpPr>
            <p:cNvPr id="470" name="Google Shape;470;p2"/>
            <p:cNvSpPr/>
            <p:nvPr/>
          </p:nvSpPr>
          <p:spPr>
            <a:xfrm>
              <a:off x="1705166" y="2436571"/>
              <a:ext cx="715620" cy="612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rgbClr val="FFFFFF"/>
                  </a:solidFill>
                  <a:latin typeface="Raleway"/>
                  <a:ea typeface="Raleway"/>
                  <a:cs typeface="Raleway"/>
                  <a:sym typeface="Raleway"/>
                </a:rPr>
                <a:t>03</a:t>
              </a:r>
              <a:endParaRPr dirty="0"/>
            </a:p>
          </p:txBody>
        </p:sp>
        <p:sp>
          <p:nvSpPr>
            <p:cNvPr id="471" name="Google Shape;471;p2"/>
            <p:cNvSpPr txBox="1"/>
            <p:nvPr/>
          </p:nvSpPr>
          <p:spPr>
            <a:xfrm>
              <a:off x="2420786" y="2542516"/>
              <a:ext cx="302751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rgbClr val="7F7F7F"/>
                  </a:solidFill>
                  <a:latin typeface="Raleway"/>
                  <a:ea typeface="Raleway"/>
                  <a:cs typeface="Raleway"/>
                  <a:sym typeface="Raleway"/>
                </a:rPr>
                <a:t>Eigen Values </a:t>
              </a:r>
              <a:endParaRPr dirty="0"/>
            </a:p>
          </p:txBody>
        </p:sp>
      </p:grpSp>
      <p:grpSp>
        <p:nvGrpSpPr>
          <p:cNvPr id="472" name="Google Shape;472;p2"/>
          <p:cNvGrpSpPr/>
          <p:nvPr/>
        </p:nvGrpSpPr>
        <p:grpSpPr>
          <a:xfrm>
            <a:off x="1079970" y="2098477"/>
            <a:ext cx="4137369" cy="612000"/>
            <a:chOff x="1705166" y="1581736"/>
            <a:chExt cx="4137369" cy="612000"/>
          </a:xfrm>
        </p:grpSpPr>
        <p:sp>
          <p:nvSpPr>
            <p:cNvPr id="473" name="Google Shape;473;p2"/>
            <p:cNvSpPr/>
            <p:nvPr/>
          </p:nvSpPr>
          <p:spPr>
            <a:xfrm>
              <a:off x="1705166" y="1581736"/>
              <a:ext cx="715620" cy="612000"/>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rgbClr val="FFFFFF"/>
                  </a:solidFill>
                  <a:latin typeface="Raleway"/>
                  <a:ea typeface="Raleway"/>
                  <a:cs typeface="Raleway"/>
                  <a:sym typeface="Raleway"/>
                </a:rPr>
                <a:t>01</a:t>
              </a:r>
              <a:endParaRPr/>
            </a:p>
          </p:txBody>
        </p:sp>
        <p:sp>
          <p:nvSpPr>
            <p:cNvPr id="474" name="Google Shape;474;p2"/>
            <p:cNvSpPr txBox="1"/>
            <p:nvPr/>
          </p:nvSpPr>
          <p:spPr>
            <a:xfrm>
              <a:off x="2445637" y="1708807"/>
              <a:ext cx="3396898"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rgbClr val="7F7F7F"/>
                  </a:solidFill>
                  <a:latin typeface="Raleway"/>
                  <a:sym typeface="Raleway"/>
                </a:rPr>
                <a:t>What is a Matrix?</a:t>
              </a:r>
              <a:endParaRPr dirty="0"/>
            </a:p>
          </p:txBody>
        </p:sp>
      </p:grpSp>
      <p:grpSp>
        <p:nvGrpSpPr>
          <p:cNvPr id="2" name="Group 1"/>
          <p:cNvGrpSpPr/>
          <p:nvPr/>
        </p:nvGrpSpPr>
        <p:grpSpPr>
          <a:xfrm>
            <a:off x="1079970" y="4536901"/>
            <a:ext cx="3386858" cy="612000"/>
            <a:chOff x="1112626" y="4536901"/>
            <a:chExt cx="3386858" cy="612000"/>
          </a:xfrm>
        </p:grpSpPr>
        <p:sp>
          <p:nvSpPr>
            <p:cNvPr id="477" name="Google Shape;477;p2"/>
            <p:cNvSpPr/>
            <p:nvPr/>
          </p:nvSpPr>
          <p:spPr>
            <a:xfrm>
              <a:off x="1112626" y="4536901"/>
              <a:ext cx="715620" cy="612000"/>
            </a:xfrm>
            <a:prstGeom prst="rect">
              <a:avLst/>
            </a:prstGeom>
            <a:solidFill>
              <a:srgbClr val="87785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rgbClr val="FFFFFF"/>
                  </a:solidFill>
                  <a:latin typeface="Raleway"/>
                  <a:ea typeface="Raleway"/>
                  <a:cs typeface="Raleway"/>
                  <a:sym typeface="Raleway"/>
                </a:rPr>
                <a:t>04</a:t>
              </a:r>
              <a:endParaRPr sz="2400" b="1" i="0" u="none" strike="noStrike" cap="none" dirty="0">
                <a:solidFill>
                  <a:srgbClr val="FFFFFF"/>
                </a:solidFill>
                <a:latin typeface="Raleway"/>
                <a:ea typeface="Raleway"/>
                <a:cs typeface="Raleway"/>
                <a:sym typeface="Raleway"/>
              </a:endParaRPr>
            </a:p>
          </p:txBody>
        </p:sp>
        <p:sp>
          <p:nvSpPr>
            <p:cNvPr id="478" name="Google Shape;478;p2"/>
            <p:cNvSpPr txBox="1"/>
            <p:nvPr/>
          </p:nvSpPr>
          <p:spPr>
            <a:xfrm>
              <a:off x="1820441" y="4633566"/>
              <a:ext cx="26790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rgbClr val="7F7F7F"/>
                  </a:solidFill>
                  <a:latin typeface="Raleway"/>
                  <a:ea typeface="Raleway"/>
                  <a:cs typeface="Raleway"/>
                  <a:sym typeface="Raleway"/>
                </a:rPr>
                <a:t>Eigen Vectors </a:t>
              </a:r>
              <a:endParaRPr dirty="0"/>
            </a:p>
          </p:txBody>
        </p:sp>
      </p:grpSp>
      <p:grpSp>
        <p:nvGrpSpPr>
          <p:cNvPr id="15" name="Group 14"/>
          <p:cNvGrpSpPr/>
          <p:nvPr/>
        </p:nvGrpSpPr>
        <p:grpSpPr>
          <a:xfrm>
            <a:off x="8138156" y="2556301"/>
            <a:ext cx="2611315" cy="2593731"/>
            <a:chOff x="4423877" y="3182812"/>
            <a:chExt cx="2611315" cy="2593731"/>
          </a:xfrm>
        </p:grpSpPr>
        <p:sp>
          <p:nvSpPr>
            <p:cNvPr id="16" name="Left Bracket 15"/>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7" name="Right Bracket 16"/>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18" name="TextBox 17"/>
          <p:cNvSpPr txBox="1"/>
          <p:nvPr/>
        </p:nvSpPr>
        <p:spPr>
          <a:xfrm>
            <a:off x="8349171" y="2811282"/>
            <a:ext cx="633046" cy="307777"/>
          </a:xfrm>
          <a:prstGeom prst="rect">
            <a:avLst/>
          </a:prstGeom>
          <a:noFill/>
        </p:spPr>
        <p:txBody>
          <a:bodyPr wrap="square" rtlCol="0">
            <a:spAutoFit/>
          </a:bodyPr>
          <a:lstStyle/>
          <a:p>
            <a:endParaRPr lang="en-IN" dirty="0"/>
          </a:p>
        </p:txBody>
      </p:sp>
      <p:graphicFrame>
        <p:nvGraphicFramePr>
          <p:cNvPr id="19" name="Table 18"/>
          <p:cNvGraphicFramePr>
            <a:graphicFrameLocks noGrp="1"/>
          </p:cNvGraphicFramePr>
          <p:nvPr>
            <p:extLst>
              <p:ext uri="{D42A27DB-BD31-4B8C-83A1-F6EECF244321}">
                <p14:modId xmlns:p14="http://schemas.microsoft.com/office/powerpoint/2010/main" val="2493348872"/>
              </p:ext>
            </p:extLst>
          </p:nvPr>
        </p:nvGraphicFramePr>
        <p:xfrm>
          <a:off x="8475938" y="281128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20" name="Right Arrow 19"/>
          <p:cNvSpPr/>
          <p:nvPr/>
        </p:nvSpPr>
        <p:spPr>
          <a:xfrm>
            <a:off x="8349171" y="2178235"/>
            <a:ext cx="2733865" cy="272562"/>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Down Arrow 20"/>
          <p:cNvSpPr/>
          <p:nvPr/>
        </p:nvSpPr>
        <p:spPr>
          <a:xfrm>
            <a:off x="7663913" y="2450797"/>
            <a:ext cx="316523" cy="2593730"/>
          </a:xfrm>
          <a:prstGeom prst="down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p:cNvSpPr txBox="1"/>
          <p:nvPr/>
        </p:nvSpPr>
        <p:spPr>
          <a:xfrm rot="5400000">
            <a:off x="6119771" y="3538814"/>
            <a:ext cx="2688174" cy="400110"/>
          </a:xfrm>
          <a:prstGeom prst="rect">
            <a:avLst/>
          </a:prstGeom>
          <a:noFill/>
        </p:spPr>
        <p:txBody>
          <a:bodyPr wrap="square" rtlCol="0">
            <a:spAutoFit/>
          </a:bodyPr>
          <a:lstStyle/>
          <a:p>
            <a:pPr algn="ctr"/>
            <a:r>
              <a:rPr lang="af-ZA" sz="2000" b="1" dirty="0"/>
              <a:t>Number of Rows</a:t>
            </a:r>
            <a:endParaRPr lang="en-IN" sz="2000" b="1" dirty="0"/>
          </a:p>
        </p:txBody>
      </p:sp>
      <p:sp>
        <p:nvSpPr>
          <p:cNvPr id="23" name="TextBox 22"/>
          <p:cNvSpPr txBox="1"/>
          <p:nvPr/>
        </p:nvSpPr>
        <p:spPr>
          <a:xfrm>
            <a:off x="8248963" y="1758525"/>
            <a:ext cx="2688174" cy="400110"/>
          </a:xfrm>
          <a:prstGeom prst="rect">
            <a:avLst/>
          </a:prstGeom>
          <a:noFill/>
        </p:spPr>
        <p:txBody>
          <a:bodyPr wrap="square" rtlCol="0">
            <a:spAutoFit/>
          </a:bodyPr>
          <a:lstStyle/>
          <a:p>
            <a:pPr algn="ctr"/>
            <a:r>
              <a:rPr lang="af-ZA" sz="2000" b="1" dirty="0"/>
              <a:t>Number of </a:t>
            </a:r>
            <a:r>
              <a:rPr lang="af-ZA" sz="2000" b="1" dirty="0" smtClean="0"/>
              <a:t>Columns</a:t>
            </a:r>
            <a:endParaRPr lang="en-IN" sz="20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498"/>
        <p:cNvGrpSpPr/>
        <p:nvPr/>
      </p:nvGrpSpPr>
      <p:grpSpPr>
        <a:xfrm>
          <a:off x="0" y="0"/>
          <a:ext cx="0" cy="0"/>
          <a:chOff x="0" y="0"/>
          <a:chExt cx="0" cy="0"/>
        </a:xfrm>
      </p:grpSpPr>
      <p:sp>
        <p:nvSpPr>
          <p:cNvPr id="499" name="Google Shape;499;p3"/>
          <p:cNvSpPr txBox="1">
            <a:spLocks noGrp="1"/>
          </p:cNvSpPr>
          <p:nvPr>
            <p:ph type="body" idx="1"/>
          </p:nvPr>
        </p:nvSpPr>
        <p:spPr>
          <a:xfrm>
            <a:off x="1863627" y="2559666"/>
            <a:ext cx="8312980" cy="769275"/>
          </a:xfrm>
          <a:prstGeom prst="rect">
            <a:avLst/>
          </a:prstGeom>
          <a:noFill/>
          <a:ln>
            <a:noFill/>
          </a:ln>
        </p:spPr>
        <p:txBody>
          <a:bodyPr spcFirstLastPara="1" wrap="square" lIns="0" tIns="45700" rIns="91425" bIns="45700" anchor="ctr" anchorCtr="0">
            <a:noAutofit/>
          </a:bodyPr>
          <a:lstStyle/>
          <a:p>
            <a:pPr marL="0" lvl="0" indent="0" algn="ctr" rtl="0">
              <a:lnSpc>
                <a:spcPct val="90000"/>
              </a:lnSpc>
              <a:spcBef>
                <a:spcPts val="0"/>
              </a:spcBef>
              <a:spcAft>
                <a:spcPts val="0"/>
              </a:spcAft>
              <a:buClr>
                <a:srgbClr val="7F7F7F"/>
              </a:buClr>
              <a:buSzPts val="5300"/>
              <a:buNone/>
            </a:pPr>
            <a:r>
              <a:rPr lang="en-US" dirty="0"/>
              <a:t>What is a Matrix?</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What is a Matrix?</a:t>
            </a:r>
            <a:endParaRPr dirty="0"/>
          </a:p>
        </p:txBody>
      </p:sp>
      <p:sp>
        <p:nvSpPr>
          <p:cNvPr id="8" name="Google Shape;507;p4"/>
          <p:cNvSpPr/>
          <p:nvPr/>
        </p:nvSpPr>
        <p:spPr>
          <a:xfrm>
            <a:off x="1876936" y="1478635"/>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A Matrix is a combination of arrays, numbers or expressions that are represented in a rectangular format in the form of rows and columns. </a:t>
            </a:r>
            <a:endParaRPr sz="2000" b="1" i="0" u="none" strike="noStrike" cap="none" dirty="0">
              <a:solidFill>
                <a:srgbClr val="000000"/>
              </a:solidFill>
              <a:latin typeface="Calibri"/>
              <a:ea typeface="Calibri"/>
              <a:cs typeface="Calibri"/>
              <a:sym typeface="Calibri"/>
            </a:endParaRPr>
          </a:p>
        </p:txBody>
      </p:sp>
      <p:grpSp>
        <p:nvGrpSpPr>
          <p:cNvPr id="9" name="Group 8"/>
          <p:cNvGrpSpPr/>
          <p:nvPr/>
        </p:nvGrpSpPr>
        <p:grpSpPr>
          <a:xfrm>
            <a:off x="4816042" y="3530104"/>
            <a:ext cx="2611315" cy="2593731"/>
            <a:chOff x="4423877" y="3182812"/>
            <a:chExt cx="2611315" cy="2593731"/>
          </a:xfrm>
        </p:grpSpPr>
        <p:sp>
          <p:nvSpPr>
            <p:cNvPr id="2" name="Left Bracket 1"/>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 name="Right Bracket 2"/>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5" name="TextBox 4"/>
          <p:cNvSpPr txBox="1"/>
          <p:nvPr/>
        </p:nvSpPr>
        <p:spPr>
          <a:xfrm>
            <a:off x="5027057" y="3785085"/>
            <a:ext cx="633046" cy="307777"/>
          </a:xfrm>
          <a:prstGeom prst="rect">
            <a:avLst/>
          </a:prstGeom>
          <a:noFill/>
        </p:spPr>
        <p:txBody>
          <a:bodyPr wrap="square" rtlCol="0">
            <a:spAutoFit/>
          </a:bodyPr>
          <a:lstStyle/>
          <a:p>
            <a:endParaRPr lang="en-IN" dirty="0"/>
          </a:p>
        </p:txBody>
      </p:sp>
      <p:graphicFrame>
        <p:nvGraphicFramePr>
          <p:cNvPr id="14" name="Table 13"/>
          <p:cNvGraphicFramePr>
            <a:graphicFrameLocks noGrp="1"/>
          </p:cNvGraphicFramePr>
          <p:nvPr>
            <p:extLst>
              <p:ext uri="{D42A27DB-BD31-4B8C-83A1-F6EECF244321}">
                <p14:modId xmlns:p14="http://schemas.microsoft.com/office/powerpoint/2010/main" val="954843314"/>
              </p:ext>
            </p:extLst>
          </p:nvPr>
        </p:nvGraphicFramePr>
        <p:xfrm>
          <a:off x="5153824" y="3785085"/>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10" name="Right Arrow 9"/>
          <p:cNvSpPr/>
          <p:nvPr/>
        </p:nvSpPr>
        <p:spPr>
          <a:xfrm>
            <a:off x="4964427" y="3152038"/>
            <a:ext cx="2733865" cy="272562"/>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Down Arrow 10"/>
          <p:cNvSpPr/>
          <p:nvPr/>
        </p:nvSpPr>
        <p:spPr>
          <a:xfrm>
            <a:off x="4341799" y="3424600"/>
            <a:ext cx="316523" cy="2593730"/>
          </a:xfrm>
          <a:prstGeom prst="down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p:cNvSpPr txBox="1"/>
          <p:nvPr/>
        </p:nvSpPr>
        <p:spPr>
          <a:xfrm rot="5400000">
            <a:off x="2797657" y="4512617"/>
            <a:ext cx="2688174" cy="400110"/>
          </a:xfrm>
          <a:prstGeom prst="rect">
            <a:avLst/>
          </a:prstGeom>
          <a:noFill/>
        </p:spPr>
        <p:txBody>
          <a:bodyPr wrap="square" rtlCol="0">
            <a:spAutoFit/>
          </a:bodyPr>
          <a:lstStyle/>
          <a:p>
            <a:pPr algn="ctr"/>
            <a:r>
              <a:rPr lang="af-ZA" sz="2000" b="1" dirty="0"/>
              <a:t>Number of Rows</a:t>
            </a:r>
            <a:endParaRPr lang="en-IN" sz="2000" b="1" dirty="0"/>
          </a:p>
        </p:txBody>
      </p:sp>
      <p:sp>
        <p:nvSpPr>
          <p:cNvPr id="19" name="TextBox 18"/>
          <p:cNvSpPr txBox="1"/>
          <p:nvPr/>
        </p:nvSpPr>
        <p:spPr>
          <a:xfrm>
            <a:off x="4761659" y="2751928"/>
            <a:ext cx="2945966" cy="400110"/>
          </a:xfrm>
          <a:prstGeom prst="rect">
            <a:avLst/>
          </a:prstGeom>
          <a:noFill/>
        </p:spPr>
        <p:txBody>
          <a:bodyPr wrap="square" rtlCol="0">
            <a:spAutoFit/>
          </a:bodyPr>
          <a:lstStyle/>
          <a:p>
            <a:pPr algn="ctr"/>
            <a:r>
              <a:rPr lang="af-ZA" sz="2000" b="1" dirty="0"/>
              <a:t>Number of Columns</a:t>
            </a:r>
            <a:endParaRPr lang="en-IN" sz="20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What is a Matrix?</a:t>
            </a:r>
            <a:endParaRPr dirty="0"/>
          </a:p>
        </p:txBody>
      </p:sp>
      <p:sp>
        <p:nvSpPr>
          <p:cNvPr id="8" name="Google Shape;507;p4"/>
          <p:cNvSpPr/>
          <p:nvPr/>
        </p:nvSpPr>
        <p:spPr>
          <a:xfrm>
            <a:off x="6191693" y="2127734"/>
            <a:ext cx="4781107" cy="328832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The rows and columns of a matrix are associated with the dimensions of a matrix and immensely help while working with linear expressions. The matrix with m rows and n columns will have the m x n dimensions. </a:t>
            </a:r>
            <a:endParaRPr sz="2000" b="1" i="0" u="none" strike="noStrike" cap="none" dirty="0">
              <a:solidFill>
                <a:srgbClr val="000000"/>
              </a:solidFill>
              <a:latin typeface="Calibri"/>
              <a:ea typeface="Calibri"/>
              <a:cs typeface="Calibri"/>
              <a:sym typeface="Calibri"/>
            </a:endParaRPr>
          </a:p>
        </p:txBody>
      </p:sp>
      <p:grpSp>
        <p:nvGrpSpPr>
          <p:cNvPr id="9" name="Group 8"/>
          <p:cNvGrpSpPr/>
          <p:nvPr/>
        </p:nvGrpSpPr>
        <p:grpSpPr>
          <a:xfrm>
            <a:off x="1624434" y="2642107"/>
            <a:ext cx="2611315" cy="2593731"/>
            <a:chOff x="4423877" y="3182812"/>
            <a:chExt cx="2611315" cy="2593731"/>
          </a:xfrm>
        </p:grpSpPr>
        <p:sp>
          <p:nvSpPr>
            <p:cNvPr id="2" name="Left Bracket 1"/>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 name="Right Bracket 2"/>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5" name="TextBox 4"/>
          <p:cNvSpPr txBox="1"/>
          <p:nvPr/>
        </p:nvSpPr>
        <p:spPr>
          <a:xfrm>
            <a:off x="1835449" y="2897088"/>
            <a:ext cx="633046" cy="307777"/>
          </a:xfrm>
          <a:prstGeom prst="rect">
            <a:avLst/>
          </a:prstGeom>
          <a:noFill/>
        </p:spPr>
        <p:txBody>
          <a:bodyPr wrap="square" rtlCol="0">
            <a:spAutoFit/>
          </a:bodyPr>
          <a:lstStyle/>
          <a:p>
            <a:endParaRPr lang="en-IN" dirty="0"/>
          </a:p>
        </p:txBody>
      </p:sp>
      <p:graphicFrame>
        <p:nvGraphicFramePr>
          <p:cNvPr id="14" name="Table 13"/>
          <p:cNvGraphicFramePr>
            <a:graphicFrameLocks noGrp="1"/>
          </p:cNvGraphicFramePr>
          <p:nvPr>
            <p:extLst>
              <p:ext uri="{D42A27DB-BD31-4B8C-83A1-F6EECF244321}">
                <p14:modId xmlns:p14="http://schemas.microsoft.com/office/powerpoint/2010/main" val="2903687867"/>
              </p:ext>
            </p:extLst>
          </p:nvPr>
        </p:nvGraphicFramePr>
        <p:xfrm>
          <a:off x="1962216" y="2897088"/>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10" name="Right Arrow 9"/>
          <p:cNvSpPr/>
          <p:nvPr/>
        </p:nvSpPr>
        <p:spPr>
          <a:xfrm>
            <a:off x="1624435" y="2264041"/>
            <a:ext cx="2771720" cy="272562"/>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Down Arrow 10"/>
          <p:cNvSpPr/>
          <p:nvPr/>
        </p:nvSpPr>
        <p:spPr>
          <a:xfrm>
            <a:off x="1150191" y="2536603"/>
            <a:ext cx="316523" cy="2593730"/>
          </a:xfrm>
          <a:prstGeom prst="down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p:cNvSpPr txBox="1"/>
          <p:nvPr/>
        </p:nvSpPr>
        <p:spPr>
          <a:xfrm rot="5400000">
            <a:off x="-393951" y="3624620"/>
            <a:ext cx="2688174" cy="400110"/>
          </a:xfrm>
          <a:prstGeom prst="rect">
            <a:avLst/>
          </a:prstGeom>
          <a:noFill/>
        </p:spPr>
        <p:txBody>
          <a:bodyPr wrap="square" rtlCol="0">
            <a:spAutoFit/>
          </a:bodyPr>
          <a:lstStyle/>
          <a:p>
            <a:pPr algn="ctr"/>
            <a:r>
              <a:rPr lang="af-ZA" sz="2000" b="1" dirty="0"/>
              <a:t>Number of Rows(m)</a:t>
            </a:r>
            <a:endParaRPr lang="en-IN" sz="2000" b="1" dirty="0"/>
          </a:p>
        </p:txBody>
      </p:sp>
      <p:sp>
        <p:nvSpPr>
          <p:cNvPr id="19" name="TextBox 18"/>
          <p:cNvSpPr txBox="1"/>
          <p:nvPr/>
        </p:nvSpPr>
        <p:spPr>
          <a:xfrm>
            <a:off x="1570051" y="1863931"/>
            <a:ext cx="2945966" cy="400110"/>
          </a:xfrm>
          <a:prstGeom prst="rect">
            <a:avLst/>
          </a:prstGeom>
          <a:noFill/>
        </p:spPr>
        <p:txBody>
          <a:bodyPr wrap="square" rtlCol="0">
            <a:spAutoFit/>
          </a:bodyPr>
          <a:lstStyle/>
          <a:p>
            <a:pPr algn="ctr"/>
            <a:r>
              <a:rPr lang="af-ZA" sz="2000" b="1" dirty="0"/>
              <a:t>Number of Columns(n)</a:t>
            </a:r>
            <a:endParaRPr lang="en-IN" sz="2000" b="1" dirty="0"/>
          </a:p>
        </p:txBody>
      </p:sp>
    </p:spTree>
    <p:extLst>
      <p:ext uri="{BB962C8B-B14F-4D97-AF65-F5344CB8AC3E}">
        <p14:creationId xmlns:p14="http://schemas.microsoft.com/office/powerpoint/2010/main" val="4197820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What is a Matrix?</a:t>
            </a:r>
            <a:endParaRPr dirty="0"/>
          </a:p>
        </p:txBody>
      </p:sp>
      <p:sp>
        <p:nvSpPr>
          <p:cNvPr id="8" name="Google Shape;507;p4"/>
          <p:cNvSpPr/>
          <p:nvPr/>
        </p:nvSpPr>
        <p:spPr>
          <a:xfrm>
            <a:off x="6191693" y="2127734"/>
            <a:ext cx="4781107" cy="328832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Let us go through some of the Matrix operations like addition, subtraction, multiplication, transpose, inverse of a matrix, etc.</a:t>
            </a:r>
            <a:endParaRPr sz="2000" b="1" i="0" u="none" strike="noStrike" cap="none" dirty="0">
              <a:solidFill>
                <a:srgbClr val="000000"/>
              </a:solidFill>
              <a:latin typeface="Calibri"/>
              <a:ea typeface="Calibri"/>
              <a:cs typeface="Calibri"/>
              <a:sym typeface="Calibri"/>
            </a:endParaRPr>
          </a:p>
        </p:txBody>
      </p:sp>
      <p:grpSp>
        <p:nvGrpSpPr>
          <p:cNvPr id="9" name="Group 8"/>
          <p:cNvGrpSpPr/>
          <p:nvPr/>
        </p:nvGrpSpPr>
        <p:grpSpPr>
          <a:xfrm>
            <a:off x="1624434" y="2642107"/>
            <a:ext cx="2611315" cy="2593731"/>
            <a:chOff x="4423877" y="3182812"/>
            <a:chExt cx="2611315" cy="2593731"/>
          </a:xfrm>
        </p:grpSpPr>
        <p:sp>
          <p:nvSpPr>
            <p:cNvPr id="2" name="Left Bracket 1"/>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 name="Right Bracket 2"/>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5" name="TextBox 4"/>
          <p:cNvSpPr txBox="1"/>
          <p:nvPr/>
        </p:nvSpPr>
        <p:spPr>
          <a:xfrm>
            <a:off x="1835449" y="2897088"/>
            <a:ext cx="633046" cy="307777"/>
          </a:xfrm>
          <a:prstGeom prst="rect">
            <a:avLst/>
          </a:prstGeom>
          <a:noFill/>
        </p:spPr>
        <p:txBody>
          <a:bodyPr wrap="square" rtlCol="0">
            <a:spAutoFit/>
          </a:bodyPr>
          <a:lstStyle/>
          <a:p>
            <a:endParaRPr lang="en-IN" dirty="0"/>
          </a:p>
        </p:txBody>
      </p:sp>
      <p:graphicFrame>
        <p:nvGraphicFramePr>
          <p:cNvPr id="14" name="Table 13"/>
          <p:cNvGraphicFramePr>
            <a:graphicFrameLocks noGrp="1"/>
          </p:cNvGraphicFramePr>
          <p:nvPr>
            <p:extLst>
              <p:ext uri="{D42A27DB-BD31-4B8C-83A1-F6EECF244321}">
                <p14:modId xmlns:p14="http://schemas.microsoft.com/office/powerpoint/2010/main" val="1737876152"/>
              </p:ext>
            </p:extLst>
          </p:nvPr>
        </p:nvGraphicFramePr>
        <p:xfrm>
          <a:off x="1962216" y="2897088"/>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10" name="Right Arrow 9"/>
          <p:cNvSpPr/>
          <p:nvPr/>
        </p:nvSpPr>
        <p:spPr>
          <a:xfrm>
            <a:off x="1624435" y="2264041"/>
            <a:ext cx="2771720" cy="272562"/>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Down Arrow 10"/>
          <p:cNvSpPr/>
          <p:nvPr/>
        </p:nvSpPr>
        <p:spPr>
          <a:xfrm>
            <a:off x="1150191" y="2536603"/>
            <a:ext cx="316523" cy="2593730"/>
          </a:xfrm>
          <a:prstGeom prst="downArrow">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p:cNvSpPr txBox="1"/>
          <p:nvPr/>
        </p:nvSpPr>
        <p:spPr>
          <a:xfrm rot="5400000">
            <a:off x="-393951" y="3624620"/>
            <a:ext cx="2688174" cy="400110"/>
          </a:xfrm>
          <a:prstGeom prst="rect">
            <a:avLst/>
          </a:prstGeom>
          <a:noFill/>
        </p:spPr>
        <p:txBody>
          <a:bodyPr wrap="square" rtlCol="0">
            <a:spAutoFit/>
          </a:bodyPr>
          <a:lstStyle/>
          <a:p>
            <a:pPr algn="ctr"/>
            <a:r>
              <a:rPr lang="af-ZA" sz="2000" b="1" dirty="0"/>
              <a:t>Number of Rows(m)</a:t>
            </a:r>
            <a:endParaRPr lang="en-IN" sz="2000" b="1" dirty="0"/>
          </a:p>
        </p:txBody>
      </p:sp>
      <p:sp>
        <p:nvSpPr>
          <p:cNvPr id="19" name="TextBox 18"/>
          <p:cNvSpPr txBox="1"/>
          <p:nvPr/>
        </p:nvSpPr>
        <p:spPr>
          <a:xfrm>
            <a:off x="1570051" y="1863931"/>
            <a:ext cx="2945966" cy="400110"/>
          </a:xfrm>
          <a:prstGeom prst="rect">
            <a:avLst/>
          </a:prstGeom>
          <a:noFill/>
        </p:spPr>
        <p:txBody>
          <a:bodyPr wrap="square" rtlCol="0">
            <a:spAutoFit/>
          </a:bodyPr>
          <a:lstStyle/>
          <a:p>
            <a:pPr algn="ctr"/>
            <a:r>
              <a:rPr lang="af-ZA" sz="2000" b="1" dirty="0"/>
              <a:t>Number of Columns(n)</a:t>
            </a:r>
            <a:endParaRPr lang="en-IN" sz="2000" b="1" dirty="0"/>
          </a:p>
        </p:txBody>
      </p:sp>
    </p:spTree>
    <p:extLst>
      <p:ext uri="{BB962C8B-B14F-4D97-AF65-F5344CB8AC3E}">
        <p14:creationId xmlns:p14="http://schemas.microsoft.com/office/powerpoint/2010/main" val="2265369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6" name="Google Shape;507;p4"/>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0120" y="2344855"/>
            <a:ext cx="1528763" cy="1711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748346" y="1547454"/>
            <a:ext cx="1828800" cy="369332"/>
          </a:xfrm>
          <a:prstGeom prst="rect">
            <a:avLst/>
          </a:prstGeom>
          <a:noFill/>
        </p:spPr>
        <p:txBody>
          <a:bodyPr wrap="square" rtlCol="0">
            <a:spAutoFit/>
          </a:bodyPr>
          <a:lstStyle/>
          <a:p>
            <a:pPr algn="ctr"/>
            <a:r>
              <a:rPr lang="af-ZA" sz="1800" b="1" dirty="0"/>
              <a:t>Output</a:t>
            </a:r>
            <a:endParaRPr lang="en-IN" sz="1800" b="1" dirty="0"/>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020" y="1877467"/>
            <a:ext cx="5918121" cy="264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Google Shape;507;p4"/>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Python, we use the list of lists in a numpy array to declare a list. As seen in the example we have declared A and B matrices with dimensions 2x2. </a:t>
            </a:r>
            <a:endParaRPr sz="2000" i="0" u="none" strike="noStrike" cap="none"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04029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498"/>
        <p:cNvGrpSpPr/>
        <p:nvPr/>
      </p:nvGrpSpPr>
      <p:grpSpPr>
        <a:xfrm>
          <a:off x="0" y="0"/>
          <a:ext cx="0" cy="0"/>
          <a:chOff x="0" y="0"/>
          <a:chExt cx="0" cy="0"/>
        </a:xfrm>
      </p:grpSpPr>
      <p:sp>
        <p:nvSpPr>
          <p:cNvPr id="499" name="Google Shape;499;p3"/>
          <p:cNvSpPr txBox="1">
            <a:spLocks noGrp="1"/>
          </p:cNvSpPr>
          <p:nvPr>
            <p:ph type="body" idx="1"/>
          </p:nvPr>
        </p:nvSpPr>
        <p:spPr>
          <a:xfrm>
            <a:off x="1960342" y="3052035"/>
            <a:ext cx="8312980" cy="769275"/>
          </a:xfrm>
          <a:prstGeom prst="rect">
            <a:avLst/>
          </a:prstGeom>
          <a:noFill/>
          <a:ln>
            <a:noFill/>
          </a:ln>
        </p:spPr>
        <p:txBody>
          <a:bodyPr spcFirstLastPara="1" wrap="square" lIns="0" tIns="45700" rIns="91425" bIns="45700" anchor="ctr" anchorCtr="0">
            <a:noAutofit/>
          </a:bodyPr>
          <a:lstStyle/>
          <a:p>
            <a:pPr marL="0" lvl="0" indent="0" algn="ctr" rtl="0">
              <a:lnSpc>
                <a:spcPct val="90000"/>
              </a:lnSpc>
              <a:spcBef>
                <a:spcPts val="0"/>
              </a:spcBef>
              <a:spcAft>
                <a:spcPts val="0"/>
              </a:spcAft>
              <a:buClr>
                <a:srgbClr val="7F7F7F"/>
              </a:buClr>
              <a:buSzPts val="5300"/>
              <a:buNone/>
            </a:pPr>
            <a:r>
              <a:rPr lang="en-US" dirty="0"/>
              <a:t>Matrix Operations</a:t>
            </a:r>
            <a:endParaRPr dirty="0"/>
          </a:p>
        </p:txBody>
      </p:sp>
    </p:spTree>
    <p:extLst>
      <p:ext uri="{BB962C8B-B14F-4D97-AF65-F5344CB8AC3E}">
        <p14:creationId xmlns:p14="http://schemas.microsoft.com/office/powerpoint/2010/main" val="2003827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Addition</a:t>
            </a:r>
            <a:endParaRPr dirty="0"/>
          </a:p>
        </p:txBody>
      </p:sp>
      <p:grpSp>
        <p:nvGrpSpPr>
          <p:cNvPr id="3" name="Group 2"/>
          <p:cNvGrpSpPr/>
          <p:nvPr/>
        </p:nvGrpSpPr>
        <p:grpSpPr>
          <a:xfrm>
            <a:off x="459166" y="1433141"/>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670181" y="1688122"/>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1156253669"/>
              </p:ext>
            </p:extLst>
          </p:nvPr>
        </p:nvGraphicFramePr>
        <p:xfrm>
          <a:off x="796948"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grpSp>
        <p:nvGrpSpPr>
          <p:cNvPr id="9" name="Group 8"/>
          <p:cNvGrpSpPr/>
          <p:nvPr/>
        </p:nvGrpSpPr>
        <p:grpSpPr>
          <a:xfrm>
            <a:off x="4281311" y="1433141"/>
            <a:ext cx="2611315" cy="2593731"/>
            <a:chOff x="4423877" y="3182812"/>
            <a:chExt cx="2611315" cy="2593731"/>
          </a:xfrm>
        </p:grpSpPr>
        <p:sp>
          <p:nvSpPr>
            <p:cNvPr id="10" name="Left Bracket 9"/>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 name="Right Bracket 10"/>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12" name="TextBox 11"/>
          <p:cNvSpPr txBox="1"/>
          <p:nvPr/>
        </p:nvSpPr>
        <p:spPr>
          <a:xfrm>
            <a:off x="4492326" y="1688122"/>
            <a:ext cx="633046" cy="307777"/>
          </a:xfrm>
          <a:prstGeom prst="rect">
            <a:avLst/>
          </a:prstGeom>
          <a:noFill/>
        </p:spPr>
        <p:txBody>
          <a:bodyPr wrap="square" rtlCol="0">
            <a:spAutoFit/>
          </a:bodyPr>
          <a:lstStyle/>
          <a:p>
            <a:endParaRPr lang="en-IN" dirty="0"/>
          </a:p>
        </p:txBody>
      </p:sp>
      <p:graphicFrame>
        <p:nvGraphicFramePr>
          <p:cNvPr id="13" name="Table 12"/>
          <p:cNvGraphicFramePr>
            <a:graphicFrameLocks noGrp="1"/>
          </p:cNvGraphicFramePr>
          <p:nvPr>
            <p:extLst>
              <p:ext uri="{D42A27DB-BD31-4B8C-83A1-F6EECF244321}">
                <p14:modId xmlns:p14="http://schemas.microsoft.com/office/powerpoint/2010/main" val="2538489860"/>
              </p:ext>
            </p:extLst>
          </p:nvPr>
        </p:nvGraphicFramePr>
        <p:xfrm>
          <a:off x="4619093"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5</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4</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af-ZA" sz="3600" b="1" dirty="0">
                          <a:solidFill>
                            <a:schemeClr val="tx1"/>
                          </a:solidFill>
                        </a:rPr>
                        <a:t>2</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3</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4</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grpSp>
        <p:nvGrpSpPr>
          <p:cNvPr id="14" name="Group 13"/>
          <p:cNvGrpSpPr/>
          <p:nvPr/>
        </p:nvGrpSpPr>
        <p:grpSpPr>
          <a:xfrm>
            <a:off x="8958819" y="1433141"/>
            <a:ext cx="2611315" cy="2593731"/>
            <a:chOff x="4423877" y="3182812"/>
            <a:chExt cx="2611315" cy="2593731"/>
          </a:xfrm>
        </p:grpSpPr>
        <p:sp>
          <p:nvSpPr>
            <p:cNvPr id="15" name="Left Bracket 14"/>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Right Bracket 15"/>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17" name="TextBox 16"/>
          <p:cNvSpPr txBox="1"/>
          <p:nvPr/>
        </p:nvSpPr>
        <p:spPr>
          <a:xfrm>
            <a:off x="9169834" y="1688122"/>
            <a:ext cx="633046" cy="307777"/>
          </a:xfrm>
          <a:prstGeom prst="rect">
            <a:avLst/>
          </a:prstGeom>
          <a:noFill/>
        </p:spPr>
        <p:txBody>
          <a:bodyPr wrap="square" rtlCol="0">
            <a:spAutoFit/>
          </a:bodyPr>
          <a:lstStyle/>
          <a:p>
            <a:endParaRPr lang="en-IN" dirty="0"/>
          </a:p>
        </p:txBody>
      </p:sp>
      <p:graphicFrame>
        <p:nvGraphicFramePr>
          <p:cNvPr id="18" name="Table 17"/>
          <p:cNvGraphicFramePr>
            <a:graphicFrameLocks noGrp="1"/>
          </p:cNvGraphicFramePr>
          <p:nvPr>
            <p:extLst>
              <p:ext uri="{D42A27DB-BD31-4B8C-83A1-F6EECF244321}">
                <p14:modId xmlns:p14="http://schemas.microsoft.com/office/powerpoint/2010/main" val="3236442140"/>
              </p:ext>
            </p:extLst>
          </p:nvPr>
        </p:nvGraphicFramePr>
        <p:xfrm>
          <a:off x="9296601"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af-ZA" sz="3600" b="1" dirty="0">
                          <a:solidFill>
                            <a:schemeClr val="tx1"/>
                          </a:solidFill>
                        </a:rPr>
                        <a:t>9</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6</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2</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5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2" name="Plus 1"/>
          <p:cNvSpPr/>
          <p:nvPr/>
        </p:nvSpPr>
        <p:spPr>
          <a:xfrm>
            <a:off x="3279531" y="2312410"/>
            <a:ext cx="782516" cy="826477"/>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Equal 18"/>
          <p:cNvSpPr/>
          <p:nvPr/>
        </p:nvSpPr>
        <p:spPr>
          <a:xfrm>
            <a:off x="7385538" y="2312410"/>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0" name="Google Shape;507;p4"/>
          <p:cNvSpPr/>
          <p:nvPr/>
        </p:nvSpPr>
        <p:spPr>
          <a:xfrm>
            <a:off x="1929689" y="4591113"/>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the addition operation, the corresponding values of the elements are added to the resultant matrix like shown in the example.</a:t>
            </a:r>
            <a:endParaRPr sz="2000" i="0" u="none" strike="noStrike" cap="none" dirty="0">
              <a:solidFill>
                <a:srgbClr val="000000"/>
              </a:solidFill>
              <a:latin typeface="Calibri"/>
              <a:ea typeface="Calibri"/>
              <a:cs typeface="Calibri"/>
              <a:sym typeface="Calibri"/>
            </a:endParaRPr>
          </a:p>
        </p:txBody>
      </p:sp>
      <p:sp>
        <p:nvSpPr>
          <p:cNvPr id="21" name="Flowchart: Alternate Process 20"/>
          <p:cNvSpPr/>
          <p:nvPr/>
        </p:nvSpPr>
        <p:spPr>
          <a:xfrm>
            <a:off x="864464" y="1767254"/>
            <a:ext cx="548281" cy="545156"/>
          </a:xfrm>
          <a:prstGeom prst="flowChartAlternateProcess">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lowchart: Alternate Process 21"/>
          <p:cNvSpPr/>
          <p:nvPr/>
        </p:nvSpPr>
        <p:spPr>
          <a:xfrm>
            <a:off x="4689117" y="1767254"/>
            <a:ext cx="548281" cy="545156"/>
          </a:xfrm>
          <a:prstGeom prst="flowChartAlternateProcess">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Flowchart: Alternate Process 22"/>
          <p:cNvSpPr/>
          <p:nvPr/>
        </p:nvSpPr>
        <p:spPr>
          <a:xfrm>
            <a:off x="9349039" y="1767254"/>
            <a:ext cx="548281" cy="545156"/>
          </a:xfrm>
          <a:prstGeom prst="flowChartAlternateProcess">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Flowchart: Alternate Process 23"/>
          <p:cNvSpPr/>
          <p:nvPr/>
        </p:nvSpPr>
        <p:spPr>
          <a:xfrm>
            <a:off x="881197" y="2457428"/>
            <a:ext cx="548281" cy="545156"/>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lowchart: Alternate Process 24"/>
          <p:cNvSpPr/>
          <p:nvPr/>
        </p:nvSpPr>
        <p:spPr>
          <a:xfrm>
            <a:off x="4705850" y="2457428"/>
            <a:ext cx="548281" cy="545156"/>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lowchart: Alternate Process 25"/>
          <p:cNvSpPr/>
          <p:nvPr/>
        </p:nvSpPr>
        <p:spPr>
          <a:xfrm>
            <a:off x="9365772" y="2457428"/>
            <a:ext cx="548281" cy="545156"/>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lowchart: Alternate Process 26"/>
          <p:cNvSpPr/>
          <p:nvPr/>
        </p:nvSpPr>
        <p:spPr>
          <a:xfrm>
            <a:off x="881197" y="3138887"/>
            <a:ext cx="548281" cy="545156"/>
          </a:xfrm>
          <a:prstGeom prst="flowChartAlternateProcess">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Flowchart: Alternate Process 27"/>
          <p:cNvSpPr/>
          <p:nvPr/>
        </p:nvSpPr>
        <p:spPr>
          <a:xfrm>
            <a:off x="4705850" y="3138887"/>
            <a:ext cx="548281" cy="545156"/>
          </a:xfrm>
          <a:prstGeom prst="flowChartAlternateProcess">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Flowchart: Alternate Process 28"/>
          <p:cNvSpPr/>
          <p:nvPr/>
        </p:nvSpPr>
        <p:spPr>
          <a:xfrm>
            <a:off x="9365772" y="3138887"/>
            <a:ext cx="548281" cy="545156"/>
          </a:xfrm>
          <a:prstGeom prst="flowChartAlternateProcess">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85995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6" name="Google Shape;507;p4"/>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4" name="TextBox 3"/>
          <p:cNvSpPr txBox="1"/>
          <p:nvPr/>
        </p:nvSpPr>
        <p:spPr>
          <a:xfrm>
            <a:off x="8748346" y="1547454"/>
            <a:ext cx="1828800" cy="369332"/>
          </a:xfrm>
          <a:prstGeom prst="rect">
            <a:avLst/>
          </a:prstGeom>
          <a:noFill/>
        </p:spPr>
        <p:txBody>
          <a:bodyPr wrap="square" rtlCol="0">
            <a:spAutoFit/>
          </a:bodyPr>
          <a:lstStyle/>
          <a:p>
            <a:pPr algn="ctr"/>
            <a:r>
              <a:rPr lang="af-ZA" sz="1800" b="1" dirty="0"/>
              <a:t>Output</a:t>
            </a:r>
            <a:endParaRPr lang="en-IN" sz="1800" b="1" dirty="0"/>
          </a:p>
        </p:txBody>
      </p:sp>
      <p:sp>
        <p:nvSpPr>
          <p:cNvPr id="22" name="Google Shape;507;p4"/>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used the matrices A and B declared in the previous example and with the help of for loops, performed an addition operation on matrices. </a:t>
            </a:r>
            <a:endParaRPr sz="2000" i="0" u="none" strike="noStrike" cap="none" dirty="0">
              <a:solidFill>
                <a:srgbClr val="000000"/>
              </a:solidFill>
              <a:latin typeface="Calibri"/>
              <a:ea typeface="Calibri"/>
              <a:cs typeface="Calibri"/>
              <a:sym typeface="Calibri"/>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7355" y="1916786"/>
            <a:ext cx="5618768" cy="2584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55515" y="2448842"/>
            <a:ext cx="1614461" cy="1503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6989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Addition</a:t>
            </a:r>
            <a:endParaRPr dirty="0"/>
          </a:p>
        </p:txBody>
      </p:sp>
      <p:grpSp>
        <p:nvGrpSpPr>
          <p:cNvPr id="3" name="Group 2"/>
          <p:cNvGrpSpPr/>
          <p:nvPr/>
        </p:nvGrpSpPr>
        <p:grpSpPr>
          <a:xfrm>
            <a:off x="459166" y="1433141"/>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670181" y="1688122"/>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1683654285"/>
              </p:ext>
            </p:extLst>
          </p:nvPr>
        </p:nvGraphicFramePr>
        <p:xfrm>
          <a:off x="796948"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grpSp>
        <p:nvGrpSpPr>
          <p:cNvPr id="9" name="Group 8"/>
          <p:cNvGrpSpPr/>
          <p:nvPr/>
        </p:nvGrpSpPr>
        <p:grpSpPr>
          <a:xfrm>
            <a:off x="4281311" y="1433141"/>
            <a:ext cx="2611315" cy="2593731"/>
            <a:chOff x="4423877" y="3182812"/>
            <a:chExt cx="2611315" cy="2593731"/>
          </a:xfrm>
        </p:grpSpPr>
        <p:sp>
          <p:nvSpPr>
            <p:cNvPr id="10" name="Left Bracket 9"/>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 name="Right Bracket 10"/>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12" name="TextBox 11"/>
          <p:cNvSpPr txBox="1"/>
          <p:nvPr/>
        </p:nvSpPr>
        <p:spPr>
          <a:xfrm>
            <a:off x="4492326" y="1688122"/>
            <a:ext cx="633046" cy="307777"/>
          </a:xfrm>
          <a:prstGeom prst="rect">
            <a:avLst/>
          </a:prstGeom>
          <a:noFill/>
        </p:spPr>
        <p:txBody>
          <a:bodyPr wrap="square" rtlCol="0">
            <a:spAutoFit/>
          </a:bodyPr>
          <a:lstStyle/>
          <a:p>
            <a:endParaRPr lang="en-IN" dirty="0"/>
          </a:p>
        </p:txBody>
      </p:sp>
      <p:graphicFrame>
        <p:nvGraphicFramePr>
          <p:cNvPr id="13" name="Table 12"/>
          <p:cNvGraphicFramePr>
            <a:graphicFrameLocks noGrp="1"/>
          </p:cNvGraphicFramePr>
          <p:nvPr>
            <p:extLst>
              <p:ext uri="{D42A27DB-BD31-4B8C-83A1-F6EECF244321}">
                <p14:modId xmlns:p14="http://schemas.microsoft.com/office/powerpoint/2010/main" val="3926567626"/>
              </p:ext>
            </p:extLst>
          </p:nvPr>
        </p:nvGraphicFramePr>
        <p:xfrm>
          <a:off x="4619093"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5</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4</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af-ZA" sz="3600" b="1" dirty="0">
                          <a:solidFill>
                            <a:schemeClr val="tx1"/>
                          </a:solidFill>
                        </a:rPr>
                        <a:t>2</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3</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4</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grpSp>
        <p:nvGrpSpPr>
          <p:cNvPr id="14" name="Group 13"/>
          <p:cNvGrpSpPr/>
          <p:nvPr/>
        </p:nvGrpSpPr>
        <p:grpSpPr>
          <a:xfrm>
            <a:off x="8958819" y="1433141"/>
            <a:ext cx="2611315" cy="2593731"/>
            <a:chOff x="4423877" y="3182812"/>
            <a:chExt cx="2611315" cy="2593731"/>
          </a:xfrm>
        </p:grpSpPr>
        <p:sp>
          <p:nvSpPr>
            <p:cNvPr id="15" name="Left Bracket 14"/>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Right Bracket 15"/>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17" name="TextBox 16"/>
          <p:cNvSpPr txBox="1"/>
          <p:nvPr/>
        </p:nvSpPr>
        <p:spPr>
          <a:xfrm>
            <a:off x="9169834" y="1688122"/>
            <a:ext cx="633046" cy="307777"/>
          </a:xfrm>
          <a:prstGeom prst="rect">
            <a:avLst/>
          </a:prstGeom>
          <a:noFill/>
        </p:spPr>
        <p:txBody>
          <a:bodyPr wrap="square" rtlCol="0">
            <a:spAutoFit/>
          </a:bodyPr>
          <a:lstStyle/>
          <a:p>
            <a:endParaRPr lang="en-IN" dirty="0"/>
          </a:p>
        </p:txBody>
      </p:sp>
      <p:graphicFrame>
        <p:nvGraphicFramePr>
          <p:cNvPr id="18" name="Table 17"/>
          <p:cNvGraphicFramePr>
            <a:graphicFrameLocks noGrp="1"/>
          </p:cNvGraphicFramePr>
          <p:nvPr>
            <p:extLst>
              <p:ext uri="{D42A27DB-BD31-4B8C-83A1-F6EECF244321}">
                <p14:modId xmlns:p14="http://schemas.microsoft.com/office/powerpoint/2010/main" val="3325602461"/>
              </p:ext>
            </p:extLst>
          </p:nvPr>
        </p:nvGraphicFramePr>
        <p:xfrm>
          <a:off x="9296601"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af-ZA" sz="3600" b="1" dirty="0">
                          <a:solidFill>
                            <a:schemeClr val="tx1"/>
                          </a:solidFill>
                        </a:rPr>
                        <a:t>9</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6</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2</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5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2" name="Plus 1"/>
          <p:cNvSpPr/>
          <p:nvPr/>
        </p:nvSpPr>
        <p:spPr>
          <a:xfrm>
            <a:off x="3279531" y="2312410"/>
            <a:ext cx="782516" cy="826477"/>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Equal 18"/>
          <p:cNvSpPr/>
          <p:nvPr/>
        </p:nvSpPr>
        <p:spPr>
          <a:xfrm>
            <a:off x="7385538" y="2312410"/>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0" name="Google Shape;507;p4"/>
          <p:cNvSpPr/>
          <p:nvPr/>
        </p:nvSpPr>
        <p:spPr>
          <a:xfrm>
            <a:off x="1929689" y="4591113"/>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the addition operation, it is mandatory that the dimensions of the matrices are equivalent to each other.</a:t>
            </a:r>
            <a:endParaRPr sz="2000" i="0" u="none" strike="noStrike" cap="none" dirty="0">
              <a:solidFill>
                <a:srgbClr val="000000"/>
              </a:solidFill>
              <a:latin typeface="Calibri"/>
              <a:ea typeface="Calibri"/>
              <a:cs typeface="Calibri"/>
              <a:sym typeface="Calibri"/>
            </a:endParaRPr>
          </a:p>
        </p:txBody>
      </p:sp>
      <p:sp>
        <p:nvSpPr>
          <p:cNvPr id="21" name="Flowchart: Alternate Process 20"/>
          <p:cNvSpPr/>
          <p:nvPr/>
        </p:nvSpPr>
        <p:spPr>
          <a:xfrm>
            <a:off x="864464" y="1767254"/>
            <a:ext cx="548281" cy="545156"/>
          </a:xfrm>
          <a:prstGeom prst="flowChartAlternateProcess">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lowchart: Alternate Process 21"/>
          <p:cNvSpPr/>
          <p:nvPr/>
        </p:nvSpPr>
        <p:spPr>
          <a:xfrm>
            <a:off x="4689117" y="1767254"/>
            <a:ext cx="548281" cy="545156"/>
          </a:xfrm>
          <a:prstGeom prst="flowChartAlternateProcess">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Flowchart: Alternate Process 22"/>
          <p:cNvSpPr/>
          <p:nvPr/>
        </p:nvSpPr>
        <p:spPr>
          <a:xfrm>
            <a:off x="9349039" y="1767254"/>
            <a:ext cx="548281" cy="545156"/>
          </a:xfrm>
          <a:prstGeom prst="flowChartAlternateProcess">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Flowchart: Alternate Process 23"/>
          <p:cNvSpPr/>
          <p:nvPr/>
        </p:nvSpPr>
        <p:spPr>
          <a:xfrm>
            <a:off x="881197" y="2457428"/>
            <a:ext cx="548281" cy="545156"/>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lowchart: Alternate Process 24"/>
          <p:cNvSpPr/>
          <p:nvPr/>
        </p:nvSpPr>
        <p:spPr>
          <a:xfrm>
            <a:off x="4705850" y="2457428"/>
            <a:ext cx="548281" cy="545156"/>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lowchart: Alternate Process 25"/>
          <p:cNvSpPr/>
          <p:nvPr/>
        </p:nvSpPr>
        <p:spPr>
          <a:xfrm>
            <a:off x="9365772" y="2457428"/>
            <a:ext cx="548281" cy="545156"/>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lowchart: Alternate Process 26"/>
          <p:cNvSpPr/>
          <p:nvPr/>
        </p:nvSpPr>
        <p:spPr>
          <a:xfrm>
            <a:off x="881197" y="3138887"/>
            <a:ext cx="548281" cy="545156"/>
          </a:xfrm>
          <a:prstGeom prst="flowChartAlternateProcess">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Flowchart: Alternate Process 27"/>
          <p:cNvSpPr/>
          <p:nvPr/>
        </p:nvSpPr>
        <p:spPr>
          <a:xfrm>
            <a:off x="4705850" y="3138887"/>
            <a:ext cx="548281" cy="545156"/>
          </a:xfrm>
          <a:prstGeom prst="flowChartAlternateProcess">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Flowchart: Alternate Process 28"/>
          <p:cNvSpPr/>
          <p:nvPr/>
        </p:nvSpPr>
        <p:spPr>
          <a:xfrm>
            <a:off x="9365772" y="3138887"/>
            <a:ext cx="548281" cy="545156"/>
          </a:xfrm>
          <a:prstGeom prst="flowChartAlternateProcess">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73588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Subtraction</a:t>
            </a:r>
            <a:endParaRPr dirty="0"/>
          </a:p>
        </p:txBody>
      </p:sp>
      <p:sp>
        <p:nvSpPr>
          <p:cNvPr id="21" name="Google Shape;507;p4"/>
          <p:cNvSpPr/>
          <p:nvPr/>
        </p:nvSpPr>
        <p:spPr>
          <a:xfrm>
            <a:off x="1929689" y="4591113"/>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Similar to the addition operation, in subtraction we will subtract th</a:t>
            </a:r>
            <a:r>
              <a:rPr lang="en-US" sz="2000" dirty="0">
                <a:latin typeface="Calibri"/>
                <a:ea typeface="Calibri"/>
                <a:cs typeface="Calibri"/>
                <a:sym typeface="Calibri"/>
              </a:rPr>
              <a:t>e corresponding element in both the matrices to get the resultant matrix. </a:t>
            </a:r>
            <a:endParaRPr sz="2000" b="1" i="0" u="none" strike="noStrike" cap="none" dirty="0">
              <a:solidFill>
                <a:srgbClr val="000000"/>
              </a:solidFill>
              <a:latin typeface="Calibri"/>
              <a:ea typeface="Calibri"/>
              <a:cs typeface="Calibri"/>
              <a:sym typeface="Calibri"/>
            </a:endParaRPr>
          </a:p>
        </p:txBody>
      </p:sp>
      <p:sp>
        <p:nvSpPr>
          <p:cNvPr id="2" name="Minus 1"/>
          <p:cNvSpPr/>
          <p:nvPr/>
        </p:nvSpPr>
        <p:spPr>
          <a:xfrm>
            <a:off x="3226777" y="2391508"/>
            <a:ext cx="940777" cy="501194"/>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2" name="Group 21"/>
          <p:cNvGrpSpPr/>
          <p:nvPr/>
        </p:nvGrpSpPr>
        <p:grpSpPr>
          <a:xfrm>
            <a:off x="459166" y="1433141"/>
            <a:ext cx="2611315" cy="2593731"/>
            <a:chOff x="4423877" y="3182812"/>
            <a:chExt cx="2611315" cy="2593731"/>
          </a:xfrm>
        </p:grpSpPr>
        <p:sp>
          <p:nvSpPr>
            <p:cNvPr id="23" name="Left Bracket 22"/>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4" name="Right Bracket 23"/>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5" name="TextBox 24"/>
          <p:cNvSpPr txBox="1"/>
          <p:nvPr/>
        </p:nvSpPr>
        <p:spPr>
          <a:xfrm>
            <a:off x="670181" y="1688122"/>
            <a:ext cx="633046" cy="307777"/>
          </a:xfrm>
          <a:prstGeom prst="rect">
            <a:avLst/>
          </a:prstGeom>
          <a:noFill/>
        </p:spPr>
        <p:txBody>
          <a:bodyPr wrap="square" rtlCol="0">
            <a:spAutoFit/>
          </a:bodyPr>
          <a:lstStyle/>
          <a:p>
            <a:endParaRPr lang="en-IN" dirty="0"/>
          </a:p>
        </p:txBody>
      </p:sp>
      <p:graphicFrame>
        <p:nvGraphicFramePr>
          <p:cNvPr id="26" name="Table 25"/>
          <p:cNvGraphicFramePr>
            <a:graphicFrameLocks noGrp="1"/>
          </p:cNvGraphicFramePr>
          <p:nvPr>
            <p:extLst>
              <p:ext uri="{D42A27DB-BD31-4B8C-83A1-F6EECF244321}">
                <p14:modId xmlns:p14="http://schemas.microsoft.com/office/powerpoint/2010/main" val="3970359926"/>
              </p:ext>
            </p:extLst>
          </p:nvPr>
        </p:nvGraphicFramePr>
        <p:xfrm>
          <a:off x="796948"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grpSp>
        <p:nvGrpSpPr>
          <p:cNvPr id="27" name="Group 26"/>
          <p:cNvGrpSpPr/>
          <p:nvPr/>
        </p:nvGrpSpPr>
        <p:grpSpPr>
          <a:xfrm>
            <a:off x="4281311" y="1433141"/>
            <a:ext cx="2611315" cy="2593731"/>
            <a:chOff x="4423877" y="3182812"/>
            <a:chExt cx="2611315" cy="2593731"/>
          </a:xfrm>
        </p:grpSpPr>
        <p:sp>
          <p:nvSpPr>
            <p:cNvPr id="28" name="Left Bracket 2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9" name="Right Bracket 28"/>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30" name="TextBox 29"/>
          <p:cNvSpPr txBox="1"/>
          <p:nvPr/>
        </p:nvSpPr>
        <p:spPr>
          <a:xfrm>
            <a:off x="4492326" y="1688122"/>
            <a:ext cx="633046" cy="307777"/>
          </a:xfrm>
          <a:prstGeom prst="rect">
            <a:avLst/>
          </a:prstGeom>
          <a:noFill/>
        </p:spPr>
        <p:txBody>
          <a:bodyPr wrap="square" rtlCol="0">
            <a:spAutoFit/>
          </a:bodyPr>
          <a:lstStyle/>
          <a:p>
            <a:endParaRPr lang="en-IN" dirty="0"/>
          </a:p>
        </p:txBody>
      </p:sp>
      <p:graphicFrame>
        <p:nvGraphicFramePr>
          <p:cNvPr id="31" name="Table 30"/>
          <p:cNvGraphicFramePr>
            <a:graphicFrameLocks noGrp="1"/>
          </p:cNvGraphicFramePr>
          <p:nvPr>
            <p:extLst>
              <p:ext uri="{D42A27DB-BD31-4B8C-83A1-F6EECF244321}">
                <p14:modId xmlns:p14="http://schemas.microsoft.com/office/powerpoint/2010/main" val="1103530922"/>
              </p:ext>
            </p:extLst>
          </p:nvPr>
        </p:nvGraphicFramePr>
        <p:xfrm>
          <a:off x="4619093"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5</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4</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af-ZA" sz="3600" b="1" dirty="0">
                          <a:solidFill>
                            <a:schemeClr val="tx1"/>
                          </a:solidFill>
                        </a:rPr>
                        <a:t>2</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3</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4</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grpSp>
        <p:nvGrpSpPr>
          <p:cNvPr id="32" name="Group 31"/>
          <p:cNvGrpSpPr/>
          <p:nvPr/>
        </p:nvGrpSpPr>
        <p:grpSpPr>
          <a:xfrm>
            <a:off x="8958819" y="1433141"/>
            <a:ext cx="2611315" cy="2593731"/>
            <a:chOff x="4423877" y="3182812"/>
            <a:chExt cx="2611315" cy="2593731"/>
          </a:xfrm>
        </p:grpSpPr>
        <p:sp>
          <p:nvSpPr>
            <p:cNvPr id="33" name="Left Bracket 32"/>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4" name="Right Bracket 33"/>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35" name="TextBox 34"/>
          <p:cNvSpPr txBox="1"/>
          <p:nvPr/>
        </p:nvSpPr>
        <p:spPr>
          <a:xfrm>
            <a:off x="9169834" y="1688122"/>
            <a:ext cx="633046" cy="307777"/>
          </a:xfrm>
          <a:prstGeom prst="rect">
            <a:avLst/>
          </a:prstGeom>
          <a:noFill/>
        </p:spPr>
        <p:txBody>
          <a:bodyPr wrap="square" rtlCol="0">
            <a:spAutoFit/>
          </a:bodyPr>
          <a:lstStyle/>
          <a:p>
            <a:endParaRPr lang="en-IN" dirty="0"/>
          </a:p>
        </p:txBody>
      </p:sp>
      <p:graphicFrame>
        <p:nvGraphicFramePr>
          <p:cNvPr id="36" name="Table 35"/>
          <p:cNvGraphicFramePr>
            <a:graphicFrameLocks noGrp="1"/>
          </p:cNvGraphicFramePr>
          <p:nvPr>
            <p:extLst>
              <p:ext uri="{D42A27DB-BD31-4B8C-83A1-F6EECF244321}">
                <p14:modId xmlns:p14="http://schemas.microsoft.com/office/powerpoint/2010/main" val="4261028172"/>
              </p:ext>
            </p:extLst>
          </p:nvPr>
        </p:nvGraphicFramePr>
        <p:xfrm>
          <a:off x="9296601"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af-ZA"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-3</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2</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3</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smtClean="0">
                          <a:solidFill>
                            <a:schemeClr val="tx1"/>
                          </a:solidFill>
                        </a:rPr>
                        <a:t>5</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1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38" name="Equal 37"/>
          <p:cNvSpPr/>
          <p:nvPr/>
        </p:nvSpPr>
        <p:spPr>
          <a:xfrm>
            <a:off x="7385538" y="2312410"/>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9" name="Flowchart: Alternate Process 38"/>
          <p:cNvSpPr/>
          <p:nvPr/>
        </p:nvSpPr>
        <p:spPr>
          <a:xfrm>
            <a:off x="864464" y="1767254"/>
            <a:ext cx="548281" cy="545156"/>
          </a:xfrm>
          <a:prstGeom prst="flowChartAlternateProcess">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Flowchart: Alternate Process 39"/>
          <p:cNvSpPr/>
          <p:nvPr/>
        </p:nvSpPr>
        <p:spPr>
          <a:xfrm>
            <a:off x="4689117" y="1767254"/>
            <a:ext cx="548281" cy="545156"/>
          </a:xfrm>
          <a:prstGeom prst="flowChartAlternateProcess">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Flowchart: Alternate Process 40"/>
          <p:cNvSpPr/>
          <p:nvPr/>
        </p:nvSpPr>
        <p:spPr>
          <a:xfrm>
            <a:off x="9349039" y="1767254"/>
            <a:ext cx="548281" cy="545156"/>
          </a:xfrm>
          <a:prstGeom prst="flowChartAlternateProcess">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Flowchart: Alternate Process 41"/>
          <p:cNvSpPr/>
          <p:nvPr/>
        </p:nvSpPr>
        <p:spPr>
          <a:xfrm>
            <a:off x="881197" y="2457428"/>
            <a:ext cx="548281" cy="545156"/>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Flowchart: Alternate Process 42"/>
          <p:cNvSpPr/>
          <p:nvPr/>
        </p:nvSpPr>
        <p:spPr>
          <a:xfrm>
            <a:off x="4705850" y="2457428"/>
            <a:ext cx="548281" cy="545156"/>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Flowchart: Alternate Process 43"/>
          <p:cNvSpPr/>
          <p:nvPr/>
        </p:nvSpPr>
        <p:spPr>
          <a:xfrm>
            <a:off x="9365772" y="2457428"/>
            <a:ext cx="548281" cy="545156"/>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Flowchart: Alternate Process 44"/>
          <p:cNvSpPr/>
          <p:nvPr/>
        </p:nvSpPr>
        <p:spPr>
          <a:xfrm>
            <a:off x="881197" y="3138887"/>
            <a:ext cx="548281" cy="545156"/>
          </a:xfrm>
          <a:prstGeom prst="flowChartAlternateProcess">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Flowchart: Alternate Process 45"/>
          <p:cNvSpPr/>
          <p:nvPr/>
        </p:nvSpPr>
        <p:spPr>
          <a:xfrm>
            <a:off x="4705850" y="3138887"/>
            <a:ext cx="548281" cy="545156"/>
          </a:xfrm>
          <a:prstGeom prst="flowChartAlternateProcess">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Flowchart: Alternate Process 46"/>
          <p:cNvSpPr/>
          <p:nvPr/>
        </p:nvSpPr>
        <p:spPr>
          <a:xfrm>
            <a:off x="9365772" y="3138887"/>
            <a:ext cx="548281" cy="545156"/>
          </a:xfrm>
          <a:prstGeom prst="flowChartAlternateProcess">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93986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500"/>
                                        <p:tgtEl>
                                          <p:spTgt spid="4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fade">
                                      <p:cBhvr>
                                        <p:cTn id="21" dur="500"/>
                                        <p:tgtEl>
                                          <p:spTgt spid="4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fade">
                                      <p:cBhvr>
                                        <p:cTn id="26" dur="500"/>
                                        <p:tgtEl>
                                          <p:spTgt spid="4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fade">
                                      <p:cBhvr>
                                        <p:cTn id="31" dur="500"/>
                                        <p:tgtEl>
                                          <p:spTgt spid="4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fade">
                                      <p:cBhvr>
                                        <p:cTn id="34" dur="500"/>
                                        <p:tgtEl>
                                          <p:spTgt spid="4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fade">
                                      <p:cBhvr>
                                        <p:cTn id="3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Subtraction</a:t>
            </a:r>
            <a:endParaRPr dirty="0"/>
          </a:p>
        </p:txBody>
      </p:sp>
      <p:sp>
        <p:nvSpPr>
          <p:cNvPr id="21" name="Google Shape;507;p4"/>
          <p:cNvSpPr/>
          <p:nvPr/>
        </p:nvSpPr>
        <p:spPr>
          <a:xfrm>
            <a:off x="1929689" y="4591113"/>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In the subtraction operatio</a:t>
            </a:r>
            <a:r>
              <a:rPr lang="en-US" sz="2000" dirty="0">
                <a:latin typeface="Calibri"/>
                <a:ea typeface="Calibri"/>
                <a:cs typeface="Calibri"/>
                <a:sym typeface="Calibri"/>
              </a:rPr>
              <a:t>n, it is mandatory for the matrices to be of equivalent dimensions as well.</a:t>
            </a:r>
            <a:endParaRPr sz="2000" b="1" i="0" u="none" strike="noStrike" cap="none" dirty="0">
              <a:solidFill>
                <a:srgbClr val="000000"/>
              </a:solidFill>
              <a:latin typeface="Calibri"/>
              <a:ea typeface="Calibri"/>
              <a:cs typeface="Calibri"/>
              <a:sym typeface="Calibri"/>
            </a:endParaRPr>
          </a:p>
        </p:txBody>
      </p:sp>
      <p:sp>
        <p:nvSpPr>
          <p:cNvPr id="2" name="Minus 1"/>
          <p:cNvSpPr/>
          <p:nvPr/>
        </p:nvSpPr>
        <p:spPr>
          <a:xfrm>
            <a:off x="3226777" y="2391508"/>
            <a:ext cx="940777" cy="501194"/>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2" name="Group 21"/>
          <p:cNvGrpSpPr/>
          <p:nvPr/>
        </p:nvGrpSpPr>
        <p:grpSpPr>
          <a:xfrm>
            <a:off x="459166" y="1433141"/>
            <a:ext cx="2611315" cy="2593731"/>
            <a:chOff x="4423877" y="3182812"/>
            <a:chExt cx="2611315" cy="2593731"/>
          </a:xfrm>
        </p:grpSpPr>
        <p:sp>
          <p:nvSpPr>
            <p:cNvPr id="23" name="Left Bracket 22"/>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4" name="Right Bracket 23"/>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5" name="TextBox 24"/>
          <p:cNvSpPr txBox="1"/>
          <p:nvPr/>
        </p:nvSpPr>
        <p:spPr>
          <a:xfrm>
            <a:off x="670181" y="1688122"/>
            <a:ext cx="633046" cy="307777"/>
          </a:xfrm>
          <a:prstGeom prst="rect">
            <a:avLst/>
          </a:prstGeom>
          <a:noFill/>
        </p:spPr>
        <p:txBody>
          <a:bodyPr wrap="square" rtlCol="0">
            <a:spAutoFit/>
          </a:bodyPr>
          <a:lstStyle/>
          <a:p>
            <a:endParaRPr lang="en-IN" dirty="0"/>
          </a:p>
        </p:txBody>
      </p:sp>
      <p:graphicFrame>
        <p:nvGraphicFramePr>
          <p:cNvPr id="26" name="Table 25"/>
          <p:cNvGraphicFramePr>
            <a:graphicFrameLocks noGrp="1"/>
          </p:cNvGraphicFramePr>
          <p:nvPr>
            <p:extLst>
              <p:ext uri="{D42A27DB-BD31-4B8C-83A1-F6EECF244321}">
                <p14:modId xmlns:p14="http://schemas.microsoft.com/office/powerpoint/2010/main" val="2818766589"/>
              </p:ext>
            </p:extLst>
          </p:nvPr>
        </p:nvGraphicFramePr>
        <p:xfrm>
          <a:off x="796948"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grpSp>
        <p:nvGrpSpPr>
          <p:cNvPr id="27" name="Group 26"/>
          <p:cNvGrpSpPr/>
          <p:nvPr/>
        </p:nvGrpSpPr>
        <p:grpSpPr>
          <a:xfrm>
            <a:off x="4281311" y="1433141"/>
            <a:ext cx="2611315" cy="2593731"/>
            <a:chOff x="4423877" y="3182812"/>
            <a:chExt cx="2611315" cy="2593731"/>
          </a:xfrm>
        </p:grpSpPr>
        <p:sp>
          <p:nvSpPr>
            <p:cNvPr id="28" name="Left Bracket 2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9" name="Right Bracket 28"/>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30" name="TextBox 29"/>
          <p:cNvSpPr txBox="1"/>
          <p:nvPr/>
        </p:nvSpPr>
        <p:spPr>
          <a:xfrm>
            <a:off x="4492326" y="1688122"/>
            <a:ext cx="633046" cy="307777"/>
          </a:xfrm>
          <a:prstGeom prst="rect">
            <a:avLst/>
          </a:prstGeom>
          <a:noFill/>
        </p:spPr>
        <p:txBody>
          <a:bodyPr wrap="square" rtlCol="0">
            <a:spAutoFit/>
          </a:bodyPr>
          <a:lstStyle/>
          <a:p>
            <a:endParaRPr lang="en-IN" dirty="0"/>
          </a:p>
        </p:txBody>
      </p:sp>
      <p:graphicFrame>
        <p:nvGraphicFramePr>
          <p:cNvPr id="31" name="Table 30"/>
          <p:cNvGraphicFramePr>
            <a:graphicFrameLocks noGrp="1"/>
          </p:cNvGraphicFramePr>
          <p:nvPr>
            <p:extLst>
              <p:ext uri="{D42A27DB-BD31-4B8C-83A1-F6EECF244321}">
                <p14:modId xmlns:p14="http://schemas.microsoft.com/office/powerpoint/2010/main" val="3754433115"/>
              </p:ext>
            </p:extLst>
          </p:nvPr>
        </p:nvGraphicFramePr>
        <p:xfrm>
          <a:off x="4619093"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5</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4</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af-ZA" sz="3600" b="1" dirty="0">
                          <a:solidFill>
                            <a:schemeClr val="tx1"/>
                          </a:solidFill>
                        </a:rPr>
                        <a:t>2</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3</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4</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grpSp>
        <p:nvGrpSpPr>
          <p:cNvPr id="32" name="Group 31"/>
          <p:cNvGrpSpPr/>
          <p:nvPr/>
        </p:nvGrpSpPr>
        <p:grpSpPr>
          <a:xfrm>
            <a:off x="8958819" y="1433141"/>
            <a:ext cx="2611315" cy="2593731"/>
            <a:chOff x="4423877" y="3182812"/>
            <a:chExt cx="2611315" cy="2593731"/>
          </a:xfrm>
        </p:grpSpPr>
        <p:sp>
          <p:nvSpPr>
            <p:cNvPr id="33" name="Left Bracket 32"/>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4" name="Right Bracket 33"/>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35" name="TextBox 34"/>
          <p:cNvSpPr txBox="1"/>
          <p:nvPr/>
        </p:nvSpPr>
        <p:spPr>
          <a:xfrm>
            <a:off x="9169834" y="1688122"/>
            <a:ext cx="633046" cy="307777"/>
          </a:xfrm>
          <a:prstGeom prst="rect">
            <a:avLst/>
          </a:prstGeom>
          <a:noFill/>
        </p:spPr>
        <p:txBody>
          <a:bodyPr wrap="square" rtlCol="0">
            <a:spAutoFit/>
          </a:bodyPr>
          <a:lstStyle/>
          <a:p>
            <a:endParaRPr lang="en-IN" dirty="0"/>
          </a:p>
        </p:txBody>
      </p:sp>
      <p:graphicFrame>
        <p:nvGraphicFramePr>
          <p:cNvPr id="36" name="Table 35"/>
          <p:cNvGraphicFramePr>
            <a:graphicFrameLocks noGrp="1"/>
          </p:cNvGraphicFramePr>
          <p:nvPr>
            <p:extLst>
              <p:ext uri="{D42A27DB-BD31-4B8C-83A1-F6EECF244321}">
                <p14:modId xmlns:p14="http://schemas.microsoft.com/office/powerpoint/2010/main" val="588385921"/>
              </p:ext>
            </p:extLst>
          </p:nvPr>
        </p:nvGraphicFramePr>
        <p:xfrm>
          <a:off x="9296601"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af-ZA"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-3</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2</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3</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5</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1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38" name="Equal 37"/>
          <p:cNvSpPr/>
          <p:nvPr/>
        </p:nvSpPr>
        <p:spPr>
          <a:xfrm>
            <a:off x="7385538" y="2312410"/>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9" name="Flowchart: Alternate Process 38"/>
          <p:cNvSpPr/>
          <p:nvPr/>
        </p:nvSpPr>
        <p:spPr>
          <a:xfrm>
            <a:off x="864464" y="1767254"/>
            <a:ext cx="548281" cy="545156"/>
          </a:xfrm>
          <a:prstGeom prst="flowChartAlternateProcess">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Flowchart: Alternate Process 39"/>
          <p:cNvSpPr/>
          <p:nvPr/>
        </p:nvSpPr>
        <p:spPr>
          <a:xfrm>
            <a:off x="4689117" y="1767254"/>
            <a:ext cx="548281" cy="545156"/>
          </a:xfrm>
          <a:prstGeom prst="flowChartAlternateProcess">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Flowchart: Alternate Process 40"/>
          <p:cNvSpPr/>
          <p:nvPr/>
        </p:nvSpPr>
        <p:spPr>
          <a:xfrm>
            <a:off x="9349039" y="1767254"/>
            <a:ext cx="548281" cy="545156"/>
          </a:xfrm>
          <a:prstGeom prst="flowChartAlternateProcess">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Flowchart: Alternate Process 41"/>
          <p:cNvSpPr/>
          <p:nvPr/>
        </p:nvSpPr>
        <p:spPr>
          <a:xfrm>
            <a:off x="881197" y="2457428"/>
            <a:ext cx="548281" cy="545156"/>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Flowchart: Alternate Process 42"/>
          <p:cNvSpPr/>
          <p:nvPr/>
        </p:nvSpPr>
        <p:spPr>
          <a:xfrm>
            <a:off x="4705850" y="2457428"/>
            <a:ext cx="548281" cy="545156"/>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Flowchart: Alternate Process 43"/>
          <p:cNvSpPr/>
          <p:nvPr/>
        </p:nvSpPr>
        <p:spPr>
          <a:xfrm>
            <a:off x="9365772" y="2457428"/>
            <a:ext cx="548281" cy="545156"/>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Flowchart: Alternate Process 44"/>
          <p:cNvSpPr/>
          <p:nvPr/>
        </p:nvSpPr>
        <p:spPr>
          <a:xfrm>
            <a:off x="881197" y="3138887"/>
            <a:ext cx="548281" cy="545156"/>
          </a:xfrm>
          <a:prstGeom prst="flowChartAlternateProcess">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Flowchart: Alternate Process 45"/>
          <p:cNvSpPr/>
          <p:nvPr/>
        </p:nvSpPr>
        <p:spPr>
          <a:xfrm>
            <a:off x="4705850" y="3138887"/>
            <a:ext cx="548281" cy="545156"/>
          </a:xfrm>
          <a:prstGeom prst="flowChartAlternateProcess">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Flowchart: Alternate Process 46"/>
          <p:cNvSpPr/>
          <p:nvPr/>
        </p:nvSpPr>
        <p:spPr>
          <a:xfrm>
            <a:off x="9365772" y="3138887"/>
            <a:ext cx="548281" cy="545156"/>
          </a:xfrm>
          <a:prstGeom prst="flowChartAlternateProcess">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35526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6" name="Google Shape;507;p4"/>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4" name="TextBox 3"/>
          <p:cNvSpPr txBox="1"/>
          <p:nvPr/>
        </p:nvSpPr>
        <p:spPr>
          <a:xfrm>
            <a:off x="8748346" y="1547454"/>
            <a:ext cx="1828800" cy="369332"/>
          </a:xfrm>
          <a:prstGeom prst="rect">
            <a:avLst/>
          </a:prstGeom>
          <a:noFill/>
        </p:spPr>
        <p:txBody>
          <a:bodyPr wrap="square" rtlCol="0">
            <a:spAutoFit/>
          </a:bodyPr>
          <a:lstStyle/>
          <a:p>
            <a:pPr algn="ctr"/>
            <a:r>
              <a:rPr lang="af-ZA" sz="1800" b="1" dirty="0"/>
              <a:t>Output</a:t>
            </a:r>
            <a:endParaRPr lang="en-IN" sz="1800" b="1" dirty="0"/>
          </a:p>
        </p:txBody>
      </p:sp>
      <p:sp>
        <p:nvSpPr>
          <p:cNvPr id="22" name="Google Shape;507;p4"/>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used the matrices A and B with dimensions 3x3 and performed the subtraction using the for loops and numpy array.</a:t>
            </a:r>
            <a:endParaRPr sz="2000" i="0" u="none" strike="noStrike" cap="none" dirty="0">
              <a:solidFill>
                <a:srgbClr val="000000"/>
              </a:solidFill>
              <a:latin typeface="Calibri"/>
              <a:ea typeface="Calibri"/>
              <a:cs typeface="Calibri"/>
              <a:sym typeface="Calibri"/>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2855" y="1732120"/>
            <a:ext cx="5886450" cy="282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10462" y="2287833"/>
            <a:ext cx="2504568" cy="182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3689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Multiplication</a:t>
            </a:r>
            <a:endParaRPr dirty="0"/>
          </a:p>
        </p:txBody>
      </p:sp>
      <p:grpSp>
        <p:nvGrpSpPr>
          <p:cNvPr id="3" name="Group 2"/>
          <p:cNvGrpSpPr/>
          <p:nvPr/>
        </p:nvGrpSpPr>
        <p:grpSpPr>
          <a:xfrm>
            <a:off x="459166" y="1433141"/>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670181" y="1688122"/>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439044827"/>
              </p:ext>
            </p:extLst>
          </p:nvPr>
        </p:nvGraphicFramePr>
        <p:xfrm>
          <a:off x="796948"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grpSp>
        <p:nvGrpSpPr>
          <p:cNvPr id="14" name="Group 13"/>
          <p:cNvGrpSpPr/>
          <p:nvPr/>
        </p:nvGrpSpPr>
        <p:grpSpPr>
          <a:xfrm>
            <a:off x="7587219" y="1470459"/>
            <a:ext cx="2998163" cy="2593731"/>
            <a:chOff x="4423877" y="3182812"/>
            <a:chExt cx="2998163" cy="2593731"/>
          </a:xfrm>
        </p:grpSpPr>
        <p:sp>
          <p:nvSpPr>
            <p:cNvPr id="15" name="Left Bracket 14"/>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Right Bracket 15"/>
            <p:cNvSpPr/>
            <p:nvPr/>
          </p:nvSpPr>
          <p:spPr>
            <a:xfrm>
              <a:off x="7035179"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17" name="TextBox 16"/>
          <p:cNvSpPr txBox="1"/>
          <p:nvPr/>
        </p:nvSpPr>
        <p:spPr>
          <a:xfrm>
            <a:off x="7798234" y="1725440"/>
            <a:ext cx="633046" cy="307777"/>
          </a:xfrm>
          <a:prstGeom prst="rect">
            <a:avLst/>
          </a:prstGeom>
          <a:noFill/>
        </p:spPr>
        <p:txBody>
          <a:bodyPr wrap="square" rtlCol="0">
            <a:spAutoFit/>
          </a:bodyPr>
          <a:lstStyle/>
          <a:p>
            <a:endParaRPr lang="en-IN" dirty="0"/>
          </a:p>
        </p:txBody>
      </p:sp>
      <p:graphicFrame>
        <p:nvGraphicFramePr>
          <p:cNvPr id="18" name="Table 17"/>
          <p:cNvGraphicFramePr>
            <a:graphicFrameLocks noGrp="1"/>
          </p:cNvGraphicFramePr>
          <p:nvPr>
            <p:extLst>
              <p:ext uri="{D42A27DB-BD31-4B8C-83A1-F6EECF244321}">
                <p14:modId xmlns:p14="http://schemas.microsoft.com/office/powerpoint/2010/main" val="1508717813"/>
              </p:ext>
            </p:extLst>
          </p:nvPr>
        </p:nvGraphicFramePr>
        <p:xfrm>
          <a:off x="7925001" y="1725440"/>
          <a:ext cx="2409495" cy="2057400"/>
        </p:xfrm>
        <a:graphic>
          <a:graphicData uri="http://schemas.openxmlformats.org/drawingml/2006/table">
            <a:tbl>
              <a:tblPr firstRow="1" bandRow="1">
                <a:effectLst/>
                <a:tableStyleId>{5C22544A-7EE6-4342-B048-85BDC9FD1C3A}</a:tableStyleId>
              </a:tblPr>
              <a:tblGrid>
                <a:gridCol w="803165">
                  <a:extLst>
                    <a:ext uri="{9D8B030D-6E8A-4147-A177-3AD203B41FA5}">
                      <a16:colId xmlns="" xmlns:a16="http://schemas.microsoft.com/office/drawing/2014/main" val="20000"/>
                    </a:ext>
                  </a:extLst>
                </a:gridCol>
                <a:gridCol w="803165">
                  <a:extLst>
                    <a:ext uri="{9D8B030D-6E8A-4147-A177-3AD203B41FA5}">
                      <a16:colId xmlns="" xmlns:a16="http://schemas.microsoft.com/office/drawing/2014/main" val="20001"/>
                    </a:ext>
                  </a:extLst>
                </a:gridCol>
                <a:gridCol w="803165">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10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4</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8</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14</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2</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6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16</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20" name="Equal 19"/>
          <p:cNvSpPr/>
          <p:nvPr/>
        </p:nvSpPr>
        <p:spPr>
          <a:xfrm>
            <a:off x="6013938" y="2349728"/>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Google Shape;507;p4"/>
          <p:cNvSpPr/>
          <p:nvPr/>
        </p:nvSpPr>
        <p:spPr>
          <a:xfrm>
            <a:off x="1929689" y="4591113"/>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Multiplying a matrix with a scala</a:t>
            </a:r>
            <a:r>
              <a:rPr lang="en-US" sz="2000" dirty="0">
                <a:latin typeface="Calibri"/>
                <a:ea typeface="Calibri"/>
                <a:cs typeface="Calibri"/>
                <a:sym typeface="Calibri"/>
              </a:rPr>
              <a:t>r will yield the resultant matrix that will have each element multiplied with the scalar. </a:t>
            </a:r>
            <a:endParaRPr sz="2000" b="1" i="0" u="none" strike="noStrike" cap="none" dirty="0">
              <a:solidFill>
                <a:srgbClr val="000000"/>
              </a:solidFill>
              <a:latin typeface="Calibri"/>
              <a:ea typeface="Calibri"/>
              <a:cs typeface="Calibri"/>
              <a:sym typeface="Calibri"/>
            </a:endParaRPr>
          </a:p>
        </p:txBody>
      </p:sp>
      <p:sp>
        <p:nvSpPr>
          <p:cNvPr id="2" name="Multiply 1"/>
          <p:cNvSpPr/>
          <p:nvPr/>
        </p:nvSpPr>
        <p:spPr>
          <a:xfrm>
            <a:off x="3253154" y="2242071"/>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p:cNvSpPr txBox="1"/>
          <p:nvPr/>
        </p:nvSpPr>
        <p:spPr>
          <a:xfrm>
            <a:off x="4510454" y="2316709"/>
            <a:ext cx="888023" cy="646331"/>
          </a:xfrm>
          <a:prstGeom prst="rect">
            <a:avLst/>
          </a:prstGeom>
          <a:noFill/>
        </p:spPr>
        <p:txBody>
          <a:bodyPr wrap="square" rtlCol="0" anchor="ctr">
            <a:spAutoFit/>
          </a:bodyPr>
          <a:lstStyle/>
          <a:p>
            <a:pPr algn="ctr"/>
            <a:r>
              <a:rPr lang="af-ZA" sz="3600" b="1" dirty="0"/>
              <a:t>2</a:t>
            </a:r>
            <a:endParaRPr lang="en-IN" sz="3600" b="1" dirty="0"/>
          </a:p>
        </p:txBody>
      </p:sp>
      <p:sp>
        <p:nvSpPr>
          <p:cNvPr id="23" name="Flowchart: Alternate Process 22"/>
          <p:cNvSpPr/>
          <p:nvPr/>
        </p:nvSpPr>
        <p:spPr>
          <a:xfrm>
            <a:off x="881197" y="1725440"/>
            <a:ext cx="560741" cy="591269"/>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Flowchart: Alternate Process 23"/>
          <p:cNvSpPr/>
          <p:nvPr/>
        </p:nvSpPr>
        <p:spPr>
          <a:xfrm>
            <a:off x="8009250" y="1725441"/>
            <a:ext cx="657455" cy="694672"/>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lowchart: Alternate Process 25"/>
          <p:cNvSpPr/>
          <p:nvPr/>
        </p:nvSpPr>
        <p:spPr>
          <a:xfrm>
            <a:off x="4674094" y="2371771"/>
            <a:ext cx="560741" cy="591269"/>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lowchart: Alternate Process 26"/>
          <p:cNvSpPr/>
          <p:nvPr/>
        </p:nvSpPr>
        <p:spPr>
          <a:xfrm>
            <a:off x="881197" y="2471689"/>
            <a:ext cx="560741" cy="591269"/>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Flowchart: Alternate Process 27"/>
          <p:cNvSpPr/>
          <p:nvPr/>
        </p:nvSpPr>
        <p:spPr>
          <a:xfrm>
            <a:off x="4679932" y="2381638"/>
            <a:ext cx="560741" cy="591269"/>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Flowchart: Alternate Process 31"/>
          <p:cNvSpPr/>
          <p:nvPr/>
        </p:nvSpPr>
        <p:spPr>
          <a:xfrm>
            <a:off x="8009250" y="2471689"/>
            <a:ext cx="657455" cy="591269"/>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10312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6" grpId="0" animBg="1"/>
      <p:bldP spid="27" grpId="0" animBg="1"/>
      <p:bldP spid="28" grpId="0" animBg="1"/>
      <p:bldP spid="3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Multiplication</a:t>
            </a:r>
            <a:endParaRPr dirty="0"/>
          </a:p>
        </p:txBody>
      </p:sp>
      <p:grpSp>
        <p:nvGrpSpPr>
          <p:cNvPr id="3" name="Group 2"/>
          <p:cNvGrpSpPr/>
          <p:nvPr/>
        </p:nvGrpSpPr>
        <p:grpSpPr>
          <a:xfrm>
            <a:off x="622806" y="1806873"/>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833821" y="2061854"/>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750173185"/>
              </p:ext>
            </p:extLst>
          </p:nvPr>
        </p:nvGraphicFramePr>
        <p:xfrm>
          <a:off x="960588" y="2061854"/>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21" name="Google Shape;507;p4"/>
          <p:cNvSpPr/>
          <p:nvPr/>
        </p:nvSpPr>
        <p:spPr>
          <a:xfrm>
            <a:off x="6673362" y="1675703"/>
            <a:ext cx="4979979" cy="3521974"/>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i="0" u="none" strike="noStrike" cap="none" dirty="0">
                <a:solidFill>
                  <a:srgbClr val="000000"/>
                </a:solidFill>
                <a:latin typeface="Calibri"/>
                <a:ea typeface="Calibri"/>
                <a:cs typeface="Calibri"/>
                <a:sym typeface="Calibri"/>
              </a:rPr>
              <a:t>Scalar multiplication will not only have the same dimensions, but will show the properties like distributivity, associativity, additive inverse, etc.</a:t>
            </a:r>
          </a:p>
        </p:txBody>
      </p:sp>
      <p:sp>
        <p:nvSpPr>
          <p:cNvPr id="2" name="Multiply 1"/>
          <p:cNvSpPr/>
          <p:nvPr/>
        </p:nvSpPr>
        <p:spPr>
          <a:xfrm>
            <a:off x="3416794" y="2615803"/>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p:cNvSpPr txBox="1"/>
          <p:nvPr/>
        </p:nvSpPr>
        <p:spPr>
          <a:xfrm>
            <a:off x="4674094" y="2690441"/>
            <a:ext cx="888023" cy="646331"/>
          </a:xfrm>
          <a:prstGeom prst="rect">
            <a:avLst/>
          </a:prstGeom>
          <a:noFill/>
        </p:spPr>
        <p:txBody>
          <a:bodyPr wrap="square" rtlCol="0" anchor="ctr">
            <a:spAutoFit/>
          </a:bodyPr>
          <a:lstStyle/>
          <a:p>
            <a:pPr algn="ctr"/>
            <a:r>
              <a:rPr lang="af-ZA" sz="3600" b="1" dirty="0"/>
              <a:t>2</a:t>
            </a:r>
            <a:endParaRPr lang="en-IN" sz="3600" b="1" dirty="0"/>
          </a:p>
        </p:txBody>
      </p:sp>
      <p:sp>
        <p:nvSpPr>
          <p:cNvPr id="23" name="Flowchart: Alternate Process 22"/>
          <p:cNvSpPr/>
          <p:nvPr/>
        </p:nvSpPr>
        <p:spPr>
          <a:xfrm>
            <a:off x="1044837" y="2099172"/>
            <a:ext cx="560741" cy="591269"/>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lowchart: Alternate Process 25"/>
          <p:cNvSpPr/>
          <p:nvPr/>
        </p:nvSpPr>
        <p:spPr>
          <a:xfrm>
            <a:off x="4837734" y="2745503"/>
            <a:ext cx="560741" cy="591269"/>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lowchart: Alternate Process 26"/>
          <p:cNvSpPr/>
          <p:nvPr/>
        </p:nvSpPr>
        <p:spPr>
          <a:xfrm>
            <a:off x="1044837" y="2845421"/>
            <a:ext cx="560741" cy="591269"/>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Flowchart: Alternate Process 27"/>
          <p:cNvSpPr/>
          <p:nvPr/>
        </p:nvSpPr>
        <p:spPr>
          <a:xfrm>
            <a:off x="4843572" y="2755370"/>
            <a:ext cx="560741" cy="591269"/>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4324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6" name="Google Shape;507;p4"/>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4" name="TextBox 3"/>
          <p:cNvSpPr txBox="1"/>
          <p:nvPr/>
        </p:nvSpPr>
        <p:spPr>
          <a:xfrm>
            <a:off x="8748346" y="1547454"/>
            <a:ext cx="1828800" cy="369332"/>
          </a:xfrm>
          <a:prstGeom prst="rect">
            <a:avLst/>
          </a:prstGeom>
          <a:noFill/>
        </p:spPr>
        <p:txBody>
          <a:bodyPr wrap="square" rtlCol="0">
            <a:spAutoFit/>
          </a:bodyPr>
          <a:lstStyle/>
          <a:p>
            <a:pPr algn="ctr"/>
            <a:r>
              <a:rPr lang="af-ZA" sz="1800" b="1" dirty="0"/>
              <a:t>Output</a:t>
            </a:r>
            <a:endParaRPr lang="en-IN" sz="1800" b="1" dirty="0"/>
          </a:p>
        </p:txBody>
      </p:sp>
      <p:sp>
        <p:nvSpPr>
          <p:cNvPr id="22" name="Google Shape;507;p4"/>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multiplied a 3x3 matrix with a scalar. </a:t>
            </a:r>
            <a:endParaRPr sz="2000" i="0" u="none" strike="noStrike" cap="none" dirty="0">
              <a:solidFill>
                <a:srgbClr val="000000"/>
              </a:solidFill>
              <a:latin typeface="Calibri"/>
              <a:ea typeface="Calibri"/>
              <a:cs typeface="Calibri"/>
              <a:sym typeface="Calibri"/>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3655" y="1847850"/>
            <a:ext cx="5784850" cy="255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0388" y="2446705"/>
            <a:ext cx="2232072" cy="1685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3250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Vector Multiplication</a:t>
            </a:r>
          </a:p>
        </p:txBody>
      </p:sp>
      <p:grpSp>
        <p:nvGrpSpPr>
          <p:cNvPr id="3" name="Group 2"/>
          <p:cNvGrpSpPr/>
          <p:nvPr/>
        </p:nvGrpSpPr>
        <p:grpSpPr>
          <a:xfrm>
            <a:off x="622806" y="1806873"/>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833821" y="2061854"/>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1237235073"/>
              </p:ext>
            </p:extLst>
          </p:nvPr>
        </p:nvGraphicFramePr>
        <p:xfrm>
          <a:off x="960588" y="2061854"/>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Multiply 8"/>
          <p:cNvSpPr/>
          <p:nvPr/>
        </p:nvSpPr>
        <p:spPr>
          <a:xfrm>
            <a:off x="3416794" y="2615803"/>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2" name="Group 11"/>
          <p:cNvGrpSpPr/>
          <p:nvPr/>
        </p:nvGrpSpPr>
        <p:grpSpPr>
          <a:xfrm>
            <a:off x="4368329" y="1844189"/>
            <a:ext cx="1151843" cy="2593731"/>
            <a:chOff x="4423877" y="3182812"/>
            <a:chExt cx="1151843" cy="2593731"/>
          </a:xfrm>
        </p:grpSpPr>
        <p:sp>
          <p:nvSpPr>
            <p:cNvPr id="13" name="Left Bracket 12"/>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4" name="Right Bracket 13"/>
            <p:cNvSpPr/>
            <p:nvPr/>
          </p:nvSpPr>
          <p:spPr>
            <a:xfrm>
              <a:off x="5188859"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6" name="Table 15"/>
          <p:cNvGraphicFramePr>
            <a:graphicFrameLocks noGrp="1"/>
          </p:cNvGraphicFramePr>
          <p:nvPr>
            <p:extLst>
              <p:ext uri="{D42A27DB-BD31-4B8C-83A1-F6EECF244321}">
                <p14:modId xmlns:p14="http://schemas.microsoft.com/office/powerpoint/2010/main" val="2186565906"/>
              </p:ext>
            </p:extLst>
          </p:nvPr>
        </p:nvGraphicFramePr>
        <p:xfrm>
          <a:off x="4717699" y="2063701"/>
          <a:ext cx="500185" cy="2086266"/>
        </p:xfrm>
        <a:graphic>
          <a:graphicData uri="http://schemas.openxmlformats.org/drawingml/2006/table">
            <a:tbl>
              <a:tblPr firstRow="1" bandRow="1">
                <a:tableStyleId>{2D5ABB26-0587-4C30-8999-92F81FD0307C}</a:tableStyleId>
              </a:tblPr>
              <a:tblGrid>
                <a:gridCol w="500185">
                  <a:extLst>
                    <a:ext uri="{9D8B030D-6E8A-4147-A177-3AD203B41FA5}">
                      <a16:colId xmlns="" xmlns:a16="http://schemas.microsoft.com/office/drawing/2014/main" val="20000"/>
                    </a:ext>
                  </a:extLst>
                </a:gridCol>
              </a:tblGrid>
              <a:tr h="695422">
                <a:tc>
                  <a:txBody>
                    <a:bodyPr/>
                    <a:lstStyle/>
                    <a:p>
                      <a:pPr algn="ctr"/>
                      <a:r>
                        <a:rPr lang="af-ZA" sz="3600" b="1" dirty="0"/>
                        <a:t>1</a:t>
                      </a:r>
                      <a:endParaRPr lang="en-IN" sz="3600" b="1" dirty="0"/>
                    </a:p>
                  </a:txBody>
                  <a:tcPr anchor="ctr"/>
                </a:tc>
                <a:extLst>
                  <a:ext uri="{0D108BD9-81ED-4DB2-BD59-A6C34878D82A}">
                    <a16:rowId xmlns="" xmlns:a16="http://schemas.microsoft.com/office/drawing/2014/main" val="10000"/>
                  </a:ext>
                </a:extLst>
              </a:tr>
              <a:tr h="695422">
                <a:tc>
                  <a:txBody>
                    <a:bodyPr/>
                    <a:lstStyle/>
                    <a:p>
                      <a:pPr algn="ctr"/>
                      <a:r>
                        <a:rPr lang="af-ZA" sz="3600" b="1" dirty="0"/>
                        <a:t>2</a:t>
                      </a:r>
                      <a:endParaRPr lang="en-IN" sz="3600" b="1" dirty="0"/>
                    </a:p>
                  </a:txBody>
                  <a:tcPr anchor="ctr"/>
                </a:tc>
                <a:extLst>
                  <a:ext uri="{0D108BD9-81ED-4DB2-BD59-A6C34878D82A}">
                    <a16:rowId xmlns="" xmlns:a16="http://schemas.microsoft.com/office/drawing/2014/main" val="10001"/>
                  </a:ext>
                </a:extLst>
              </a:tr>
              <a:tr h="695422">
                <a:tc>
                  <a:txBody>
                    <a:bodyPr/>
                    <a:lstStyle/>
                    <a:p>
                      <a:pPr algn="ctr"/>
                      <a:r>
                        <a:rPr lang="af-ZA" sz="3600" b="1" dirty="0"/>
                        <a:t>4</a:t>
                      </a:r>
                      <a:endParaRPr lang="en-IN" sz="3600" b="1" dirty="0"/>
                    </a:p>
                  </a:txBody>
                  <a:tcPr anchor="ctr"/>
                </a:tc>
                <a:extLst>
                  <a:ext uri="{0D108BD9-81ED-4DB2-BD59-A6C34878D82A}">
                    <a16:rowId xmlns="" xmlns:a16="http://schemas.microsoft.com/office/drawing/2014/main" val="10002"/>
                  </a:ext>
                </a:extLst>
              </a:tr>
            </a:tbl>
          </a:graphicData>
        </a:graphic>
      </p:graphicFrame>
      <p:sp>
        <p:nvSpPr>
          <p:cNvPr id="17" name="Equal 16"/>
          <p:cNvSpPr/>
          <p:nvPr/>
        </p:nvSpPr>
        <p:spPr>
          <a:xfrm>
            <a:off x="6013938" y="2692623"/>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Google Shape;507;p4"/>
          <p:cNvSpPr/>
          <p:nvPr/>
        </p:nvSpPr>
        <p:spPr>
          <a:xfrm>
            <a:off x="7702062" y="1675702"/>
            <a:ext cx="3921370" cy="410963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i="0" u="none" strike="noStrike" cap="none" dirty="0">
                <a:solidFill>
                  <a:srgbClr val="000000"/>
                </a:solidFill>
                <a:latin typeface="Calibri"/>
                <a:ea typeface="Calibri"/>
                <a:cs typeface="Calibri"/>
                <a:sym typeface="Calibri"/>
              </a:rPr>
              <a:t>While multiplying a matrix with a column vector, we must  figure out the dimensions of the resultant matrix. For this, the rows of the first matrix and the columns of the second matrix will be the dimensions of the resultant matrix. </a:t>
            </a:r>
          </a:p>
        </p:txBody>
      </p:sp>
    </p:spTree>
    <p:extLst>
      <p:ext uri="{BB962C8B-B14F-4D97-AF65-F5344CB8AC3E}">
        <p14:creationId xmlns:p14="http://schemas.microsoft.com/office/powerpoint/2010/main" val="708480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Vector Multiplication</a:t>
            </a:r>
          </a:p>
        </p:txBody>
      </p:sp>
      <p:grpSp>
        <p:nvGrpSpPr>
          <p:cNvPr id="3" name="Group 2"/>
          <p:cNvGrpSpPr/>
          <p:nvPr/>
        </p:nvGrpSpPr>
        <p:grpSpPr>
          <a:xfrm>
            <a:off x="622806" y="1806873"/>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833821" y="2061854"/>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2940738757"/>
              </p:ext>
            </p:extLst>
          </p:nvPr>
        </p:nvGraphicFramePr>
        <p:xfrm>
          <a:off x="960588" y="2061854"/>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Multiply 8"/>
          <p:cNvSpPr/>
          <p:nvPr/>
        </p:nvSpPr>
        <p:spPr>
          <a:xfrm>
            <a:off x="3416794" y="2615803"/>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2" name="Group 11"/>
          <p:cNvGrpSpPr/>
          <p:nvPr/>
        </p:nvGrpSpPr>
        <p:grpSpPr>
          <a:xfrm>
            <a:off x="4368329" y="1844189"/>
            <a:ext cx="1151843" cy="2593731"/>
            <a:chOff x="4423877" y="3182812"/>
            <a:chExt cx="1151843" cy="2593731"/>
          </a:xfrm>
        </p:grpSpPr>
        <p:sp>
          <p:nvSpPr>
            <p:cNvPr id="13" name="Left Bracket 12"/>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4" name="Right Bracket 13"/>
            <p:cNvSpPr/>
            <p:nvPr/>
          </p:nvSpPr>
          <p:spPr>
            <a:xfrm>
              <a:off x="5188859"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6" name="Table 15"/>
          <p:cNvGraphicFramePr>
            <a:graphicFrameLocks noGrp="1"/>
          </p:cNvGraphicFramePr>
          <p:nvPr>
            <p:extLst>
              <p:ext uri="{D42A27DB-BD31-4B8C-83A1-F6EECF244321}">
                <p14:modId xmlns:p14="http://schemas.microsoft.com/office/powerpoint/2010/main" val="1362102251"/>
              </p:ext>
            </p:extLst>
          </p:nvPr>
        </p:nvGraphicFramePr>
        <p:xfrm>
          <a:off x="4717699" y="2063701"/>
          <a:ext cx="500185" cy="2086266"/>
        </p:xfrm>
        <a:graphic>
          <a:graphicData uri="http://schemas.openxmlformats.org/drawingml/2006/table">
            <a:tbl>
              <a:tblPr firstRow="1" bandRow="1">
                <a:tableStyleId>{2D5ABB26-0587-4C30-8999-92F81FD0307C}</a:tableStyleId>
              </a:tblPr>
              <a:tblGrid>
                <a:gridCol w="500185">
                  <a:extLst>
                    <a:ext uri="{9D8B030D-6E8A-4147-A177-3AD203B41FA5}">
                      <a16:colId xmlns="" xmlns:a16="http://schemas.microsoft.com/office/drawing/2014/main" val="20000"/>
                    </a:ext>
                  </a:extLst>
                </a:gridCol>
              </a:tblGrid>
              <a:tr h="695422">
                <a:tc>
                  <a:txBody>
                    <a:bodyPr/>
                    <a:lstStyle/>
                    <a:p>
                      <a:pPr algn="ctr"/>
                      <a:r>
                        <a:rPr lang="af-ZA" sz="3600" b="1" dirty="0"/>
                        <a:t>1</a:t>
                      </a:r>
                      <a:endParaRPr lang="en-IN" sz="3600" b="1" dirty="0"/>
                    </a:p>
                  </a:txBody>
                  <a:tcPr anchor="ctr"/>
                </a:tc>
                <a:extLst>
                  <a:ext uri="{0D108BD9-81ED-4DB2-BD59-A6C34878D82A}">
                    <a16:rowId xmlns="" xmlns:a16="http://schemas.microsoft.com/office/drawing/2014/main" val="10000"/>
                  </a:ext>
                </a:extLst>
              </a:tr>
              <a:tr h="695422">
                <a:tc>
                  <a:txBody>
                    <a:bodyPr/>
                    <a:lstStyle/>
                    <a:p>
                      <a:pPr algn="ctr"/>
                      <a:r>
                        <a:rPr lang="af-ZA" sz="3600" b="1" dirty="0"/>
                        <a:t>2</a:t>
                      </a:r>
                      <a:endParaRPr lang="en-IN" sz="3600" b="1" dirty="0"/>
                    </a:p>
                  </a:txBody>
                  <a:tcPr anchor="ctr"/>
                </a:tc>
                <a:extLst>
                  <a:ext uri="{0D108BD9-81ED-4DB2-BD59-A6C34878D82A}">
                    <a16:rowId xmlns="" xmlns:a16="http://schemas.microsoft.com/office/drawing/2014/main" val="10001"/>
                  </a:ext>
                </a:extLst>
              </a:tr>
              <a:tr h="695422">
                <a:tc>
                  <a:txBody>
                    <a:bodyPr/>
                    <a:lstStyle/>
                    <a:p>
                      <a:pPr algn="ctr"/>
                      <a:r>
                        <a:rPr lang="af-ZA" sz="3600" b="1" dirty="0"/>
                        <a:t>4</a:t>
                      </a:r>
                      <a:endParaRPr lang="en-IN" sz="3600" b="1" dirty="0"/>
                    </a:p>
                  </a:txBody>
                  <a:tcPr anchor="ctr"/>
                </a:tc>
                <a:extLst>
                  <a:ext uri="{0D108BD9-81ED-4DB2-BD59-A6C34878D82A}">
                    <a16:rowId xmlns="" xmlns:a16="http://schemas.microsoft.com/office/drawing/2014/main" val="10002"/>
                  </a:ext>
                </a:extLst>
              </a:tr>
            </a:tbl>
          </a:graphicData>
        </a:graphic>
      </p:graphicFrame>
      <p:sp>
        <p:nvSpPr>
          <p:cNvPr id="17" name="Equal 16"/>
          <p:cNvSpPr/>
          <p:nvPr/>
        </p:nvSpPr>
        <p:spPr>
          <a:xfrm>
            <a:off x="6013938" y="2692623"/>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Google Shape;507;p4"/>
          <p:cNvSpPr/>
          <p:nvPr/>
        </p:nvSpPr>
        <p:spPr>
          <a:xfrm>
            <a:off x="7702062" y="1675702"/>
            <a:ext cx="3921370" cy="410963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i="0" u="none" strike="noStrike" cap="none" dirty="0">
                <a:solidFill>
                  <a:srgbClr val="000000"/>
                </a:solidFill>
                <a:latin typeface="Calibri"/>
                <a:ea typeface="Calibri"/>
                <a:cs typeface="Calibri"/>
                <a:sym typeface="Calibri"/>
              </a:rPr>
              <a:t>The dimensions of the first matrix is 3x3 and that of the second matrix is 3x1. Therefore, the dimensions of the resultant matrix will be 3x1.  </a:t>
            </a:r>
          </a:p>
        </p:txBody>
      </p:sp>
    </p:spTree>
    <p:extLst>
      <p:ext uri="{BB962C8B-B14F-4D97-AF65-F5344CB8AC3E}">
        <p14:creationId xmlns:p14="http://schemas.microsoft.com/office/powerpoint/2010/main" val="2462961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Vector Multiplication</a:t>
            </a:r>
          </a:p>
        </p:txBody>
      </p:sp>
      <p:grpSp>
        <p:nvGrpSpPr>
          <p:cNvPr id="3" name="Group 2"/>
          <p:cNvGrpSpPr/>
          <p:nvPr/>
        </p:nvGrpSpPr>
        <p:grpSpPr>
          <a:xfrm>
            <a:off x="1160724" y="1281621"/>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1371739" y="1536602"/>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3713413915"/>
              </p:ext>
            </p:extLst>
          </p:nvPr>
        </p:nvGraphicFramePr>
        <p:xfrm>
          <a:off x="1498506" y="153660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Multiply 8"/>
          <p:cNvSpPr/>
          <p:nvPr/>
        </p:nvSpPr>
        <p:spPr>
          <a:xfrm>
            <a:off x="3954712" y="2090551"/>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2" name="Group 11"/>
          <p:cNvGrpSpPr/>
          <p:nvPr/>
        </p:nvGrpSpPr>
        <p:grpSpPr>
          <a:xfrm>
            <a:off x="4906247" y="1318937"/>
            <a:ext cx="1151843" cy="2593731"/>
            <a:chOff x="4423877" y="3182812"/>
            <a:chExt cx="1151843" cy="2593731"/>
          </a:xfrm>
        </p:grpSpPr>
        <p:sp>
          <p:nvSpPr>
            <p:cNvPr id="13" name="Left Bracket 12"/>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4" name="Right Bracket 13"/>
            <p:cNvSpPr/>
            <p:nvPr/>
          </p:nvSpPr>
          <p:spPr>
            <a:xfrm>
              <a:off x="5188859"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6" name="Table 15"/>
          <p:cNvGraphicFramePr>
            <a:graphicFrameLocks noGrp="1"/>
          </p:cNvGraphicFramePr>
          <p:nvPr>
            <p:extLst>
              <p:ext uri="{D42A27DB-BD31-4B8C-83A1-F6EECF244321}">
                <p14:modId xmlns:p14="http://schemas.microsoft.com/office/powerpoint/2010/main" val="3914263731"/>
              </p:ext>
            </p:extLst>
          </p:nvPr>
        </p:nvGraphicFramePr>
        <p:xfrm>
          <a:off x="5255617" y="1538449"/>
          <a:ext cx="500185" cy="2086266"/>
        </p:xfrm>
        <a:graphic>
          <a:graphicData uri="http://schemas.openxmlformats.org/drawingml/2006/table">
            <a:tbl>
              <a:tblPr firstRow="1" bandRow="1">
                <a:tableStyleId>{2D5ABB26-0587-4C30-8999-92F81FD0307C}</a:tableStyleId>
              </a:tblPr>
              <a:tblGrid>
                <a:gridCol w="500185">
                  <a:extLst>
                    <a:ext uri="{9D8B030D-6E8A-4147-A177-3AD203B41FA5}">
                      <a16:colId xmlns="" xmlns:a16="http://schemas.microsoft.com/office/drawing/2014/main" val="20000"/>
                    </a:ext>
                  </a:extLst>
                </a:gridCol>
              </a:tblGrid>
              <a:tr h="695422">
                <a:tc>
                  <a:txBody>
                    <a:bodyPr/>
                    <a:lstStyle/>
                    <a:p>
                      <a:pPr algn="ctr"/>
                      <a:r>
                        <a:rPr lang="af-ZA" sz="3600" b="1" dirty="0"/>
                        <a:t>1</a:t>
                      </a:r>
                      <a:endParaRPr lang="en-IN" sz="3600" b="1" dirty="0"/>
                    </a:p>
                  </a:txBody>
                  <a:tcPr anchor="ctr"/>
                </a:tc>
                <a:extLst>
                  <a:ext uri="{0D108BD9-81ED-4DB2-BD59-A6C34878D82A}">
                    <a16:rowId xmlns="" xmlns:a16="http://schemas.microsoft.com/office/drawing/2014/main" val="10000"/>
                  </a:ext>
                </a:extLst>
              </a:tr>
              <a:tr h="695422">
                <a:tc>
                  <a:txBody>
                    <a:bodyPr/>
                    <a:lstStyle/>
                    <a:p>
                      <a:pPr algn="ctr"/>
                      <a:r>
                        <a:rPr lang="af-ZA" sz="3600" b="1" dirty="0"/>
                        <a:t>2</a:t>
                      </a:r>
                      <a:endParaRPr lang="en-IN" sz="3600" b="1" dirty="0"/>
                    </a:p>
                  </a:txBody>
                  <a:tcPr anchor="ctr"/>
                </a:tc>
                <a:extLst>
                  <a:ext uri="{0D108BD9-81ED-4DB2-BD59-A6C34878D82A}">
                    <a16:rowId xmlns="" xmlns:a16="http://schemas.microsoft.com/office/drawing/2014/main" val="10001"/>
                  </a:ext>
                </a:extLst>
              </a:tr>
              <a:tr h="695422">
                <a:tc>
                  <a:txBody>
                    <a:bodyPr/>
                    <a:lstStyle/>
                    <a:p>
                      <a:pPr algn="ctr"/>
                      <a:r>
                        <a:rPr lang="af-ZA" sz="3600" b="1" dirty="0"/>
                        <a:t>4</a:t>
                      </a:r>
                      <a:endParaRPr lang="en-IN" sz="3600" b="1" dirty="0"/>
                    </a:p>
                  </a:txBody>
                  <a:tcPr anchor="ctr"/>
                </a:tc>
                <a:extLst>
                  <a:ext uri="{0D108BD9-81ED-4DB2-BD59-A6C34878D82A}">
                    <a16:rowId xmlns="" xmlns:a16="http://schemas.microsoft.com/office/drawing/2014/main" val="10002"/>
                  </a:ext>
                </a:extLst>
              </a:tr>
            </a:tbl>
          </a:graphicData>
        </a:graphic>
      </p:graphicFrame>
      <p:sp>
        <p:nvSpPr>
          <p:cNvPr id="17" name="Equal 16"/>
          <p:cNvSpPr/>
          <p:nvPr/>
        </p:nvSpPr>
        <p:spPr>
          <a:xfrm>
            <a:off x="6551856" y="2167371"/>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15" name="Group 14"/>
          <p:cNvGrpSpPr/>
          <p:nvPr/>
        </p:nvGrpSpPr>
        <p:grpSpPr>
          <a:xfrm>
            <a:off x="8827617" y="1318937"/>
            <a:ext cx="1151843" cy="2593731"/>
            <a:chOff x="4423877" y="3182812"/>
            <a:chExt cx="1151843" cy="2593731"/>
          </a:xfrm>
        </p:grpSpPr>
        <p:sp>
          <p:nvSpPr>
            <p:cNvPr id="18" name="Left Bracket 1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0" name="Right Bracket 19"/>
            <p:cNvSpPr/>
            <p:nvPr/>
          </p:nvSpPr>
          <p:spPr>
            <a:xfrm>
              <a:off x="5188859"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1" name="Table 20"/>
          <p:cNvGraphicFramePr>
            <a:graphicFrameLocks noGrp="1"/>
          </p:cNvGraphicFramePr>
          <p:nvPr>
            <p:extLst>
              <p:ext uri="{D42A27DB-BD31-4B8C-83A1-F6EECF244321}">
                <p14:modId xmlns:p14="http://schemas.microsoft.com/office/powerpoint/2010/main" val="3694688614"/>
              </p:ext>
            </p:extLst>
          </p:nvPr>
        </p:nvGraphicFramePr>
        <p:xfrm>
          <a:off x="9127721" y="1535353"/>
          <a:ext cx="500185" cy="2086266"/>
        </p:xfrm>
        <a:graphic>
          <a:graphicData uri="http://schemas.openxmlformats.org/drawingml/2006/table">
            <a:tbl>
              <a:tblPr firstRow="1" bandRow="1">
                <a:tableStyleId>{2D5ABB26-0587-4C30-8999-92F81FD0307C}</a:tableStyleId>
              </a:tblPr>
              <a:tblGrid>
                <a:gridCol w="500185">
                  <a:extLst>
                    <a:ext uri="{9D8B030D-6E8A-4147-A177-3AD203B41FA5}">
                      <a16:colId xmlns="" xmlns:a16="http://schemas.microsoft.com/office/drawing/2014/main" val="20000"/>
                    </a:ext>
                  </a:extLst>
                </a:gridCol>
              </a:tblGrid>
              <a:tr h="695422">
                <a:tc>
                  <a:txBody>
                    <a:bodyPr/>
                    <a:lstStyle/>
                    <a:p>
                      <a:pPr algn="ctr"/>
                      <a:r>
                        <a:rPr lang="af-ZA" sz="3600" b="1" dirty="0"/>
                        <a:t>X</a:t>
                      </a:r>
                      <a:endParaRPr lang="en-IN" sz="3600" b="1" dirty="0"/>
                    </a:p>
                  </a:txBody>
                  <a:tcPr anchor="ctr"/>
                </a:tc>
                <a:extLst>
                  <a:ext uri="{0D108BD9-81ED-4DB2-BD59-A6C34878D82A}">
                    <a16:rowId xmlns="" xmlns:a16="http://schemas.microsoft.com/office/drawing/2014/main" val="10000"/>
                  </a:ext>
                </a:extLst>
              </a:tr>
              <a:tr h="695422">
                <a:tc>
                  <a:txBody>
                    <a:bodyPr/>
                    <a:lstStyle/>
                    <a:p>
                      <a:pPr algn="ctr"/>
                      <a:r>
                        <a:rPr lang="af-ZA" sz="3600" b="1" dirty="0"/>
                        <a:t>Y</a:t>
                      </a:r>
                      <a:endParaRPr lang="en-IN" sz="3600" b="1" dirty="0"/>
                    </a:p>
                  </a:txBody>
                  <a:tcPr anchor="ctr"/>
                </a:tc>
                <a:extLst>
                  <a:ext uri="{0D108BD9-81ED-4DB2-BD59-A6C34878D82A}">
                    <a16:rowId xmlns="" xmlns:a16="http://schemas.microsoft.com/office/drawing/2014/main" val="10001"/>
                  </a:ext>
                </a:extLst>
              </a:tr>
              <a:tr h="695422">
                <a:tc>
                  <a:txBody>
                    <a:bodyPr/>
                    <a:lstStyle/>
                    <a:p>
                      <a:pPr algn="ctr"/>
                      <a:r>
                        <a:rPr lang="af-ZA" sz="3600" b="1" dirty="0"/>
                        <a:t>Z</a:t>
                      </a:r>
                      <a:endParaRPr lang="en-IN" sz="3600" b="1" dirty="0"/>
                    </a:p>
                  </a:txBody>
                  <a:tcPr anchor="ctr"/>
                </a:tc>
                <a:extLst>
                  <a:ext uri="{0D108BD9-81ED-4DB2-BD59-A6C34878D82A}">
                    <a16:rowId xmlns="" xmlns:a16="http://schemas.microsoft.com/office/drawing/2014/main" val="10002"/>
                  </a:ext>
                </a:extLst>
              </a:tr>
            </a:tbl>
          </a:graphicData>
        </a:graphic>
      </p:graphicFrame>
      <p:sp>
        <p:nvSpPr>
          <p:cNvPr id="22" name="Google Shape;507;p4"/>
          <p:cNvSpPr/>
          <p:nvPr/>
        </p:nvSpPr>
        <p:spPr>
          <a:xfrm>
            <a:off x="694781" y="4255477"/>
            <a:ext cx="10726617" cy="1468314"/>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For finding the elements of the resultant matrix, we multiply the rows of the first matrix to the column of the second matrix.</a:t>
            </a:r>
            <a:endParaRPr lang="af-ZA" sz="2000" i="0" u="none" strike="noStrike" cap="none"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128351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Vector Multiplication</a:t>
            </a:r>
          </a:p>
        </p:txBody>
      </p:sp>
      <p:grpSp>
        <p:nvGrpSpPr>
          <p:cNvPr id="3" name="Group 2"/>
          <p:cNvGrpSpPr/>
          <p:nvPr/>
        </p:nvGrpSpPr>
        <p:grpSpPr>
          <a:xfrm>
            <a:off x="1653076" y="1202493"/>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1864091" y="1457474"/>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1950058754"/>
              </p:ext>
            </p:extLst>
          </p:nvPr>
        </p:nvGraphicFramePr>
        <p:xfrm>
          <a:off x="1990858" y="1457474"/>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Multiply 8"/>
          <p:cNvSpPr/>
          <p:nvPr/>
        </p:nvSpPr>
        <p:spPr>
          <a:xfrm>
            <a:off x="4447064" y="2011423"/>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2" name="Group 11"/>
          <p:cNvGrpSpPr/>
          <p:nvPr/>
        </p:nvGrpSpPr>
        <p:grpSpPr>
          <a:xfrm>
            <a:off x="5398599" y="1239809"/>
            <a:ext cx="1151843" cy="2593731"/>
            <a:chOff x="4423877" y="3182812"/>
            <a:chExt cx="1151843" cy="2593731"/>
          </a:xfrm>
        </p:grpSpPr>
        <p:sp>
          <p:nvSpPr>
            <p:cNvPr id="13" name="Left Bracket 12"/>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4" name="Right Bracket 13"/>
            <p:cNvSpPr/>
            <p:nvPr/>
          </p:nvSpPr>
          <p:spPr>
            <a:xfrm>
              <a:off x="5188859"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6" name="Table 15"/>
          <p:cNvGraphicFramePr>
            <a:graphicFrameLocks noGrp="1"/>
          </p:cNvGraphicFramePr>
          <p:nvPr>
            <p:extLst>
              <p:ext uri="{D42A27DB-BD31-4B8C-83A1-F6EECF244321}">
                <p14:modId xmlns:p14="http://schemas.microsoft.com/office/powerpoint/2010/main" val="459865076"/>
              </p:ext>
            </p:extLst>
          </p:nvPr>
        </p:nvGraphicFramePr>
        <p:xfrm>
          <a:off x="5747969" y="1459321"/>
          <a:ext cx="500185" cy="2086266"/>
        </p:xfrm>
        <a:graphic>
          <a:graphicData uri="http://schemas.openxmlformats.org/drawingml/2006/table">
            <a:tbl>
              <a:tblPr firstRow="1" bandRow="1">
                <a:tableStyleId>{2D5ABB26-0587-4C30-8999-92F81FD0307C}</a:tableStyleId>
              </a:tblPr>
              <a:tblGrid>
                <a:gridCol w="500185">
                  <a:extLst>
                    <a:ext uri="{9D8B030D-6E8A-4147-A177-3AD203B41FA5}">
                      <a16:colId xmlns="" xmlns:a16="http://schemas.microsoft.com/office/drawing/2014/main" val="20000"/>
                    </a:ext>
                  </a:extLst>
                </a:gridCol>
              </a:tblGrid>
              <a:tr h="695422">
                <a:tc>
                  <a:txBody>
                    <a:bodyPr/>
                    <a:lstStyle/>
                    <a:p>
                      <a:pPr algn="ctr"/>
                      <a:r>
                        <a:rPr lang="af-ZA" sz="3600" b="1" dirty="0"/>
                        <a:t>1</a:t>
                      </a:r>
                      <a:endParaRPr lang="en-IN" sz="3600" b="1" dirty="0"/>
                    </a:p>
                  </a:txBody>
                  <a:tcPr anchor="ctr"/>
                </a:tc>
                <a:extLst>
                  <a:ext uri="{0D108BD9-81ED-4DB2-BD59-A6C34878D82A}">
                    <a16:rowId xmlns="" xmlns:a16="http://schemas.microsoft.com/office/drawing/2014/main" val="10000"/>
                  </a:ext>
                </a:extLst>
              </a:tr>
              <a:tr h="695422">
                <a:tc>
                  <a:txBody>
                    <a:bodyPr/>
                    <a:lstStyle/>
                    <a:p>
                      <a:pPr algn="ctr"/>
                      <a:r>
                        <a:rPr lang="af-ZA" sz="3600" b="1" dirty="0"/>
                        <a:t>2</a:t>
                      </a:r>
                      <a:endParaRPr lang="en-IN" sz="3600" b="1" dirty="0"/>
                    </a:p>
                  </a:txBody>
                  <a:tcPr anchor="ctr"/>
                </a:tc>
                <a:extLst>
                  <a:ext uri="{0D108BD9-81ED-4DB2-BD59-A6C34878D82A}">
                    <a16:rowId xmlns="" xmlns:a16="http://schemas.microsoft.com/office/drawing/2014/main" val="10001"/>
                  </a:ext>
                </a:extLst>
              </a:tr>
              <a:tr h="695422">
                <a:tc>
                  <a:txBody>
                    <a:bodyPr/>
                    <a:lstStyle/>
                    <a:p>
                      <a:pPr algn="ctr"/>
                      <a:r>
                        <a:rPr lang="af-ZA" sz="3600" b="1" dirty="0"/>
                        <a:t>4</a:t>
                      </a:r>
                      <a:endParaRPr lang="en-IN" sz="3600" b="1" dirty="0"/>
                    </a:p>
                  </a:txBody>
                  <a:tcPr anchor="ctr"/>
                </a:tc>
                <a:extLst>
                  <a:ext uri="{0D108BD9-81ED-4DB2-BD59-A6C34878D82A}">
                    <a16:rowId xmlns="" xmlns:a16="http://schemas.microsoft.com/office/drawing/2014/main" val="10002"/>
                  </a:ext>
                </a:extLst>
              </a:tr>
            </a:tbl>
          </a:graphicData>
        </a:graphic>
      </p:graphicFrame>
      <p:sp>
        <p:nvSpPr>
          <p:cNvPr id="17" name="Equal 16"/>
          <p:cNvSpPr/>
          <p:nvPr/>
        </p:nvSpPr>
        <p:spPr>
          <a:xfrm>
            <a:off x="7044208" y="2088243"/>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15" name="Group 14"/>
          <p:cNvGrpSpPr/>
          <p:nvPr/>
        </p:nvGrpSpPr>
        <p:grpSpPr>
          <a:xfrm>
            <a:off x="9319969" y="1239809"/>
            <a:ext cx="1450771" cy="2593731"/>
            <a:chOff x="4423877" y="3182812"/>
            <a:chExt cx="1450771" cy="2593731"/>
          </a:xfrm>
        </p:grpSpPr>
        <p:sp>
          <p:nvSpPr>
            <p:cNvPr id="18" name="Left Bracket 1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0" name="Right Bracket 19"/>
            <p:cNvSpPr/>
            <p:nvPr/>
          </p:nvSpPr>
          <p:spPr>
            <a:xfrm>
              <a:off x="5487787"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1" name="Table 20"/>
          <p:cNvGraphicFramePr>
            <a:graphicFrameLocks noGrp="1"/>
          </p:cNvGraphicFramePr>
          <p:nvPr>
            <p:extLst>
              <p:ext uri="{D42A27DB-BD31-4B8C-83A1-F6EECF244321}">
                <p14:modId xmlns:p14="http://schemas.microsoft.com/office/powerpoint/2010/main" val="3327478127"/>
              </p:ext>
            </p:extLst>
          </p:nvPr>
        </p:nvGraphicFramePr>
        <p:xfrm>
          <a:off x="9620073" y="1456225"/>
          <a:ext cx="983450" cy="2086266"/>
        </p:xfrm>
        <a:graphic>
          <a:graphicData uri="http://schemas.openxmlformats.org/drawingml/2006/table">
            <a:tbl>
              <a:tblPr firstRow="1" bandRow="1">
                <a:tableStyleId>{2D5ABB26-0587-4C30-8999-92F81FD0307C}</a:tableStyleId>
              </a:tblPr>
              <a:tblGrid>
                <a:gridCol w="983450">
                  <a:extLst>
                    <a:ext uri="{9D8B030D-6E8A-4147-A177-3AD203B41FA5}">
                      <a16:colId xmlns="" xmlns:a16="http://schemas.microsoft.com/office/drawing/2014/main" val="20000"/>
                    </a:ext>
                  </a:extLst>
                </a:gridCol>
              </a:tblGrid>
              <a:tr h="695422">
                <a:tc>
                  <a:txBody>
                    <a:bodyPr/>
                    <a:lstStyle/>
                    <a:p>
                      <a:pPr algn="ctr"/>
                      <a:r>
                        <a:rPr lang="af-ZA" sz="3600" b="1" dirty="0"/>
                        <a:t>45</a:t>
                      </a:r>
                      <a:endParaRPr lang="en-IN" sz="3600" b="1" dirty="0"/>
                    </a:p>
                  </a:txBody>
                  <a:tcPr anchor="ctr"/>
                </a:tc>
                <a:extLst>
                  <a:ext uri="{0D108BD9-81ED-4DB2-BD59-A6C34878D82A}">
                    <a16:rowId xmlns="" xmlns:a16="http://schemas.microsoft.com/office/drawing/2014/main" val="10000"/>
                  </a:ext>
                </a:extLst>
              </a:tr>
              <a:tr h="695422">
                <a:tc>
                  <a:txBody>
                    <a:bodyPr/>
                    <a:lstStyle/>
                    <a:p>
                      <a:pPr algn="ctr"/>
                      <a:r>
                        <a:rPr lang="af-ZA" sz="3600" b="1" dirty="0"/>
                        <a:t>44</a:t>
                      </a:r>
                      <a:endParaRPr lang="en-IN" sz="3600" b="1" dirty="0"/>
                    </a:p>
                  </a:txBody>
                  <a:tcPr anchor="ctr"/>
                </a:tc>
                <a:extLst>
                  <a:ext uri="{0D108BD9-81ED-4DB2-BD59-A6C34878D82A}">
                    <a16:rowId xmlns="" xmlns:a16="http://schemas.microsoft.com/office/drawing/2014/main" val="10001"/>
                  </a:ext>
                </a:extLst>
              </a:tr>
              <a:tr h="695422">
                <a:tc>
                  <a:txBody>
                    <a:bodyPr/>
                    <a:lstStyle/>
                    <a:p>
                      <a:pPr algn="ctr"/>
                      <a:r>
                        <a:rPr lang="af-ZA" sz="3600" b="1" dirty="0"/>
                        <a:t>39</a:t>
                      </a:r>
                      <a:endParaRPr lang="en-IN" sz="3600" b="1" dirty="0"/>
                    </a:p>
                  </a:txBody>
                  <a:tcPr anchor="ctr"/>
                </a:tc>
                <a:extLst>
                  <a:ext uri="{0D108BD9-81ED-4DB2-BD59-A6C34878D82A}">
                    <a16:rowId xmlns="" xmlns:a16="http://schemas.microsoft.com/office/drawing/2014/main" val="10002"/>
                  </a:ext>
                </a:extLst>
              </a:tr>
            </a:tbl>
          </a:graphicData>
        </a:graphic>
      </p:graphicFrame>
      <p:sp>
        <p:nvSpPr>
          <p:cNvPr id="2" name="Flowchart: Alternate Process 1"/>
          <p:cNvSpPr/>
          <p:nvPr/>
        </p:nvSpPr>
        <p:spPr>
          <a:xfrm>
            <a:off x="2813797" y="4119196"/>
            <a:ext cx="6938580"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af-ZA" sz="2800" b="1" dirty="0">
                <a:solidFill>
                  <a:schemeClr val="tx1"/>
                </a:solidFill>
              </a:rPr>
              <a:t>X = (5x1) + (2x2) + (9x4) = 5+4+36 = 45</a:t>
            </a:r>
            <a:endParaRPr lang="en-IN" sz="2800" b="1" dirty="0">
              <a:solidFill>
                <a:schemeClr val="tx1"/>
              </a:solidFill>
            </a:endParaRPr>
          </a:p>
        </p:txBody>
      </p:sp>
      <p:sp>
        <p:nvSpPr>
          <p:cNvPr id="23" name="Flowchart: Alternate Process 22"/>
          <p:cNvSpPr/>
          <p:nvPr/>
        </p:nvSpPr>
        <p:spPr>
          <a:xfrm>
            <a:off x="2813799" y="4840153"/>
            <a:ext cx="6938580" cy="562707"/>
          </a:xfrm>
          <a:prstGeom prst="flowChartAlternateProcess">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af-ZA" sz="2800" b="1" dirty="0">
                <a:solidFill>
                  <a:schemeClr val="tx1"/>
                </a:solidFill>
              </a:rPr>
              <a:t>Y = (4x1) + (6x2) + (7x4) = 4+12+28 = 44</a:t>
            </a:r>
            <a:endParaRPr lang="en-IN" sz="2800" b="1" dirty="0">
              <a:solidFill>
                <a:schemeClr val="tx1"/>
              </a:solidFill>
            </a:endParaRPr>
          </a:p>
        </p:txBody>
      </p:sp>
      <p:sp>
        <p:nvSpPr>
          <p:cNvPr id="24" name="Flowchart: Alternate Process 23"/>
          <p:cNvSpPr/>
          <p:nvPr/>
        </p:nvSpPr>
        <p:spPr>
          <a:xfrm>
            <a:off x="2813798" y="5534746"/>
            <a:ext cx="6938580" cy="562707"/>
          </a:xfrm>
          <a:prstGeom prst="flowChartAlternateProcess">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af-ZA" sz="2800" b="1" dirty="0">
                <a:solidFill>
                  <a:schemeClr val="tx1"/>
                </a:solidFill>
              </a:rPr>
              <a:t>Z = (1x1) + (3x2) + (8x4) = 1+6+32 = 39</a:t>
            </a:r>
            <a:endParaRPr lang="en-IN" sz="2800" b="1" dirty="0">
              <a:solidFill>
                <a:schemeClr val="tx1"/>
              </a:solidFill>
            </a:endParaRPr>
          </a:p>
        </p:txBody>
      </p:sp>
      <p:sp>
        <p:nvSpPr>
          <p:cNvPr id="26" name="Flowchart: Alternate Process 25"/>
          <p:cNvSpPr/>
          <p:nvPr/>
        </p:nvSpPr>
        <p:spPr>
          <a:xfrm>
            <a:off x="2075107" y="1521233"/>
            <a:ext cx="1802423"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27" name="Flowchart: Alternate Process 26"/>
          <p:cNvSpPr/>
          <p:nvPr/>
        </p:nvSpPr>
        <p:spPr>
          <a:xfrm rot="5400000">
            <a:off x="4944720" y="2232224"/>
            <a:ext cx="2112205"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28" name="Flowchart: Alternate Process 27"/>
          <p:cNvSpPr/>
          <p:nvPr/>
        </p:nvSpPr>
        <p:spPr>
          <a:xfrm rot="5400000">
            <a:off x="9865050" y="1477353"/>
            <a:ext cx="562707" cy="65046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31" name="Flowchart: Alternate Process 30"/>
          <p:cNvSpPr/>
          <p:nvPr/>
        </p:nvSpPr>
        <p:spPr>
          <a:xfrm>
            <a:off x="2075107" y="2218004"/>
            <a:ext cx="1802423" cy="562707"/>
          </a:xfrm>
          <a:prstGeom prst="flowChartAlternateProcess">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32" name="Flowchart: Alternate Process 31"/>
          <p:cNvSpPr/>
          <p:nvPr/>
        </p:nvSpPr>
        <p:spPr>
          <a:xfrm>
            <a:off x="2075106" y="2912597"/>
            <a:ext cx="1802423" cy="562707"/>
          </a:xfrm>
          <a:prstGeom prst="flowChartAlternateProcess">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33" name="Flowchart: Alternate Process 32"/>
          <p:cNvSpPr/>
          <p:nvPr/>
        </p:nvSpPr>
        <p:spPr>
          <a:xfrm rot="5400000">
            <a:off x="4958365" y="2232224"/>
            <a:ext cx="2112205" cy="562707"/>
          </a:xfrm>
          <a:prstGeom prst="flowChartAlternateProcess">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34" name="Flowchart: Alternate Process 33"/>
          <p:cNvSpPr/>
          <p:nvPr/>
        </p:nvSpPr>
        <p:spPr>
          <a:xfrm rot="5400000">
            <a:off x="4944719" y="2232224"/>
            <a:ext cx="2112205" cy="562707"/>
          </a:xfrm>
          <a:prstGeom prst="flowChartAlternateProcess">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35" name="Flowchart: Alternate Process 34"/>
          <p:cNvSpPr/>
          <p:nvPr/>
        </p:nvSpPr>
        <p:spPr>
          <a:xfrm rot="5400000">
            <a:off x="9865050" y="2188343"/>
            <a:ext cx="562707" cy="650467"/>
          </a:xfrm>
          <a:prstGeom prst="flowChartAlternateProcess">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36" name="Flowchart: Alternate Process 35"/>
          <p:cNvSpPr/>
          <p:nvPr/>
        </p:nvSpPr>
        <p:spPr>
          <a:xfrm rot="5400000">
            <a:off x="9865050" y="2868717"/>
            <a:ext cx="562707" cy="650467"/>
          </a:xfrm>
          <a:prstGeom prst="flowChartAlternateProcess">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Tree>
    <p:extLst>
      <p:ext uri="{BB962C8B-B14F-4D97-AF65-F5344CB8AC3E}">
        <p14:creationId xmlns:p14="http://schemas.microsoft.com/office/powerpoint/2010/main" val="1209883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500"/>
                                        <p:tgtEl>
                                          <p:spTgt spid="3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500"/>
                                        <p:tgtEl>
                                          <p:spTgt spid="3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3" grpId="0" animBg="1"/>
      <p:bldP spid="24" grpId="0" animBg="1"/>
      <p:bldP spid="26" grpId="0" animBg="1"/>
      <p:bldP spid="27" grpId="0" animBg="1"/>
      <p:bldP spid="28" grpId="0" animBg="1"/>
      <p:bldP spid="31" grpId="0" animBg="1"/>
      <p:bldP spid="32" grpId="0" animBg="1"/>
      <p:bldP spid="33" grpId="0" animBg="1"/>
      <p:bldP spid="34" grpId="0" animBg="1"/>
      <p:bldP spid="35" grpId="0" animBg="1"/>
      <p:bldP spid="3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6" name="Google Shape;507;p4"/>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4" name="TextBox 3"/>
          <p:cNvSpPr txBox="1"/>
          <p:nvPr/>
        </p:nvSpPr>
        <p:spPr>
          <a:xfrm>
            <a:off x="8748346" y="1547454"/>
            <a:ext cx="1828800" cy="369332"/>
          </a:xfrm>
          <a:prstGeom prst="rect">
            <a:avLst/>
          </a:prstGeom>
          <a:noFill/>
        </p:spPr>
        <p:txBody>
          <a:bodyPr wrap="square" rtlCol="0">
            <a:spAutoFit/>
          </a:bodyPr>
          <a:lstStyle/>
          <a:p>
            <a:pPr algn="ctr"/>
            <a:r>
              <a:rPr lang="af-ZA" sz="1800" b="1" dirty="0"/>
              <a:t>Output</a:t>
            </a:r>
            <a:endParaRPr lang="en-IN" sz="1800" b="1" dirty="0"/>
          </a:p>
        </p:txBody>
      </p:sp>
      <p:sp>
        <p:nvSpPr>
          <p:cNvPr id="22" name="Google Shape;507;p4"/>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used the numpy.dot() method to multiply the two matrices.</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183" y="2214748"/>
            <a:ext cx="5755793" cy="1785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48346" y="2188305"/>
            <a:ext cx="1905123" cy="2024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9392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Matrix Multiplication</a:t>
            </a:r>
          </a:p>
        </p:txBody>
      </p:sp>
      <p:grpSp>
        <p:nvGrpSpPr>
          <p:cNvPr id="3" name="Group 2"/>
          <p:cNvGrpSpPr/>
          <p:nvPr/>
        </p:nvGrpSpPr>
        <p:grpSpPr>
          <a:xfrm>
            <a:off x="622806" y="2348767"/>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833821" y="2603748"/>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985260062"/>
              </p:ext>
            </p:extLst>
          </p:nvPr>
        </p:nvGraphicFramePr>
        <p:xfrm>
          <a:off x="960588" y="2603748"/>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Multiply 8"/>
          <p:cNvSpPr/>
          <p:nvPr/>
        </p:nvSpPr>
        <p:spPr>
          <a:xfrm>
            <a:off x="3416794" y="3157697"/>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2" name="Group 11"/>
          <p:cNvGrpSpPr/>
          <p:nvPr/>
        </p:nvGrpSpPr>
        <p:grpSpPr>
          <a:xfrm rot="5400000">
            <a:off x="4280123" y="2786658"/>
            <a:ext cx="2584618" cy="1727063"/>
            <a:chOff x="4423877" y="3182812"/>
            <a:chExt cx="1894793" cy="2593731"/>
          </a:xfrm>
        </p:grpSpPr>
        <p:sp>
          <p:nvSpPr>
            <p:cNvPr id="13" name="Left Bracket 12"/>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4" name="Right Bracket 13"/>
            <p:cNvSpPr/>
            <p:nvPr/>
          </p:nvSpPr>
          <p:spPr>
            <a:xfrm>
              <a:off x="5931809"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16" name="Equal 15"/>
          <p:cNvSpPr/>
          <p:nvPr/>
        </p:nvSpPr>
        <p:spPr>
          <a:xfrm>
            <a:off x="7042638" y="3166543"/>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TextBox 20"/>
          <p:cNvSpPr txBox="1"/>
          <p:nvPr/>
        </p:nvSpPr>
        <p:spPr>
          <a:xfrm>
            <a:off x="9142552" y="2603694"/>
            <a:ext cx="633046" cy="307777"/>
          </a:xfrm>
          <a:prstGeom prst="rect">
            <a:avLst/>
          </a:prstGeom>
          <a:noFill/>
        </p:spPr>
        <p:txBody>
          <a:bodyPr wrap="square" rtlCol="0">
            <a:spAutoFit/>
          </a:bodyPr>
          <a:lstStyle/>
          <a:p>
            <a:endParaRPr lang="en-IN" dirty="0"/>
          </a:p>
        </p:txBody>
      </p:sp>
      <p:sp>
        <p:nvSpPr>
          <p:cNvPr id="23" name="Google Shape;507;p4"/>
          <p:cNvSpPr/>
          <p:nvPr/>
        </p:nvSpPr>
        <p:spPr>
          <a:xfrm>
            <a:off x="8335107" y="1753508"/>
            <a:ext cx="3534507" cy="352934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i="0" u="none" strike="noStrike" cap="none" dirty="0">
                <a:solidFill>
                  <a:srgbClr val="000000"/>
                </a:solidFill>
                <a:latin typeface="Calibri"/>
                <a:ea typeface="Calibri"/>
                <a:cs typeface="Calibri"/>
                <a:sym typeface="Calibri"/>
              </a:rPr>
              <a:t>Similar to the vector multiplication, we will determine the dimension of the resultant matrix from these two matrices. </a:t>
            </a:r>
          </a:p>
        </p:txBody>
      </p:sp>
      <p:graphicFrame>
        <p:nvGraphicFramePr>
          <p:cNvPr id="10" name="Table 9"/>
          <p:cNvGraphicFramePr>
            <a:graphicFrameLocks noGrp="1"/>
          </p:cNvGraphicFramePr>
          <p:nvPr>
            <p:extLst>
              <p:ext uri="{D42A27DB-BD31-4B8C-83A1-F6EECF244321}">
                <p14:modId xmlns:p14="http://schemas.microsoft.com/office/powerpoint/2010/main" val="1280405594"/>
              </p:ext>
            </p:extLst>
          </p:nvPr>
        </p:nvGraphicFramePr>
        <p:xfrm>
          <a:off x="4855302" y="2603748"/>
          <a:ext cx="1434260" cy="2129043"/>
        </p:xfrm>
        <a:graphic>
          <a:graphicData uri="http://schemas.openxmlformats.org/drawingml/2006/table">
            <a:tbl>
              <a:tblPr firstRow="1" bandRow="1">
                <a:tableStyleId>{2D5ABB26-0587-4C30-8999-92F81FD0307C}</a:tableStyleId>
              </a:tblPr>
              <a:tblGrid>
                <a:gridCol w="717130">
                  <a:extLst>
                    <a:ext uri="{9D8B030D-6E8A-4147-A177-3AD203B41FA5}">
                      <a16:colId xmlns="" xmlns:a16="http://schemas.microsoft.com/office/drawing/2014/main" val="20000"/>
                    </a:ext>
                  </a:extLst>
                </a:gridCol>
                <a:gridCol w="717130">
                  <a:extLst>
                    <a:ext uri="{9D8B030D-6E8A-4147-A177-3AD203B41FA5}">
                      <a16:colId xmlns="" xmlns:a16="http://schemas.microsoft.com/office/drawing/2014/main" val="20001"/>
                    </a:ext>
                  </a:extLst>
                </a:gridCol>
              </a:tblGrid>
              <a:tr h="709681">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2</a:t>
                      </a:r>
                      <a:endParaRPr lang="en-IN" sz="3600" b="1" dirty="0">
                        <a:solidFill>
                          <a:schemeClr val="tx1"/>
                        </a:solidFill>
                      </a:endParaRPr>
                    </a:p>
                  </a:txBody>
                  <a:tcPr anchor="ctr"/>
                </a:tc>
                <a:extLst>
                  <a:ext uri="{0D108BD9-81ED-4DB2-BD59-A6C34878D82A}">
                    <a16:rowId xmlns="" xmlns:a16="http://schemas.microsoft.com/office/drawing/2014/main" val="10000"/>
                  </a:ext>
                </a:extLst>
              </a:tr>
              <a:tr h="709681">
                <a:tc>
                  <a:txBody>
                    <a:bodyPr/>
                    <a:lstStyle/>
                    <a:p>
                      <a:pPr algn="ctr"/>
                      <a:r>
                        <a:rPr lang="af-ZA" sz="3600" b="1" dirty="0">
                          <a:solidFill>
                            <a:schemeClr val="tx1"/>
                          </a:solidFill>
                        </a:rPr>
                        <a:t>2</a:t>
                      </a:r>
                      <a:endParaRPr lang="en-IN" sz="3600" b="1" dirty="0">
                        <a:solidFill>
                          <a:schemeClr val="tx1"/>
                        </a:solidFill>
                      </a:endParaRPr>
                    </a:p>
                  </a:txBody>
                  <a:tcPr anchor="ctr"/>
                </a:tc>
                <a:tc>
                  <a:txBody>
                    <a:bodyPr/>
                    <a:lstStyle/>
                    <a:p>
                      <a:pPr algn="ctr"/>
                      <a:r>
                        <a:rPr lang="af-ZA" sz="3600" b="1" dirty="0">
                          <a:solidFill>
                            <a:schemeClr val="tx1"/>
                          </a:solidFill>
                        </a:rPr>
                        <a:t>1</a:t>
                      </a:r>
                      <a:endParaRPr lang="en-IN" sz="3600" b="1" dirty="0">
                        <a:solidFill>
                          <a:schemeClr val="tx1"/>
                        </a:solidFill>
                      </a:endParaRPr>
                    </a:p>
                  </a:txBody>
                  <a:tcPr anchor="ctr"/>
                </a:tc>
                <a:extLst>
                  <a:ext uri="{0D108BD9-81ED-4DB2-BD59-A6C34878D82A}">
                    <a16:rowId xmlns="" xmlns:a16="http://schemas.microsoft.com/office/drawing/2014/main" val="10001"/>
                  </a:ext>
                </a:extLst>
              </a:tr>
              <a:tr h="709681">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2</a:t>
                      </a:r>
                      <a:endParaRPr lang="en-IN" sz="3600" b="1" dirty="0">
                        <a:solidFill>
                          <a:schemeClr val="tx1"/>
                        </a:solidFill>
                      </a:endParaRPr>
                    </a:p>
                  </a:txBody>
                  <a:tcPr anchor="ct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422400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Matrix Multiplication</a:t>
            </a:r>
          </a:p>
        </p:txBody>
      </p:sp>
      <p:grpSp>
        <p:nvGrpSpPr>
          <p:cNvPr id="3" name="Group 2"/>
          <p:cNvGrpSpPr/>
          <p:nvPr/>
        </p:nvGrpSpPr>
        <p:grpSpPr>
          <a:xfrm>
            <a:off x="622806" y="2348767"/>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833821" y="2603748"/>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1923099299"/>
              </p:ext>
            </p:extLst>
          </p:nvPr>
        </p:nvGraphicFramePr>
        <p:xfrm>
          <a:off x="960588" y="2603748"/>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Multiply 8"/>
          <p:cNvSpPr/>
          <p:nvPr/>
        </p:nvSpPr>
        <p:spPr>
          <a:xfrm>
            <a:off x="3416794" y="3157697"/>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Equal 15"/>
          <p:cNvSpPr/>
          <p:nvPr/>
        </p:nvSpPr>
        <p:spPr>
          <a:xfrm>
            <a:off x="7042638" y="3166543"/>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TextBox 20"/>
          <p:cNvSpPr txBox="1"/>
          <p:nvPr/>
        </p:nvSpPr>
        <p:spPr>
          <a:xfrm>
            <a:off x="9142552" y="2603694"/>
            <a:ext cx="633046" cy="307777"/>
          </a:xfrm>
          <a:prstGeom prst="rect">
            <a:avLst/>
          </a:prstGeom>
          <a:noFill/>
        </p:spPr>
        <p:txBody>
          <a:bodyPr wrap="square" rtlCol="0">
            <a:spAutoFit/>
          </a:bodyPr>
          <a:lstStyle/>
          <a:p>
            <a:endParaRPr lang="en-IN" dirty="0"/>
          </a:p>
        </p:txBody>
      </p:sp>
      <p:sp>
        <p:nvSpPr>
          <p:cNvPr id="23" name="Google Shape;507;p4"/>
          <p:cNvSpPr/>
          <p:nvPr/>
        </p:nvSpPr>
        <p:spPr>
          <a:xfrm>
            <a:off x="8335107" y="1753508"/>
            <a:ext cx="3534507" cy="352934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i="0" u="none" strike="noStrike" cap="none" dirty="0">
                <a:solidFill>
                  <a:srgbClr val="000000"/>
                </a:solidFill>
                <a:latin typeface="Calibri"/>
                <a:ea typeface="Calibri"/>
                <a:cs typeface="Calibri"/>
                <a:sym typeface="Calibri"/>
              </a:rPr>
              <a:t>The dimension of the first matrix is 3x3 and that of the second matrix is 3x2. Therefore the dimension of the resultant matrix will be 3x2. </a:t>
            </a:r>
          </a:p>
        </p:txBody>
      </p:sp>
      <p:grpSp>
        <p:nvGrpSpPr>
          <p:cNvPr id="17" name="Group 16"/>
          <p:cNvGrpSpPr/>
          <p:nvPr/>
        </p:nvGrpSpPr>
        <p:grpSpPr>
          <a:xfrm rot="5400000">
            <a:off x="4280123" y="2786658"/>
            <a:ext cx="2584618" cy="1727063"/>
            <a:chOff x="4423877" y="3182812"/>
            <a:chExt cx="1894793" cy="2593731"/>
          </a:xfrm>
        </p:grpSpPr>
        <p:sp>
          <p:nvSpPr>
            <p:cNvPr id="18" name="Left Bracket 1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Right Bracket 18"/>
            <p:cNvSpPr/>
            <p:nvPr/>
          </p:nvSpPr>
          <p:spPr>
            <a:xfrm>
              <a:off x="5931809"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0" name="Table 19"/>
          <p:cNvGraphicFramePr>
            <a:graphicFrameLocks noGrp="1"/>
          </p:cNvGraphicFramePr>
          <p:nvPr>
            <p:extLst>
              <p:ext uri="{D42A27DB-BD31-4B8C-83A1-F6EECF244321}">
                <p14:modId xmlns:p14="http://schemas.microsoft.com/office/powerpoint/2010/main" val="4234552483"/>
              </p:ext>
            </p:extLst>
          </p:nvPr>
        </p:nvGraphicFramePr>
        <p:xfrm>
          <a:off x="4855302" y="2603748"/>
          <a:ext cx="1434260" cy="2129043"/>
        </p:xfrm>
        <a:graphic>
          <a:graphicData uri="http://schemas.openxmlformats.org/drawingml/2006/table">
            <a:tbl>
              <a:tblPr firstRow="1" bandRow="1">
                <a:tableStyleId>{2D5ABB26-0587-4C30-8999-92F81FD0307C}</a:tableStyleId>
              </a:tblPr>
              <a:tblGrid>
                <a:gridCol w="717130">
                  <a:extLst>
                    <a:ext uri="{9D8B030D-6E8A-4147-A177-3AD203B41FA5}">
                      <a16:colId xmlns="" xmlns:a16="http://schemas.microsoft.com/office/drawing/2014/main" val="20000"/>
                    </a:ext>
                  </a:extLst>
                </a:gridCol>
                <a:gridCol w="717130">
                  <a:extLst>
                    <a:ext uri="{9D8B030D-6E8A-4147-A177-3AD203B41FA5}">
                      <a16:colId xmlns="" xmlns:a16="http://schemas.microsoft.com/office/drawing/2014/main" val="20001"/>
                    </a:ext>
                  </a:extLst>
                </a:gridCol>
              </a:tblGrid>
              <a:tr h="709681">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2</a:t>
                      </a:r>
                      <a:endParaRPr lang="en-IN" sz="3600" b="1" dirty="0">
                        <a:solidFill>
                          <a:schemeClr val="tx1"/>
                        </a:solidFill>
                      </a:endParaRPr>
                    </a:p>
                  </a:txBody>
                  <a:tcPr anchor="ctr"/>
                </a:tc>
                <a:extLst>
                  <a:ext uri="{0D108BD9-81ED-4DB2-BD59-A6C34878D82A}">
                    <a16:rowId xmlns="" xmlns:a16="http://schemas.microsoft.com/office/drawing/2014/main" val="10000"/>
                  </a:ext>
                </a:extLst>
              </a:tr>
              <a:tr h="709681">
                <a:tc>
                  <a:txBody>
                    <a:bodyPr/>
                    <a:lstStyle/>
                    <a:p>
                      <a:pPr algn="ctr"/>
                      <a:r>
                        <a:rPr lang="af-ZA" sz="3600" b="1" dirty="0">
                          <a:solidFill>
                            <a:schemeClr val="tx1"/>
                          </a:solidFill>
                        </a:rPr>
                        <a:t>2</a:t>
                      </a:r>
                      <a:endParaRPr lang="en-IN" sz="3600" b="1" dirty="0">
                        <a:solidFill>
                          <a:schemeClr val="tx1"/>
                        </a:solidFill>
                      </a:endParaRPr>
                    </a:p>
                  </a:txBody>
                  <a:tcPr anchor="ctr"/>
                </a:tc>
                <a:tc>
                  <a:txBody>
                    <a:bodyPr/>
                    <a:lstStyle/>
                    <a:p>
                      <a:pPr algn="ctr"/>
                      <a:r>
                        <a:rPr lang="af-ZA" sz="3600" b="1" dirty="0">
                          <a:solidFill>
                            <a:schemeClr val="tx1"/>
                          </a:solidFill>
                        </a:rPr>
                        <a:t>1</a:t>
                      </a:r>
                      <a:endParaRPr lang="en-IN" sz="3600" b="1" dirty="0">
                        <a:solidFill>
                          <a:schemeClr val="tx1"/>
                        </a:solidFill>
                      </a:endParaRPr>
                    </a:p>
                  </a:txBody>
                  <a:tcPr anchor="ctr"/>
                </a:tc>
                <a:extLst>
                  <a:ext uri="{0D108BD9-81ED-4DB2-BD59-A6C34878D82A}">
                    <a16:rowId xmlns="" xmlns:a16="http://schemas.microsoft.com/office/drawing/2014/main" val="10001"/>
                  </a:ext>
                </a:extLst>
              </a:tr>
              <a:tr h="709681">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2</a:t>
                      </a:r>
                      <a:endParaRPr lang="en-IN" sz="3600" b="1" dirty="0">
                        <a:solidFill>
                          <a:schemeClr val="tx1"/>
                        </a:solidFill>
                      </a:endParaRPr>
                    </a:p>
                  </a:txBody>
                  <a:tcPr anchor="ct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153818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Matrix Multiplication</a:t>
            </a:r>
          </a:p>
        </p:txBody>
      </p:sp>
      <p:grpSp>
        <p:nvGrpSpPr>
          <p:cNvPr id="3" name="Group 2"/>
          <p:cNvGrpSpPr/>
          <p:nvPr/>
        </p:nvGrpSpPr>
        <p:grpSpPr>
          <a:xfrm>
            <a:off x="622806" y="2348767"/>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833821" y="2603748"/>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2347299035"/>
              </p:ext>
            </p:extLst>
          </p:nvPr>
        </p:nvGraphicFramePr>
        <p:xfrm>
          <a:off x="960588" y="2603748"/>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Multiply 8"/>
          <p:cNvSpPr/>
          <p:nvPr/>
        </p:nvSpPr>
        <p:spPr>
          <a:xfrm>
            <a:off x="3416794" y="3157697"/>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Equal 15"/>
          <p:cNvSpPr/>
          <p:nvPr/>
        </p:nvSpPr>
        <p:spPr>
          <a:xfrm>
            <a:off x="7042638" y="3166543"/>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TextBox 20"/>
          <p:cNvSpPr txBox="1"/>
          <p:nvPr/>
        </p:nvSpPr>
        <p:spPr>
          <a:xfrm>
            <a:off x="9142552" y="2603694"/>
            <a:ext cx="633046" cy="307777"/>
          </a:xfrm>
          <a:prstGeom prst="rect">
            <a:avLst/>
          </a:prstGeom>
          <a:noFill/>
        </p:spPr>
        <p:txBody>
          <a:bodyPr wrap="square" rtlCol="0">
            <a:spAutoFit/>
          </a:bodyPr>
          <a:lstStyle/>
          <a:p>
            <a:endParaRPr lang="en-IN" dirty="0"/>
          </a:p>
        </p:txBody>
      </p:sp>
      <p:grpSp>
        <p:nvGrpSpPr>
          <p:cNvPr id="17" name="Group 16"/>
          <p:cNvGrpSpPr/>
          <p:nvPr/>
        </p:nvGrpSpPr>
        <p:grpSpPr>
          <a:xfrm>
            <a:off x="8615014" y="2221315"/>
            <a:ext cx="1821455" cy="2593731"/>
            <a:chOff x="4423877" y="3182812"/>
            <a:chExt cx="2611315" cy="2593731"/>
          </a:xfrm>
        </p:grpSpPr>
        <p:sp>
          <p:nvSpPr>
            <p:cNvPr id="18" name="Left Bracket 1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Right Bracket 18"/>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0" name="Table 9"/>
          <p:cNvGraphicFramePr>
            <a:graphicFrameLocks noGrp="1"/>
          </p:cNvGraphicFramePr>
          <p:nvPr>
            <p:extLst>
              <p:ext uri="{D42A27DB-BD31-4B8C-83A1-F6EECF244321}">
                <p14:modId xmlns:p14="http://schemas.microsoft.com/office/powerpoint/2010/main" val="2388626890"/>
              </p:ext>
            </p:extLst>
          </p:nvPr>
        </p:nvGraphicFramePr>
        <p:xfrm>
          <a:off x="8842998" y="2488221"/>
          <a:ext cx="1458548" cy="2059917"/>
        </p:xfrm>
        <a:graphic>
          <a:graphicData uri="http://schemas.openxmlformats.org/drawingml/2006/table">
            <a:tbl>
              <a:tblPr firstRow="1" bandRow="1">
                <a:tableStyleId>{2D5ABB26-0587-4C30-8999-92F81FD0307C}</a:tableStyleId>
              </a:tblPr>
              <a:tblGrid>
                <a:gridCol w="729274">
                  <a:extLst>
                    <a:ext uri="{9D8B030D-6E8A-4147-A177-3AD203B41FA5}">
                      <a16:colId xmlns="" xmlns:a16="http://schemas.microsoft.com/office/drawing/2014/main" val="20000"/>
                    </a:ext>
                  </a:extLst>
                </a:gridCol>
                <a:gridCol w="729274">
                  <a:extLst>
                    <a:ext uri="{9D8B030D-6E8A-4147-A177-3AD203B41FA5}">
                      <a16:colId xmlns="" xmlns:a16="http://schemas.microsoft.com/office/drawing/2014/main" val="20001"/>
                    </a:ext>
                  </a:extLst>
                </a:gridCol>
              </a:tblGrid>
              <a:tr h="686639">
                <a:tc>
                  <a:txBody>
                    <a:bodyPr/>
                    <a:lstStyle/>
                    <a:p>
                      <a:pPr algn="ctr"/>
                      <a:r>
                        <a:rPr lang="af-ZA" sz="3600" b="1" dirty="0">
                          <a:solidFill>
                            <a:schemeClr val="tx1"/>
                          </a:solidFill>
                        </a:rPr>
                        <a:t>x1</a:t>
                      </a:r>
                      <a:endParaRPr lang="en-IN" sz="3600" b="1" dirty="0">
                        <a:solidFill>
                          <a:schemeClr val="tx1"/>
                        </a:solidFill>
                      </a:endParaRPr>
                    </a:p>
                  </a:txBody>
                  <a:tcPr anchor="ctr"/>
                </a:tc>
                <a:tc>
                  <a:txBody>
                    <a:bodyPr/>
                    <a:lstStyle/>
                    <a:p>
                      <a:pPr algn="ctr"/>
                      <a:r>
                        <a:rPr lang="af-ZA" sz="3600" b="1" dirty="0">
                          <a:solidFill>
                            <a:schemeClr val="tx1"/>
                          </a:solidFill>
                        </a:rPr>
                        <a:t>x2</a:t>
                      </a:r>
                      <a:endParaRPr lang="en-IN" sz="3600" b="1" dirty="0">
                        <a:solidFill>
                          <a:schemeClr val="tx1"/>
                        </a:solidFill>
                      </a:endParaRPr>
                    </a:p>
                  </a:txBody>
                  <a:tcPr anchor="ctr"/>
                </a:tc>
                <a:extLst>
                  <a:ext uri="{0D108BD9-81ED-4DB2-BD59-A6C34878D82A}">
                    <a16:rowId xmlns="" xmlns:a16="http://schemas.microsoft.com/office/drawing/2014/main" val="10000"/>
                  </a:ext>
                </a:extLst>
              </a:tr>
              <a:tr h="686639">
                <a:tc>
                  <a:txBody>
                    <a:bodyPr/>
                    <a:lstStyle/>
                    <a:p>
                      <a:pPr algn="ctr"/>
                      <a:r>
                        <a:rPr lang="af-ZA" sz="3600" b="1" dirty="0">
                          <a:solidFill>
                            <a:schemeClr val="tx1"/>
                          </a:solidFill>
                        </a:rPr>
                        <a:t>y1</a:t>
                      </a:r>
                      <a:endParaRPr lang="en-IN" sz="3600" b="1" dirty="0">
                        <a:solidFill>
                          <a:schemeClr val="tx1"/>
                        </a:solidFill>
                      </a:endParaRPr>
                    </a:p>
                  </a:txBody>
                  <a:tcPr anchor="ctr"/>
                </a:tc>
                <a:tc>
                  <a:txBody>
                    <a:bodyPr/>
                    <a:lstStyle/>
                    <a:p>
                      <a:pPr algn="ctr"/>
                      <a:r>
                        <a:rPr lang="af-ZA" sz="3600" b="1" dirty="0">
                          <a:solidFill>
                            <a:schemeClr val="tx1"/>
                          </a:solidFill>
                        </a:rPr>
                        <a:t>y2</a:t>
                      </a:r>
                      <a:endParaRPr lang="en-IN" sz="3600" b="1" dirty="0">
                        <a:solidFill>
                          <a:schemeClr val="tx1"/>
                        </a:solidFill>
                      </a:endParaRPr>
                    </a:p>
                  </a:txBody>
                  <a:tcPr anchor="ctr"/>
                </a:tc>
                <a:extLst>
                  <a:ext uri="{0D108BD9-81ED-4DB2-BD59-A6C34878D82A}">
                    <a16:rowId xmlns="" xmlns:a16="http://schemas.microsoft.com/office/drawing/2014/main" val="10001"/>
                  </a:ext>
                </a:extLst>
              </a:tr>
              <a:tr h="686639">
                <a:tc>
                  <a:txBody>
                    <a:bodyPr/>
                    <a:lstStyle/>
                    <a:p>
                      <a:pPr algn="ctr"/>
                      <a:r>
                        <a:rPr lang="af-ZA" sz="3600" b="1" dirty="0">
                          <a:solidFill>
                            <a:schemeClr val="tx1"/>
                          </a:solidFill>
                        </a:rPr>
                        <a:t>z1</a:t>
                      </a:r>
                      <a:endParaRPr lang="en-IN" sz="3600" b="1" dirty="0">
                        <a:solidFill>
                          <a:schemeClr val="tx1"/>
                        </a:solidFill>
                      </a:endParaRPr>
                    </a:p>
                  </a:txBody>
                  <a:tcPr anchor="ctr"/>
                </a:tc>
                <a:tc>
                  <a:txBody>
                    <a:bodyPr/>
                    <a:lstStyle/>
                    <a:p>
                      <a:pPr algn="ctr"/>
                      <a:r>
                        <a:rPr lang="af-ZA" sz="3600" b="1" dirty="0">
                          <a:solidFill>
                            <a:schemeClr val="tx1"/>
                          </a:solidFill>
                        </a:rPr>
                        <a:t>z2</a:t>
                      </a:r>
                      <a:endParaRPr lang="en-IN" sz="3600" b="1" dirty="0">
                        <a:solidFill>
                          <a:schemeClr val="tx1"/>
                        </a:solidFill>
                      </a:endParaRPr>
                    </a:p>
                  </a:txBody>
                  <a:tcPr anchor="ctr"/>
                </a:tc>
                <a:extLst>
                  <a:ext uri="{0D108BD9-81ED-4DB2-BD59-A6C34878D82A}">
                    <a16:rowId xmlns="" xmlns:a16="http://schemas.microsoft.com/office/drawing/2014/main" val="10002"/>
                  </a:ext>
                </a:extLst>
              </a:tr>
            </a:tbl>
          </a:graphicData>
        </a:graphic>
      </p:graphicFrame>
      <p:grpSp>
        <p:nvGrpSpPr>
          <p:cNvPr id="20" name="Group 19"/>
          <p:cNvGrpSpPr/>
          <p:nvPr/>
        </p:nvGrpSpPr>
        <p:grpSpPr>
          <a:xfrm rot="5400000">
            <a:off x="4280123" y="2786658"/>
            <a:ext cx="2584618" cy="1727063"/>
            <a:chOff x="4423877" y="3182812"/>
            <a:chExt cx="1894793" cy="2593731"/>
          </a:xfrm>
        </p:grpSpPr>
        <p:sp>
          <p:nvSpPr>
            <p:cNvPr id="22" name="Left Bracket 21"/>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4" name="Right Bracket 23"/>
            <p:cNvSpPr/>
            <p:nvPr/>
          </p:nvSpPr>
          <p:spPr>
            <a:xfrm>
              <a:off x="5931809"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5" name="Table 24"/>
          <p:cNvGraphicFramePr>
            <a:graphicFrameLocks noGrp="1"/>
          </p:cNvGraphicFramePr>
          <p:nvPr>
            <p:extLst>
              <p:ext uri="{D42A27DB-BD31-4B8C-83A1-F6EECF244321}">
                <p14:modId xmlns:p14="http://schemas.microsoft.com/office/powerpoint/2010/main" val="4234552483"/>
              </p:ext>
            </p:extLst>
          </p:nvPr>
        </p:nvGraphicFramePr>
        <p:xfrm>
          <a:off x="4855302" y="2603748"/>
          <a:ext cx="1434260" cy="2129043"/>
        </p:xfrm>
        <a:graphic>
          <a:graphicData uri="http://schemas.openxmlformats.org/drawingml/2006/table">
            <a:tbl>
              <a:tblPr firstRow="1" bandRow="1">
                <a:tableStyleId>{2D5ABB26-0587-4C30-8999-92F81FD0307C}</a:tableStyleId>
              </a:tblPr>
              <a:tblGrid>
                <a:gridCol w="717130">
                  <a:extLst>
                    <a:ext uri="{9D8B030D-6E8A-4147-A177-3AD203B41FA5}">
                      <a16:colId xmlns="" xmlns:a16="http://schemas.microsoft.com/office/drawing/2014/main" val="20000"/>
                    </a:ext>
                  </a:extLst>
                </a:gridCol>
                <a:gridCol w="717130">
                  <a:extLst>
                    <a:ext uri="{9D8B030D-6E8A-4147-A177-3AD203B41FA5}">
                      <a16:colId xmlns="" xmlns:a16="http://schemas.microsoft.com/office/drawing/2014/main" val="20001"/>
                    </a:ext>
                  </a:extLst>
                </a:gridCol>
              </a:tblGrid>
              <a:tr h="709681">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2</a:t>
                      </a:r>
                      <a:endParaRPr lang="en-IN" sz="3600" b="1" dirty="0">
                        <a:solidFill>
                          <a:schemeClr val="tx1"/>
                        </a:solidFill>
                      </a:endParaRPr>
                    </a:p>
                  </a:txBody>
                  <a:tcPr anchor="ctr"/>
                </a:tc>
                <a:extLst>
                  <a:ext uri="{0D108BD9-81ED-4DB2-BD59-A6C34878D82A}">
                    <a16:rowId xmlns="" xmlns:a16="http://schemas.microsoft.com/office/drawing/2014/main" val="10000"/>
                  </a:ext>
                </a:extLst>
              </a:tr>
              <a:tr h="709681">
                <a:tc>
                  <a:txBody>
                    <a:bodyPr/>
                    <a:lstStyle/>
                    <a:p>
                      <a:pPr algn="ctr"/>
                      <a:r>
                        <a:rPr lang="af-ZA" sz="3600" b="1" dirty="0">
                          <a:solidFill>
                            <a:schemeClr val="tx1"/>
                          </a:solidFill>
                        </a:rPr>
                        <a:t>2</a:t>
                      </a:r>
                      <a:endParaRPr lang="en-IN" sz="3600" b="1" dirty="0">
                        <a:solidFill>
                          <a:schemeClr val="tx1"/>
                        </a:solidFill>
                      </a:endParaRPr>
                    </a:p>
                  </a:txBody>
                  <a:tcPr anchor="ctr"/>
                </a:tc>
                <a:tc>
                  <a:txBody>
                    <a:bodyPr/>
                    <a:lstStyle/>
                    <a:p>
                      <a:pPr algn="ctr"/>
                      <a:r>
                        <a:rPr lang="af-ZA" sz="3600" b="1" dirty="0">
                          <a:solidFill>
                            <a:schemeClr val="tx1"/>
                          </a:solidFill>
                        </a:rPr>
                        <a:t>1</a:t>
                      </a:r>
                      <a:endParaRPr lang="en-IN" sz="3600" b="1" dirty="0">
                        <a:solidFill>
                          <a:schemeClr val="tx1"/>
                        </a:solidFill>
                      </a:endParaRPr>
                    </a:p>
                  </a:txBody>
                  <a:tcPr anchor="ctr"/>
                </a:tc>
                <a:extLst>
                  <a:ext uri="{0D108BD9-81ED-4DB2-BD59-A6C34878D82A}">
                    <a16:rowId xmlns="" xmlns:a16="http://schemas.microsoft.com/office/drawing/2014/main" val="10001"/>
                  </a:ext>
                </a:extLst>
              </a:tr>
              <a:tr h="709681">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2</a:t>
                      </a:r>
                      <a:endParaRPr lang="en-IN" sz="3600" b="1" dirty="0">
                        <a:solidFill>
                          <a:schemeClr val="tx1"/>
                        </a:solidFill>
                      </a:endParaRPr>
                    </a:p>
                  </a:txBody>
                  <a:tcPr anchor="ct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3403699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Matrix Multiplication</a:t>
            </a:r>
          </a:p>
        </p:txBody>
      </p:sp>
      <p:grpSp>
        <p:nvGrpSpPr>
          <p:cNvPr id="3" name="Group 2"/>
          <p:cNvGrpSpPr/>
          <p:nvPr/>
        </p:nvGrpSpPr>
        <p:grpSpPr>
          <a:xfrm>
            <a:off x="350243" y="2192505"/>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561258" y="2447486"/>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2080939978"/>
              </p:ext>
            </p:extLst>
          </p:nvPr>
        </p:nvGraphicFramePr>
        <p:xfrm>
          <a:off x="688025" y="2447486"/>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Multiply 8"/>
          <p:cNvSpPr/>
          <p:nvPr/>
        </p:nvSpPr>
        <p:spPr>
          <a:xfrm>
            <a:off x="3144231" y="3001435"/>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Flowchart: Alternate Process 19"/>
          <p:cNvSpPr/>
          <p:nvPr/>
        </p:nvSpPr>
        <p:spPr>
          <a:xfrm>
            <a:off x="6755501" y="1296960"/>
            <a:ext cx="5108331"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af-ZA" sz="2000" b="1" dirty="0">
                <a:solidFill>
                  <a:schemeClr val="tx1"/>
                </a:solidFill>
              </a:rPr>
              <a:t>X1 = (5x1) + (2x2) + (9x1) = 5+4+9 = 18</a:t>
            </a:r>
            <a:endParaRPr lang="en-IN" sz="2000" b="1" dirty="0">
              <a:solidFill>
                <a:schemeClr val="tx1"/>
              </a:solidFill>
            </a:endParaRPr>
          </a:p>
        </p:txBody>
      </p:sp>
      <p:sp>
        <p:nvSpPr>
          <p:cNvPr id="22" name="Flowchart: Alternate Process 21"/>
          <p:cNvSpPr/>
          <p:nvPr/>
        </p:nvSpPr>
        <p:spPr>
          <a:xfrm>
            <a:off x="6755501" y="1979266"/>
            <a:ext cx="5108331"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af-ZA" sz="2000" b="1" dirty="0">
                <a:solidFill>
                  <a:schemeClr val="tx1"/>
                </a:solidFill>
              </a:rPr>
              <a:t>X2 = (5x2) + (2x1) + (9x2) = 10+2+18 = 30</a:t>
            </a:r>
            <a:endParaRPr lang="en-IN" sz="2000" b="1" dirty="0">
              <a:solidFill>
                <a:schemeClr val="tx1"/>
              </a:solidFill>
            </a:endParaRPr>
          </a:p>
        </p:txBody>
      </p:sp>
      <p:sp>
        <p:nvSpPr>
          <p:cNvPr id="24" name="Flowchart: Alternate Process 23"/>
          <p:cNvSpPr/>
          <p:nvPr/>
        </p:nvSpPr>
        <p:spPr>
          <a:xfrm>
            <a:off x="6755500" y="3020965"/>
            <a:ext cx="5108331" cy="562707"/>
          </a:xfrm>
          <a:prstGeom prst="flowChartAlternateProcess">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af-ZA" sz="2000" b="1" dirty="0">
                <a:solidFill>
                  <a:schemeClr val="tx1"/>
                </a:solidFill>
              </a:rPr>
              <a:t>X1 = (4x1) + (6x2) + (7x1) = 4+12+7 = 23</a:t>
            </a:r>
            <a:endParaRPr lang="en-IN" sz="2000" b="1" dirty="0">
              <a:solidFill>
                <a:schemeClr val="tx1"/>
              </a:solidFill>
            </a:endParaRPr>
          </a:p>
        </p:txBody>
      </p:sp>
      <p:sp>
        <p:nvSpPr>
          <p:cNvPr id="25" name="Flowchart: Alternate Process 24"/>
          <p:cNvSpPr/>
          <p:nvPr/>
        </p:nvSpPr>
        <p:spPr>
          <a:xfrm>
            <a:off x="6755500" y="3703271"/>
            <a:ext cx="5108331" cy="562707"/>
          </a:xfrm>
          <a:prstGeom prst="flowChartAlternateProcess">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af-ZA" sz="2000" b="1" dirty="0">
                <a:solidFill>
                  <a:schemeClr val="tx1"/>
                </a:solidFill>
              </a:rPr>
              <a:t>X2 = (4x2) + (6x1) + (7x2) = 8+6+14 = 28</a:t>
            </a:r>
            <a:endParaRPr lang="en-IN" sz="2000" b="1" dirty="0">
              <a:solidFill>
                <a:schemeClr val="tx1"/>
              </a:solidFill>
            </a:endParaRPr>
          </a:p>
        </p:txBody>
      </p:sp>
      <p:sp>
        <p:nvSpPr>
          <p:cNvPr id="26" name="Flowchart: Alternate Process 25"/>
          <p:cNvSpPr/>
          <p:nvPr/>
        </p:nvSpPr>
        <p:spPr>
          <a:xfrm>
            <a:off x="6755501" y="4568411"/>
            <a:ext cx="5108331" cy="562707"/>
          </a:xfrm>
          <a:prstGeom prst="flowChartAlternateProcess">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af-ZA" sz="2000" b="1" dirty="0">
                <a:solidFill>
                  <a:schemeClr val="tx1"/>
                </a:solidFill>
              </a:rPr>
              <a:t>X1 = (1x1) + (3x2) + (8x1) = 1+6+8 = 15</a:t>
            </a:r>
            <a:endParaRPr lang="en-IN" sz="2000" b="1" dirty="0">
              <a:solidFill>
                <a:schemeClr val="tx1"/>
              </a:solidFill>
            </a:endParaRPr>
          </a:p>
        </p:txBody>
      </p:sp>
      <p:sp>
        <p:nvSpPr>
          <p:cNvPr id="27" name="Flowchart: Alternate Process 26"/>
          <p:cNvSpPr/>
          <p:nvPr/>
        </p:nvSpPr>
        <p:spPr>
          <a:xfrm>
            <a:off x="6755501" y="5250717"/>
            <a:ext cx="5108331" cy="562707"/>
          </a:xfrm>
          <a:prstGeom prst="flowChartAlternateProcess">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af-ZA" sz="2000" b="1" dirty="0">
                <a:solidFill>
                  <a:schemeClr val="tx1"/>
                </a:solidFill>
              </a:rPr>
              <a:t>X2 = (1x2) + (3x1) + (8x2) = 2+3+16 = 21</a:t>
            </a:r>
            <a:endParaRPr lang="en-IN" sz="2000" b="1" dirty="0">
              <a:solidFill>
                <a:schemeClr val="tx1"/>
              </a:solidFill>
            </a:endParaRPr>
          </a:p>
        </p:txBody>
      </p:sp>
      <p:grpSp>
        <p:nvGrpSpPr>
          <p:cNvPr id="28" name="Group 27"/>
          <p:cNvGrpSpPr/>
          <p:nvPr/>
        </p:nvGrpSpPr>
        <p:grpSpPr>
          <a:xfrm rot="5400000">
            <a:off x="3652822" y="2568311"/>
            <a:ext cx="2584618" cy="1727063"/>
            <a:chOff x="4423877" y="3182812"/>
            <a:chExt cx="1894793" cy="2593731"/>
          </a:xfrm>
        </p:grpSpPr>
        <p:sp>
          <p:nvSpPr>
            <p:cNvPr id="29" name="Left Bracket 28"/>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0" name="Right Bracket 29"/>
            <p:cNvSpPr/>
            <p:nvPr/>
          </p:nvSpPr>
          <p:spPr>
            <a:xfrm>
              <a:off x="5931809"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31" name="Table 30"/>
          <p:cNvGraphicFramePr>
            <a:graphicFrameLocks noGrp="1"/>
          </p:cNvGraphicFramePr>
          <p:nvPr>
            <p:extLst>
              <p:ext uri="{D42A27DB-BD31-4B8C-83A1-F6EECF244321}">
                <p14:modId xmlns:p14="http://schemas.microsoft.com/office/powerpoint/2010/main" val="1404327038"/>
              </p:ext>
            </p:extLst>
          </p:nvPr>
        </p:nvGraphicFramePr>
        <p:xfrm>
          <a:off x="4228001" y="2385401"/>
          <a:ext cx="1434260" cy="2129043"/>
        </p:xfrm>
        <a:graphic>
          <a:graphicData uri="http://schemas.openxmlformats.org/drawingml/2006/table">
            <a:tbl>
              <a:tblPr firstRow="1" bandRow="1">
                <a:tableStyleId>{2D5ABB26-0587-4C30-8999-92F81FD0307C}</a:tableStyleId>
              </a:tblPr>
              <a:tblGrid>
                <a:gridCol w="717130">
                  <a:extLst>
                    <a:ext uri="{9D8B030D-6E8A-4147-A177-3AD203B41FA5}">
                      <a16:colId xmlns="" xmlns:a16="http://schemas.microsoft.com/office/drawing/2014/main" val="20000"/>
                    </a:ext>
                  </a:extLst>
                </a:gridCol>
                <a:gridCol w="717130">
                  <a:extLst>
                    <a:ext uri="{9D8B030D-6E8A-4147-A177-3AD203B41FA5}">
                      <a16:colId xmlns="" xmlns:a16="http://schemas.microsoft.com/office/drawing/2014/main" val="20001"/>
                    </a:ext>
                  </a:extLst>
                </a:gridCol>
              </a:tblGrid>
              <a:tr h="709681">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2</a:t>
                      </a:r>
                      <a:endParaRPr lang="en-IN" sz="3600" b="1" dirty="0">
                        <a:solidFill>
                          <a:schemeClr val="tx1"/>
                        </a:solidFill>
                      </a:endParaRPr>
                    </a:p>
                  </a:txBody>
                  <a:tcPr anchor="ctr"/>
                </a:tc>
                <a:extLst>
                  <a:ext uri="{0D108BD9-81ED-4DB2-BD59-A6C34878D82A}">
                    <a16:rowId xmlns="" xmlns:a16="http://schemas.microsoft.com/office/drawing/2014/main" val="10000"/>
                  </a:ext>
                </a:extLst>
              </a:tr>
              <a:tr h="709681">
                <a:tc>
                  <a:txBody>
                    <a:bodyPr/>
                    <a:lstStyle/>
                    <a:p>
                      <a:pPr algn="ctr"/>
                      <a:r>
                        <a:rPr lang="af-ZA" sz="3600" b="1" dirty="0">
                          <a:solidFill>
                            <a:schemeClr val="tx1"/>
                          </a:solidFill>
                        </a:rPr>
                        <a:t>2</a:t>
                      </a:r>
                      <a:endParaRPr lang="en-IN" sz="3600" b="1" dirty="0">
                        <a:solidFill>
                          <a:schemeClr val="tx1"/>
                        </a:solidFill>
                      </a:endParaRPr>
                    </a:p>
                  </a:txBody>
                  <a:tcPr anchor="ctr"/>
                </a:tc>
                <a:tc>
                  <a:txBody>
                    <a:bodyPr/>
                    <a:lstStyle/>
                    <a:p>
                      <a:pPr algn="ctr"/>
                      <a:r>
                        <a:rPr lang="af-ZA" sz="3600" b="1" dirty="0">
                          <a:solidFill>
                            <a:schemeClr val="tx1"/>
                          </a:solidFill>
                        </a:rPr>
                        <a:t>1</a:t>
                      </a:r>
                      <a:endParaRPr lang="en-IN" sz="3600" b="1" dirty="0">
                        <a:solidFill>
                          <a:schemeClr val="tx1"/>
                        </a:solidFill>
                      </a:endParaRPr>
                    </a:p>
                  </a:txBody>
                  <a:tcPr anchor="ctr"/>
                </a:tc>
                <a:extLst>
                  <a:ext uri="{0D108BD9-81ED-4DB2-BD59-A6C34878D82A}">
                    <a16:rowId xmlns="" xmlns:a16="http://schemas.microsoft.com/office/drawing/2014/main" val="10001"/>
                  </a:ext>
                </a:extLst>
              </a:tr>
              <a:tr h="709681">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2</a:t>
                      </a:r>
                      <a:endParaRPr lang="en-IN" sz="3600" b="1" dirty="0">
                        <a:solidFill>
                          <a:schemeClr val="tx1"/>
                        </a:solidFill>
                      </a:endParaRPr>
                    </a:p>
                  </a:txBody>
                  <a:tcPr anchor="ct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696755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24" grpId="0" animBg="1"/>
      <p:bldP spid="25" grpId="0" animBg="1"/>
      <p:bldP spid="26" grpId="0" animBg="1"/>
      <p:bldP spid="2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Matrix Multiplication</a:t>
            </a:r>
          </a:p>
        </p:txBody>
      </p:sp>
      <p:grpSp>
        <p:nvGrpSpPr>
          <p:cNvPr id="3" name="Group 2"/>
          <p:cNvGrpSpPr/>
          <p:nvPr/>
        </p:nvGrpSpPr>
        <p:grpSpPr>
          <a:xfrm>
            <a:off x="1179433" y="1476302"/>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1390448" y="1731283"/>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4226247698"/>
              </p:ext>
            </p:extLst>
          </p:nvPr>
        </p:nvGraphicFramePr>
        <p:xfrm>
          <a:off x="1517215" y="1731283"/>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Multiply 8"/>
          <p:cNvSpPr/>
          <p:nvPr/>
        </p:nvSpPr>
        <p:spPr>
          <a:xfrm>
            <a:off x="3973421" y="2285232"/>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Equal 15"/>
          <p:cNvSpPr/>
          <p:nvPr/>
        </p:nvSpPr>
        <p:spPr>
          <a:xfrm>
            <a:off x="7599265" y="2294078"/>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TextBox 20"/>
          <p:cNvSpPr txBox="1"/>
          <p:nvPr/>
        </p:nvSpPr>
        <p:spPr>
          <a:xfrm>
            <a:off x="9699179" y="1858680"/>
            <a:ext cx="633046" cy="307777"/>
          </a:xfrm>
          <a:prstGeom prst="rect">
            <a:avLst/>
          </a:prstGeom>
          <a:noFill/>
        </p:spPr>
        <p:txBody>
          <a:bodyPr wrap="square" rtlCol="0">
            <a:spAutoFit/>
          </a:bodyPr>
          <a:lstStyle/>
          <a:p>
            <a:endParaRPr lang="en-IN" dirty="0"/>
          </a:p>
        </p:txBody>
      </p:sp>
      <p:grpSp>
        <p:nvGrpSpPr>
          <p:cNvPr id="17" name="Group 16"/>
          <p:cNvGrpSpPr/>
          <p:nvPr/>
        </p:nvGrpSpPr>
        <p:grpSpPr>
          <a:xfrm>
            <a:off x="9171641" y="1476301"/>
            <a:ext cx="1821455" cy="2593731"/>
            <a:chOff x="4423877" y="3182812"/>
            <a:chExt cx="2611315" cy="2593731"/>
          </a:xfrm>
        </p:grpSpPr>
        <p:sp>
          <p:nvSpPr>
            <p:cNvPr id="18" name="Left Bracket 1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Right Bracket 18"/>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0" name="Table 9"/>
          <p:cNvGraphicFramePr>
            <a:graphicFrameLocks noGrp="1"/>
          </p:cNvGraphicFramePr>
          <p:nvPr>
            <p:extLst>
              <p:ext uri="{D42A27DB-BD31-4B8C-83A1-F6EECF244321}">
                <p14:modId xmlns:p14="http://schemas.microsoft.com/office/powerpoint/2010/main" val="1113035692"/>
              </p:ext>
            </p:extLst>
          </p:nvPr>
        </p:nvGraphicFramePr>
        <p:xfrm>
          <a:off x="9399625" y="1743207"/>
          <a:ext cx="1458548" cy="2059917"/>
        </p:xfrm>
        <a:graphic>
          <a:graphicData uri="http://schemas.openxmlformats.org/drawingml/2006/table">
            <a:tbl>
              <a:tblPr firstRow="1" bandRow="1">
                <a:tableStyleId>{2D5ABB26-0587-4C30-8999-92F81FD0307C}</a:tableStyleId>
              </a:tblPr>
              <a:tblGrid>
                <a:gridCol w="729274">
                  <a:extLst>
                    <a:ext uri="{9D8B030D-6E8A-4147-A177-3AD203B41FA5}">
                      <a16:colId xmlns="" xmlns:a16="http://schemas.microsoft.com/office/drawing/2014/main" val="20000"/>
                    </a:ext>
                  </a:extLst>
                </a:gridCol>
                <a:gridCol w="729274">
                  <a:extLst>
                    <a:ext uri="{9D8B030D-6E8A-4147-A177-3AD203B41FA5}">
                      <a16:colId xmlns="" xmlns:a16="http://schemas.microsoft.com/office/drawing/2014/main" val="20001"/>
                    </a:ext>
                  </a:extLst>
                </a:gridCol>
              </a:tblGrid>
              <a:tr h="686639">
                <a:tc>
                  <a:txBody>
                    <a:bodyPr/>
                    <a:lstStyle/>
                    <a:p>
                      <a:pPr algn="ctr"/>
                      <a:r>
                        <a:rPr lang="af-ZA" sz="3600" b="1" dirty="0">
                          <a:solidFill>
                            <a:schemeClr val="tx1"/>
                          </a:solidFill>
                        </a:rPr>
                        <a:t>18</a:t>
                      </a:r>
                      <a:endParaRPr lang="en-IN" sz="3600" b="1" dirty="0">
                        <a:solidFill>
                          <a:schemeClr val="tx1"/>
                        </a:solidFill>
                      </a:endParaRPr>
                    </a:p>
                  </a:txBody>
                  <a:tcPr anchor="ctr"/>
                </a:tc>
                <a:tc>
                  <a:txBody>
                    <a:bodyPr/>
                    <a:lstStyle/>
                    <a:p>
                      <a:pPr algn="ctr"/>
                      <a:r>
                        <a:rPr lang="af-ZA" sz="3600" b="1" dirty="0">
                          <a:solidFill>
                            <a:schemeClr val="tx1"/>
                          </a:solidFill>
                        </a:rPr>
                        <a:t>30</a:t>
                      </a:r>
                      <a:endParaRPr lang="en-IN" sz="3600" b="1" dirty="0">
                        <a:solidFill>
                          <a:schemeClr val="tx1"/>
                        </a:solidFill>
                      </a:endParaRPr>
                    </a:p>
                  </a:txBody>
                  <a:tcPr anchor="ctr"/>
                </a:tc>
                <a:extLst>
                  <a:ext uri="{0D108BD9-81ED-4DB2-BD59-A6C34878D82A}">
                    <a16:rowId xmlns="" xmlns:a16="http://schemas.microsoft.com/office/drawing/2014/main" val="10000"/>
                  </a:ext>
                </a:extLst>
              </a:tr>
              <a:tr h="686639">
                <a:tc>
                  <a:txBody>
                    <a:bodyPr/>
                    <a:lstStyle/>
                    <a:p>
                      <a:pPr algn="ctr"/>
                      <a:r>
                        <a:rPr lang="af-ZA" sz="3600" b="1" dirty="0">
                          <a:solidFill>
                            <a:schemeClr val="tx1"/>
                          </a:solidFill>
                        </a:rPr>
                        <a:t>23</a:t>
                      </a:r>
                      <a:endParaRPr lang="en-IN" sz="3600" b="1" dirty="0">
                        <a:solidFill>
                          <a:schemeClr val="tx1"/>
                        </a:solidFill>
                      </a:endParaRPr>
                    </a:p>
                  </a:txBody>
                  <a:tcPr anchor="ctr"/>
                </a:tc>
                <a:tc>
                  <a:txBody>
                    <a:bodyPr/>
                    <a:lstStyle/>
                    <a:p>
                      <a:pPr algn="ctr"/>
                      <a:r>
                        <a:rPr lang="af-ZA" sz="3600" b="1" dirty="0">
                          <a:solidFill>
                            <a:schemeClr val="tx1"/>
                          </a:solidFill>
                        </a:rPr>
                        <a:t>28</a:t>
                      </a:r>
                      <a:endParaRPr lang="en-IN" sz="3600" b="1" dirty="0">
                        <a:solidFill>
                          <a:schemeClr val="tx1"/>
                        </a:solidFill>
                      </a:endParaRPr>
                    </a:p>
                  </a:txBody>
                  <a:tcPr anchor="ctr"/>
                </a:tc>
                <a:extLst>
                  <a:ext uri="{0D108BD9-81ED-4DB2-BD59-A6C34878D82A}">
                    <a16:rowId xmlns="" xmlns:a16="http://schemas.microsoft.com/office/drawing/2014/main" val="10001"/>
                  </a:ext>
                </a:extLst>
              </a:tr>
              <a:tr h="686639">
                <a:tc>
                  <a:txBody>
                    <a:bodyPr/>
                    <a:lstStyle/>
                    <a:p>
                      <a:pPr algn="ctr"/>
                      <a:r>
                        <a:rPr lang="af-ZA" sz="3600" b="1" dirty="0">
                          <a:solidFill>
                            <a:schemeClr val="tx1"/>
                          </a:solidFill>
                        </a:rPr>
                        <a:t>15</a:t>
                      </a:r>
                      <a:endParaRPr lang="en-IN" sz="3600" b="1" dirty="0">
                        <a:solidFill>
                          <a:schemeClr val="tx1"/>
                        </a:solidFill>
                      </a:endParaRPr>
                    </a:p>
                  </a:txBody>
                  <a:tcPr anchor="ctr"/>
                </a:tc>
                <a:tc>
                  <a:txBody>
                    <a:bodyPr/>
                    <a:lstStyle/>
                    <a:p>
                      <a:pPr algn="ctr"/>
                      <a:r>
                        <a:rPr lang="af-ZA" sz="3600" b="1" dirty="0">
                          <a:solidFill>
                            <a:schemeClr val="tx1"/>
                          </a:solidFill>
                        </a:rPr>
                        <a:t>21</a:t>
                      </a:r>
                      <a:endParaRPr lang="en-IN" sz="3600" b="1" dirty="0">
                        <a:solidFill>
                          <a:schemeClr val="tx1"/>
                        </a:solidFill>
                      </a:endParaRPr>
                    </a:p>
                  </a:txBody>
                  <a:tcPr anchor="ctr"/>
                </a:tc>
                <a:extLst>
                  <a:ext uri="{0D108BD9-81ED-4DB2-BD59-A6C34878D82A}">
                    <a16:rowId xmlns="" xmlns:a16="http://schemas.microsoft.com/office/drawing/2014/main" val="10002"/>
                  </a:ext>
                </a:extLst>
              </a:tr>
            </a:tbl>
          </a:graphicData>
        </a:graphic>
      </p:graphicFrame>
      <p:grpSp>
        <p:nvGrpSpPr>
          <p:cNvPr id="20" name="Group 19"/>
          <p:cNvGrpSpPr/>
          <p:nvPr/>
        </p:nvGrpSpPr>
        <p:grpSpPr>
          <a:xfrm rot="5400000">
            <a:off x="4836750" y="1914193"/>
            <a:ext cx="2584618" cy="1727063"/>
            <a:chOff x="4423877" y="3182812"/>
            <a:chExt cx="1894793" cy="2593731"/>
          </a:xfrm>
        </p:grpSpPr>
        <p:sp>
          <p:nvSpPr>
            <p:cNvPr id="22" name="Left Bracket 21"/>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4" name="Right Bracket 23"/>
            <p:cNvSpPr/>
            <p:nvPr/>
          </p:nvSpPr>
          <p:spPr>
            <a:xfrm>
              <a:off x="5931809"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5" name="Table 24"/>
          <p:cNvGraphicFramePr>
            <a:graphicFrameLocks noGrp="1"/>
          </p:cNvGraphicFramePr>
          <p:nvPr>
            <p:extLst>
              <p:ext uri="{D42A27DB-BD31-4B8C-83A1-F6EECF244321}">
                <p14:modId xmlns:p14="http://schemas.microsoft.com/office/powerpoint/2010/main" val="1065043614"/>
              </p:ext>
            </p:extLst>
          </p:nvPr>
        </p:nvGraphicFramePr>
        <p:xfrm>
          <a:off x="5411929" y="1731283"/>
          <a:ext cx="1434260" cy="2129043"/>
        </p:xfrm>
        <a:graphic>
          <a:graphicData uri="http://schemas.openxmlformats.org/drawingml/2006/table">
            <a:tbl>
              <a:tblPr firstRow="1" bandRow="1">
                <a:tableStyleId>{2D5ABB26-0587-4C30-8999-92F81FD0307C}</a:tableStyleId>
              </a:tblPr>
              <a:tblGrid>
                <a:gridCol w="717130">
                  <a:extLst>
                    <a:ext uri="{9D8B030D-6E8A-4147-A177-3AD203B41FA5}">
                      <a16:colId xmlns="" xmlns:a16="http://schemas.microsoft.com/office/drawing/2014/main" val="20000"/>
                    </a:ext>
                  </a:extLst>
                </a:gridCol>
                <a:gridCol w="717130">
                  <a:extLst>
                    <a:ext uri="{9D8B030D-6E8A-4147-A177-3AD203B41FA5}">
                      <a16:colId xmlns="" xmlns:a16="http://schemas.microsoft.com/office/drawing/2014/main" val="20001"/>
                    </a:ext>
                  </a:extLst>
                </a:gridCol>
              </a:tblGrid>
              <a:tr h="709681">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2</a:t>
                      </a:r>
                      <a:endParaRPr lang="en-IN" sz="3600" b="1" dirty="0">
                        <a:solidFill>
                          <a:schemeClr val="tx1"/>
                        </a:solidFill>
                      </a:endParaRPr>
                    </a:p>
                  </a:txBody>
                  <a:tcPr anchor="ctr"/>
                </a:tc>
                <a:extLst>
                  <a:ext uri="{0D108BD9-81ED-4DB2-BD59-A6C34878D82A}">
                    <a16:rowId xmlns="" xmlns:a16="http://schemas.microsoft.com/office/drawing/2014/main" val="10000"/>
                  </a:ext>
                </a:extLst>
              </a:tr>
              <a:tr h="709681">
                <a:tc>
                  <a:txBody>
                    <a:bodyPr/>
                    <a:lstStyle/>
                    <a:p>
                      <a:pPr algn="ctr"/>
                      <a:r>
                        <a:rPr lang="af-ZA" sz="3600" b="1" dirty="0">
                          <a:solidFill>
                            <a:schemeClr val="tx1"/>
                          </a:solidFill>
                        </a:rPr>
                        <a:t>2</a:t>
                      </a:r>
                      <a:endParaRPr lang="en-IN" sz="3600" b="1" dirty="0">
                        <a:solidFill>
                          <a:schemeClr val="tx1"/>
                        </a:solidFill>
                      </a:endParaRPr>
                    </a:p>
                  </a:txBody>
                  <a:tcPr anchor="ctr"/>
                </a:tc>
                <a:tc>
                  <a:txBody>
                    <a:bodyPr/>
                    <a:lstStyle/>
                    <a:p>
                      <a:pPr algn="ctr"/>
                      <a:r>
                        <a:rPr lang="af-ZA" sz="3600" b="1" dirty="0">
                          <a:solidFill>
                            <a:schemeClr val="tx1"/>
                          </a:solidFill>
                        </a:rPr>
                        <a:t>1</a:t>
                      </a:r>
                      <a:endParaRPr lang="en-IN" sz="3600" b="1" dirty="0">
                        <a:solidFill>
                          <a:schemeClr val="tx1"/>
                        </a:solidFill>
                      </a:endParaRPr>
                    </a:p>
                  </a:txBody>
                  <a:tcPr anchor="ctr"/>
                </a:tc>
                <a:extLst>
                  <a:ext uri="{0D108BD9-81ED-4DB2-BD59-A6C34878D82A}">
                    <a16:rowId xmlns="" xmlns:a16="http://schemas.microsoft.com/office/drawing/2014/main" val="10001"/>
                  </a:ext>
                </a:extLst>
              </a:tr>
              <a:tr h="709681">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2</a:t>
                      </a:r>
                      <a:endParaRPr lang="en-IN" sz="3600" b="1" dirty="0">
                        <a:solidFill>
                          <a:schemeClr val="tx1"/>
                        </a:solidFill>
                      </a:endParaRPr>
                    </a:p>
                  </a:txBody>
                  <a:tcPr anchor="ctr"/>
                </a:tc>
                <a:extLst>
                  <a:ext uri="{0D108BD9-81ED-4DB2-BD59-A6C34878D82A}">
                    <a16:rowId xmlns="" xmlns:a16="http://schemas.microsoft.com/office/drawing/2014/main" val="10002"/>
                  </a:ext>
                </a:extLst>
              </a:tr>
            </a:tbl>
          </a:graphicData>
        </a:graphic>
      </p:graphicFrame>
      <p:sp>
        <p:nvSpPr>
          <p:cNvPr id="23" name="Google Shape;507;p4"/>
          <p:cNvSpPr/>
          <p:nvPr/>
        </p:nvSpPr>
        <p:spPr>
          <a:xfrm>
            <a:off x="442123" y="4705594"/>
            <a:ext cx="11236568" cy="129822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i="0" u="none" strike="noStrike" cap="none" dirty="0">
                <a:solidFill>
                  <a:srgbClr val="000000"/>
                </a:solidFill>
                <a:latin typeface="Calibri"/>
                <a:ea typeface="Calibri"/>
                <a:cs typeface="Calibri"/>
                <a:sym typeface="Calibri"/>
              </a:rPr>
              <a:t>There is a </a:t>
            </a:r>
            <a:r>
              <a:rPr lang="af-ZA" sz="2000" b="1" i="0" u="none" strike="noStrike" cap="none" dirty="0">
                <a:solidFill>
                  <a:srgbClr val="000000"/>
                </a:solidFill>
                <a:latin typeface="Calibri"/>
                <a:ea typeface="Calibri"/>
                <a:cs typeface="Calibri"/>
                <a:sym typeface="Calibri"/>
              </a:rPr>
              <a:t>limitation </a:t>
            </a:r>
            <a:r>
              <a:rPr lang="af-ZA" sz="2000" i="0" u="none" strike="noStrike" cap="none" dirty="0">
                <a:solidFill>
                  <a:srgbClr val="000000"/>
                </a:solidFill>
                <a:latin typeface="Calibri"/>
                <a:ea typeface="Calibri"/>
                <a:cs typeface="Calibri"/>
                <a:sym typeface="Calibri"/>
              </a:rPr>
              <a:t>with matrix multiplication that states that the </a:t>
            </a:r>
            <a:r>
              <a:rPr lang="af-ZA" sz="2000" b="1" i="0" u="none" strike="noStrike" cap="none" dirty="0">
                <a:solidFill>
                  <a:srgbClr val="000000"/>
                </a:solidFill>
                <a:latin typeface="Calibri"/>
                <a:ea typeface="Calibri"/>
                <a:cs typeface="Calibri"/>
                <a:sym typeface="Calibri"/>
              </a:rPr>
              <a:t>columns of the first matrix should always be equal to the rows of the second matrix</a:t>
            </a:r>
            <a:r>
              <a:rPr lang="af-ZA" sz="2000" i="0" u="none" strike="noStrike" cap="none" dirty="0">
                <a:solidFill>
                  <a:srgbClr val="000000"/>
                </a:solidFill>
                <a:latin typeface="Calibri"/>
                <a:ea typeface="Calibri"/>
                <a:cs typeface="Calibri"/>
                <a:sym typeface="Calibri"/>
              </a:rPr>
              <a:t>. For example – if the dimensions of the above matrices were 3x</a:t>
            </a:r>
            <a:r>
              <a:rPr lang="af-ZA" sz="2000" b="1" i="0" u="none" strike="noStrike" cap="none" dirty="0">
                <a:solidFill>
                  <a:srgbClr val="000000"/>
                </a:solidFill>
                <a:latin typeface="Calibri"/>
                <a:ea typeface="Calibri"/>
                <a:cs typeface="Calibri"/>
                <a:sym typeface="Calibri"/>
              </a:rPr>
              <a:t>3</a:t>
            </a:r>
            <a:r>
              <a:rPr lang="af-ZA" sz="2000" i="0" u="none" strike="noStrike" cap="none" dirty="0">
                <a:solidFill>
                  <a:srgbClr val="000000"/>
                </a:solidFill>
                <a:latin typeface="Calibri"/>
                <a:ea typeface="Calibri"/>
                <a:cs typeface="Calibri"/>
                <a:sym typeface="Calibri"/>
              </a:rPr>
              <a:t> and </a:t>
            </a:r>
            <a:r>
              <a:rPr lang="af-ZA" sz="2000" b="1" i="0" u="none" strike="noStrike" cap="none" dirty="0">
                <a:solidFill>
                  <a:srgbClr val="000000"/>
                </a:solidFill>
                <a:latin typeface="Calibri"/>
                <a:ea typeface="Calibri"/>
                <a:cs typeface="Calibri"/>
                <a:sym typeface="Calibri"/>
              </a:rPr>
              <a:t>2</a:t>
            </a:r>
            <a:r>
              <a:rPr lang="af-ZA" sz="2000" i="0" u="none" strike="noStrike" cap="none" dirty="0">
                <a:solidFill>
                  <a:srgbClr val="000000"/>
                </a:solidFill>
                <a:latin typeface="Calibri"/>
                <a:ea typeface="Calibri"/>
                <a:cs typeface="Calibri"/>
                <a:sym typeface="Calibri"/>
              </a:rPr>
              <a:t>x2, the multiplication would not have been possible. </a:t>
            </a:r>
          </a:p>
        </p:txBody>
      </p:sp>
    </p:spTree>
    <p:extLst>
      <p:ext uri="{BB962C8B-B14F-4D97-AF65-F5344CB8AC3E}">
        <p14:creationId xmlns:p14="http://schemas.microsoft.com/office/powerpoint/2010/main" val="3915001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6" name="Google Shape;507;p4"/>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4" name="TextBox 3"/>
          <p:cNvSpPr txBox="1"/>
          <p:nvPr/>
        </p:nvSpPr>
        <p:spPr>
          <a:xfrm>
            <a:off x="8748346" y="1547454"/>
            <a:ext cx="1828800" cy="369332"/>
          </a:xfrm>
          <a:prstGeom prst="rect">
            <a:avLst/>
          </a:prstGeom>
          <a:noFill/>
        </p:spPr>
        <p:txBody>
          <a:bodyPr wrap="square" rtlCol="0">
            <a:spAutoFit/>
          </a:bodyPr>
          <a:lstStyle/>
          <a:p>
            <a:pPr algn="ctr"/>
            <a:r>
              <a:rPr lang="af-ZA" sz="1800" b="1" dirty="0"/>
              <a:t>Output</a:t>
            </a:r>
            <a:endParaRPr lang="en-IN" sz="1800" b="1" dirty="0"/>
          </a:p>
        </p:txBody>
      </p:sp>
      <p:sp>
        <p:nvSpPr>
          <p:cNvPr id="22" name="Google Shape;507;p4"/>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used the numpy.dot() method to multiply the two matrices.</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1083" y="2271055"/>
            <a:ext cx="5916179" cy="1858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8250" y="2271055"/>
            <a:ext cx="2168992" cy="1720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2675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Matrix Multiplication</a:t>
            </a:r>
          </a:p>
        </p:txBody>
      </p:sp>
      <p:grpSp>
        <p:nvGrpSpPr>
          <p:cNvPr id="3" name="Group 2"/>
          <p:cNvGrpSpPr/>
          <p:nvPr/>
        </p:nvGrpSpPr>
        <p:grpSpPr>
          <a:xfrm>
            <a:off x="622806" y="2348767"/>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833821" y="2603748"/>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1767390063"/>
              </p:ext>
            </p:extLst>
          </p:nvPr>
        </p:nvGraphicFramePr>
        <p:xfrm>
          <a:off x="960588" y="2603748"/>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Multiply 8"/>
          <p:cNvSpPr/>
          <p:nvPr/>
        </p:nvSpPr>
        <p:spPr>
          <a:xfrm>
            <a:off x="3416794" y="3157697"/>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Equal 15"/>
          <p:cNvSpPr/>
          <p:nvPr/>
        </p:nvSpPr>
        <p:spPr>
          <a:xfrm>
            <a:off x="7042638" y="3166543"/>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TextBox 20"/>
          <p:cNvSpPr txBox="1"/>
          <p:nvPr/>
        </p:nvSpPr>
        <p:spPr>
          <a:xfrm>
            <a:off x="9142552" y="2603694"/>
            <a:ext cx="633046" cy="307777"/>
          </a:xfrm>
          <a:prstGeom prst="rect">
            <a:avLst/>
          </a:prstGeom>
          <a:noFill/>
        </p:spPr>
        <p:txBody>
          <a:bodyPr wrap="square" rtlCol="0">
            <a:spAutoFit/>
          </a:bodyPr>
          <a:lstStyle/>
          <a:p>
            <a:endParaRPr lang="en-IN" dirty="0"/>
          </a:p>
        </p:txBody>
      </p:sp>
      <p:grpSp>
        <p:nvGrpSpPr>
          <p:cNvPr id="17" name="Group 16"/>
          <p:cNvGrpSpPr/>
          <p:nvPr/>
        </p:nvGrpSpPr>
        <p:grpSpPr>
          <a:xfrm>
            <a:off x="4297991" y="2348767"/>
            <a:ext cx="2611315" cy="2593731"/>
            <a:chOff x="4423877" y="3182812"/>
            <a:chExt cx="2611315" cy="2593731"/>
          </a:xfrm>
        </p:grpSpPr>
        <p:sp>
          <p:nvSpPr>
            <p:cNvPr id="18" name="Left Bracket 1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Right Bracket 18"/>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0" name="TextBox 19"/>
          <p:cNvSpPr txBox="1"/>
          <p:nvPr/>
        </p:nvSpPr>
        <p:spPr>
          <a:xfrm>
            <a:off x="4509006" y="2603748"/>
            <a:ext cx="633046" cy="307777"/>
          </a:xfrm>
          <a:prstGeom prst="rect">
            <a:avLst/>
          </a:prstGeom>
          <a:noFill/>
        </p:spPr>
        <p:txBody>
          <a:bodyPr wrap="square" rtlCol="0">
            <a:spAutoFit/>
          </a:bodyPr>
          <a:lstStyle/>
          <a:p>
            <a:endParaRPr lang="en-IN" dirty="0"/>
          </a:p>
        </p:txBody>
      </p:sp>
      <p:graphicFrame>
        <p:nvGraphicFramePr>
          <p:cNvPr id="22" name="Table 21"/>
          <p:cNvGraphicFramePr>
            <a:graphicFrameLocks noGrp="1"/>
          </p:cNvGraphicFramePr>
          <p:nvPr>
            <p:extLst>
              <p:ext uri="{D42A27DB-BD31-4B8C-83A1-F6EECF244321}">
                <p14:modId xmlns:p14="http://schemas.microsoft.com/office/powerpoint/2010/main" val="1767390063"/>
              </p:ext>
            </p:extLst>
          </p:nvPr>
        </p:nvGraphicFramePr>
        <p:xfrm>
          <a:off x="4635773" y="2603748"/>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23" name="Google Shape;507;p4"/>
          <p:cNvSpPr/>
          <p:nvPr/>
        </p:nvSpPr>
        <p:spPr>
          <a:xfrm>
            <a:off x="8335107" y="1880959"/>
            <a:ext cx="3534507" cy="352934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i="0" u="none" strike="noStrike" cap="none" dirty="0">
                <a:solidFill>
                  <a:srgbClr val="000000"/>
                </a:solidFill>
                <a:latin typeface="Calibri"/>
                <a:ea typeface="Calibri"/>
                <a:cs typeface="Calibri"/>
                <a:sym typeface="Calibri"/>
              </a:rPr>
              <a:t>The dimension of the first matrix is 3x3 and that of the vector is 3x3. Therefore, the dimension of the resultant matrix will be  3x3. </a:t>
            </a:r>
          </a:p>
        </p:txBody>
      </p:sp>
    </p:spTree>
    <p:extLst>
      <p:ext uri="{BB962C8B-B14F-4D97-AF65-F5344CB8AC3E}">
        <p14:creationId xmlns:p14="http://schemas.microsoft.com/office/powerpoint/2010/main" val="3042362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Matrix Multiplication</a:t>
            </a:r>
          </a:p>
        </p:txBody>
      </p:sp>
      <p:grpSp>
        <p:nvGrpSpPr>
          <p:cNvPr id="3" name="Group 2"/>
          <p:cNvGrpSpPr/>
          <p:nvPr/>
        </p:nvGrpSpPr>
        <p:grpSpPr>
          <a:xfrm>
            <a:off x="622806" y="2348767"/>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833821" y="2603748"/>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3116813061"/>
              </p:ext>
            </p:extLst>
          </p:nvPr>
        </p:nvGraphicFramePr>
        <p:xfrm>
          <a:off x="960588" y="2603748"/>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Multiply 8"/>
          <p:cNvSpPr/>
          <p:nvPr/>
        </p:nvSpPr>
        <p:spPr>
          <a:xfrm>
            <a:off x="3416794" y="3157697"/>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Equal 15"/>
          <p:cNvSpPr/>
          <p:nvPr/>
        </p:nvSpPr>
        <p:spPr>
          <a:xfrm>
            <a:off x="7042638" y="3166543"/>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TextBox 20"/>
          <p:cNvSpPr txBox="1"/>
          <p:nvPr/>
        </p:nvSpPr>
        <p:spPr>
          <a:xfrm>
            <a:off x="9142552" y="2603694"/>
            <a:ext cx="633046" cy="307777"/>
          </a:xfrm>
          <a:prstGeom prst="rect">
            <a:avLst/>
          </a:prstGeom>
          <a:noFill/>
        </p:spPr>
        <p:txBody>
          <a:bodyPr wrap="square" rtlCol="0">
            <a:spAutoFit/>
          </a:bodyPr>
          <a:lstStyle/>
          <a:p>
            <a:endParaRPr lang="en-IN" dirty="0"/>
          </a:p>
        </p:txBody>
      </p:sp>
      <p:grpSp>
        <p:nvGrpSpPr>
          <p:cNvPr id="17" name="Group 16"/>
          <p:cNvGrpSpPr/>
          <p:nvPr/>
        </p:nvGrpSpPr>
        <p:grpSpPr>
          <a:xfrm>
            <a:off x="4297991" y="2348767"/>
            <a:ext cx="2611315" cy="2593731"/>
            <a:chOff x="4423877" y="3182812"/>
            <a:chExt cx="2611315" cy="2593731"/>
          </a:xfrm>
        </p:grpSpPr>
        <p:sp>
          <p:nvSpPr>
            <p:cNvPr id="18" name="Left Bracket 1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Right Bracket 18"/>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0" name="TextBox 19"/>
          <p:cNvSpPr txBox="1"/>
          <p:nvPr/>
        </p:nvSpPr>
        <p:spPr>
          <a:xfrm>
            <a:off x="4509006" y="2603748"/>
            <a:ext cx="633046" cy="307777"/>
          </a:xfrm>
          <a:prstGeom prst="rect">
            <a:avLst/>
          </a:prstGeom>
          <a:noFill/>
        </p:spPr>
        <p:txBody>
          <a:bodyPr wrap="square" rtlCol="0">
            <a:spAutoFit/>
          </a:bodyPr>
          <a:lstStyle/>
          <a:p>
            <a:endParaRPr lang="en-IN" dirty="0"/>
          </a:p>
        </p:txBody>
      </p:sp>
      <p:graphicFrame>
        <p:nvGraphicFramePr>
          <p:cNvPr id="22" name="Table 21"/>
          <p:cNvGraphicFramePr>
            <a:graphicFrameLocks noGrp="1"/>
          </p:cNvGraphicFramePr>
          <p:nvPr>
            <p:extLst>
              <p:ext uri="{D42A27DB-BD31-4B8C-83A1-F6EECF244321}">
                <p14:modId xmlns:p14="http://schemas.microsoft.com/office/powerpoint/2010/main" val="2716325558"/>
              </p:ext>
            </p:extLst>
          </p:nvPr>
        </p:nvGraphicFramePr>
        <p:xfrm>
          <a:off x="4635773" y="2603748"/>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3</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23" name="Google Shape;507;p4"/>
          <p:cNvSpPr/>
          <p:nvPr/>
        </p:nvSpPr>
        <p:spPr>
          <a:xfrm>
            <a:off x="8335107" y="1880959"/>
            <a:ext cx="3534507" cy="352934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i="0" u="none" strike="noStrike" cap="none" dirty="0">
                <a:solidFill>
                  <a:srgbClr val="000000"/>
                </a:solidFill>
                <a:latin typeface="Calibri"/>
                <a:ea typeface="Calibri"/>
                <a:cs typeface="Calibri"/>
                <a:sym typeface="Calibri"/>
              </a:rPr>
              <a:t>The approach would be same here, we will multiply the rows of the first matrix to the column of the second matrix. </a:t>
            </a:r>
          </a:p>
        </p:txBody>
      </p:sp>
      <p:sp>
        <p:nvSpPr>
          <p:cNvPr id="24" name="Flowchart: Alternate Process 23"/>
          <p:cNvSpPr/>
          <p:nvPr/>
        </p:nvSpPr>
        <p:spPr>
          <a:xfrm>
            <a:off x="1044837" y="2630376"/>
            <a:ext cx="1802423"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25" name="Flowchart: Alternate Process 24"/>
          <p:cNvSpPr/>
          <p:nvPr/>
        </p:nvSpPr>
        <p:spPr>
          <a:xfrm rot="5400000">
            <a:off x="4100164" y="3364277"/>
            <a:ext cx="1802423"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Tree>
    <p:extLst>
      <p:ext uri="{BB962C8B-B14F-4D97-AF65-F5344CB8AC3E}">
        <p14:creationId xmlns:p14="http://schemas.microsoft.com/office/powerpoint/2010/main" val="740025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Matrix Multiplication</a:t>
            </a:r>
          </a:p>
        </p:txBody>
      </p:sp>
      <p:grpSp>
        <p:nvGrpSpPr>
          <p:cNvPr id="3" name="Group 2"/>
          <p:cNvGrpSpPr/>
          <p:nvPr/>
        </p:nvGrpSpPr>
        <p:grpSpPr>
          <a:xfrm>
            <a:off x="622806" y="1614659"/>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833821" y="1869640"/>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1641160186"/>
              </p:ext>
            </p:extLst>
          </p:nvPr>
        </p:nvGraphicFramePr>
        <p:xfrm>
          <a:off x="960588" y="1869640"/>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Multiply 8"/>
          <p:cNvSpPr/>
          <p:nvPr/>
        </p:nvSpPr>
        <p:spPr>
          <a:xfrm>
            <a:off x="3416794" y="2423589"/>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Equal 15"/>
          <p:cNvSpPr/>
          <p:nvPr/>
        </p:nvSpPr>
        <p:spPr>
          <a:xfrm>
            <a:off x="7042638" y="2432435"/>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TextBox 20"/>
          <p:cNvSpPr txBox="1"/>
          <p:nvPr/>
        </p:nvSpPr>
        <p:spPr>
          <a:xfrm>
            <a:off x="9142552" y="1869586"/>
            <a:ext cx="633046" cy="307777"/>
          </a:xfrm>
          <a:prstGeom prst="rect">
            <a:avLst/>
          </a:prstGeom>
          <a:noFill/>
        </p:spPr>
        <p:txBody>
          <a:bodyPr wrap="square" rtlCol="0">
            <a:spAutoFit/>
          </a:bodyPr>
          <a:lstStyle/>
          <a:p>
            <a:endParaRPr lang="en-IN" dirty="0"/>
          </a:p>
        </p:txBody>
      </p:sp>
      <p:grpSp>
        <p:nvGrpSpPr>
          <p:cNvPr id="17" name="Group 16"/>
          <p:cNvGrpSpPr/>
          <p:nvPr/>
        </p:nvGrpSpPr>
        <p:grpSpPr>
          <a:xfrm>
            <a:off x="4297991" y="1614659"/>
            <a:ext cx="2611315" cy="2593731"/>
            <a:chOff x="4423877" y="3182812"/>
            <a:chExt cx="2611315" cy="2593731"/>
          </a:xfrm>
        </p:grpSpPr>
        <p:sp>
          <p:nvSpPr>
            <p:cNvPr id="18" name="Left Bracket 1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Right Bracket 18"/>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0" name="TextBox 19"/>
          <p:cNvSpPr txBox="1"/>
          <p:nvPr/>
        </p:nvSpPr>
        <p:spPr>
          <a:xfrm>
            <a:off x="4509006" y="1869640"/>
            <a:ext cx="633046" cy="307777"/>
          </a:xfrm>
          <a:prstGeom prst="rect">
            <a:avLst/>
          </a:prstGeom>
          <a:noFill/>
        </p:spPr>
        <p:txBody>
          <a:bodyPr wrap="square" rtlCol="0">
            <a:spAutoFit/>
          </a:bodyPr>
          <a:lstStyle/>
          <a:p>
            <a:endParaRPr lang="en-IN" dirty="0"/>
          </a:p>
        </p:txBody>
      </p:sp>
      <p:graphicFrame>
        <p:nvGraphicFramePr>
          <p:cNvPr id="22" name="Table 21"/>
          <p:cNvGraphicFramePr>
            <a:graphicFrameLocks noGrp="1"/>
          </p:cNvGraphicFramePr>
          <p:nvPr>
            <p:extLst>
              <p:ext uri="{D42A27DB-BD31-4B8C-83A1-F6EECF244321}">
                <p14:modId xmlns:p14="http://schemas.microsoft.com/office/powerpoint/2010/main" val="3681459533"/>
              </p:ext>
            </p:extLst>
          </p:nvPr>
        </p:nvGraphicFramePr>
        <p:xfrm>
          <a:off x="4635773" y="1869640"/>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3</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grpSp>
        <p:nvGrpSpPr>
          <p:cNvPr id="26" name="Group 25"/>
          <p:cNvGrpSpPr/>
          <p:nvPr/>
        </p:nvGrpSpPr>
        <p:grpSpPr>
          <a:xfrm>
            <a:off x="8255978" y="1614659"/>
            <a:ext cx="3683976" cy="2593731"/>
            <a:chOff x="4423877" y="3182812"/>
            <a:chExt cx="2611315" cy="2593731"/>
          </a:xfrm>
        </p:grpSpPr>
        <p:sp>
          <p:nvSpPr>
            <p:cNvPr id="27" name="Left Bracket 26"/>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8" name="Right Bracket 27"/>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9" name="TextBox 28"/>
          <p:cNvSpPr txBox="1"/>
          <p:nvPr/>
        </p:nvSpPr>
        <p:spPr>
          <a:xfrm>
            <a:off x="9045837" y="1869640"/>
            <a:ext cx="633046" cy="307777"/>
          </a:xfrm>
          <a:prstGeom prst="rect">
            <a:avLst/>
          </a:prstGeom>
          <a:noFill/>
        </p:spPr>
        <p:txBody>
          <a:bodyPr wrap="square" rtlCol="0">
            <a:spAutoFit/>
          </a:bodyPr>
          <a:lstStyle/>
          <a:p>
            <a:endParaRPr lang="en-IN" dirty="0"/>
          </a:p>
        </p:txBody>
      </p:sp>
      <p:graphicFrame>
        <p:nvGraphicFramePr>
          <p:cNvPr id="30" name="Table 29"/>
          <p:cNvGraphicFramePr>
            <a:graphicFrameLocks noGrp="1"/>
          </p:cNvGraphicFramePr>
          <p:nvPr>
            <p:extLst>
              <p:ext uri="{D42A27DB-BD31-4B8C-83A1-F6EECF244321}">
                <p14:modId xmlns:p14="http://schemas.microsoft.com/office/powerpoint/2010/main" val="2515469993"/>
              </p:ext>
            </p:extLst>
          </p:nvPr>
        </p:nvGraphicFramePr>
        <p:xfrm>
          <a:off x="8404000" y="1869586"/>
          <a:ext cx="3351315" cy="2057400"/>
        </p:xfrm>
        <a:graphic>
          <a:graphicData uri="http://schemas.openxmlformats.org/drawingml/2006/table">
            <a:tbl>
              <a:tblPr firstRow="1" bandRow="1">
                <a:effectLst/>
                <a:tableStyleId>{5C22544A-7EE6-4342-B048-85BDC9FD1C3A}</a:tableStyleId>
              </a:tblPr>
              <a:tblGrid>
                <a:gridCol w="1117105">
                  <a:extLst>
                    <a:ext uri="{9D8B030D-6E8A-4147-A177-3AD203B41FA5}">
                      <a16:colId xmlns="" xmlns:a16="http://schemas.microsoft.com/office/drawing/2014/main" val="20000"/>
                    </a:ext>
                  </a:extLst>
                </a:gridCol>
                <a:gridCol w="1117105">
                  <a:extLst>
                    <a:ext uri="{9D8B030D-6E8A-4147-A177-3AD203B41FA5}">
                      <a16:colId xmlns="" xmlns:a16="http://schemas.microsoft.com/office/drawing/2014/main" val="20001"/>
                    </a:ext>
                  </a:extLst>
                </a:gridCol>
                <a:gridCol w="1117105">
                  <a:extLst>
                    <a:ext uri="{9D8B030D-6E8A-4147-A177-3AD203B41FA5}">
                      <a16:colId xmlns="" xmlns:a16="http://schemas.microsoft.com/office/drawing/2014/main" val="20002"/>
                    </a:ext>
                  </a:extLst>
                </a:gridCol>
              </a:tblGrid>
              <a:tr h="685800">
                <a:tc>
                  <a:txBody>
                    <a:bodyPr/>
                    <a:lstStyle/>
                    <a:p>
                      <a:pPr algn="ctr"/>
                      <a:r>
                        <a:rPr lang="af-ZA" sz="3600" b="1" dirty="0">
                          <a:solidFill>
                            <a:schemeClr val="tx1"/>
                          </a:solidFill>
                        </a:rPr>
                        <a:t>47</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30</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32" name="Flowchart: Alternate Process 31"/>
          <p:cNvSpPr/>
          <p:nvPr/>
        </p:nvSpPr>
        <p:spPr>
          <a:xfrm>
            <a:off x="862628" y="4743543"/>
            <a:ext cx="5108331"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af-ZA" sz="2000" b="1" dirty="0">
                <a:solidFill>
                  <a:schemeClr val="tx1"/>
                </a:solidFill>
              </a:rPr>
              <a:t>X1 = (5x1) + (2x3) + (9x4) = 5+6+36 = 47</a:t>
            </a:r>
            <a:endParaRPr lang="en-IN" sz="2000" b="1" dirty="0">
              <a:solidFill>
                <a:schemeClr val="tx1"/>
              </a:solidFill>
            </a:endParaRPr>
          </a:p>
        </p:txBody>
      </p:sp>
      <p:sp>
        <p:nvSpPr>
          <p:cNvPr id="33" name="Flowchart: Alternate Process 32"/>
          <p:cNvSpPr/>
          <p:nvPr/>
        </p:nvSpPr>
        <p:spPr>
          <a:xfrm>
            <a:off x="862628" y="5490889"/>
            <a:ext cx="5108331"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af-ZA" sz="2000" b="1" dirty="0">
                <a:solidFill>
                  <a:schemeClr val="tx1"/>
                </a:solidFill>
              </a:rPr>
              <a:t>X2 = (5x2) + (2x1) + (9x2) = 10+2+18 = 30</a:t>
            </a:r>
            <a:endParaRPr lang="en-IN" sz="2000" b="1" dirty="0">
              <a:solidFill>
                <a:schemeClr val="tx1"/>
              </a:solidFill>
            </a:endParaRPr>
          </a:p>
        </p:txBody>
      </p:sp>
      <p:sp>
        <p:nvSpPr>
          <p:cNvPr id="36" name="Flowchart: Alternate Process 35"/>
          <p:cNvSpPr/>
          <p:nvPr/>
        </p:nvSpPr>
        <p:spPr>
          <a:xfrm>
            <a:off x="1044836" y="1879597"/>
            <a:ext cx="1802423"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37" name="Flowchart: Alternate Process 36"/>
          <p:cNvSpPr/>
          <p:nvPr/>
        </p:nvSpPr>
        <p:spPr>
          <a:xfrm rot="5400000">
            <a:off x="4100163" y="2613498"/>
            <a:ext cx="1802423"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38" name="Flowchart: Alternate Process 37"/>
          <p:cNvSpPr/>
          <p:nvPr/>
        </p:nvSpPr>
        <p:spPr>
          <a:xfrm>
            <a:off x="8557863" y="1981772"/>
            <a:ext cx="804497"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39" name="Flowchart: Alternate Process 38"/>
          <p:cNvSpPr/>
          <p:nvPr/>
        </p:nvSpPr>
        <p:spPr>
          <a:xfrm>
            <a:off x="9677435" y="1979814"/>
            <a:ext cx="804497"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Tree>
    <p:extLst>
      <p:ext uri="{BB962C8B-B14F-4D97-AF65-F5344CB8AC3E}">
        <p14:creationId xmlns:p14="http://schemas.microsoft.com/office/powerpoint/2010/main" val="945821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6" grpId="0" animBg="1"/>
      <p:bldP spid="37" grpId="0" animBg="1"/>
      <p:bldP spid="38" grpId="0" animBg="1"/>
      <p:bldP spid="3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Matrix Multiplication</a:t>
            </a:r>
          </a:p>
        </p:txBody>
      </p:sp>
      <p:grpSp>
        <p:nvGrpSpPr>
          <p:cNvPr id="3" name="Group 2"/>
          <p:cNvGrpSpPr/>
          <p:nvPr/>
        </p:nvGrpSpPr>
        <p:grpSpPr>
          <a:xfrm>
            <a:off x="622806" y="1614659"/>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833821" y="1869640"/>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148639746"/>
              </p:ext>
            </p:extLst>
          </p:nvPr>
        </p:nvGraphicFramePr>
        <p:xfrm>
          <a:off x="960588" y="1869640"/>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Multiply 8"/>
          <p:cNvSpPr/>
          <p:nvPr/>
        </p:nvSpPr>
        <p:spPr>
          <a:xfrm>
            <a:off x="3416794" y="2423589"/>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Equal 15"/>
          <p:cNvSpPr/>
          <p:nvPr/>
        </p:nvSpPr>
        <p:spPr>
          <a:xfrm>
            <a:off x="7042638" y="2432435"/>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TextBox 20"/>
          <p:cNvSpPr txBox="1"/>
          <p:nvPr/>
        </p:nvSpPr>
        <p:spPr>
          <a:xfrm>
            <a:off x="9142552" y="1869586"/>
            <a:ext cx="633046" cy="307777"/>
          </a:xfrm>
          <a:prstGeom prst="rect">
            <a:avLst/>
          </a:prstGeom>
          <a:noFill/>
        </p:spPr>
        <p:txBody>
          <a:bodyPr wrap="square" rtlCol="0">
            <a:spAutoFit/>
          </a:bodyPr>
          <a:lstStyle/>
          <a:p>
            <a:endParaRPr lang="en-IN" dirty="0"/>
          </a:p>
        </p:txBody>
      </p:sp>
      <p:grpSp>
        <p:nvGrpSpPr>
          <p:cNvPr id="17" name="Group 16"/>
          <p:cNvGrpSpPr/>
          <p:nvPr/>
        </p:nvGrpSpPr>
        <p:grpSpPr>
          <a:xfrm>
            <a:off x="4297991" y="1614659"/>
            <a:ext cx="2611315" cy="2593731"/>
            <a:chOff x="4423877" y="3182812"/>
            <a:chExt cx="2611315" cy="2593731"/>
          </a:xfrm>
        </p:grpSpPr>
        <p:sp>
          <p:nvSpPr>
            <p:cNvPr id="18" name="Left Bracket 1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Right Bracket 18"/>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0" name="TextBox 19"/>
          <p:cNvSpPr txBox="1"/>
          <p:nvPr/>
        </p:nvSpPr>
        <p:spPr>
          <a:xfrm>
            <a:off x="4509006" y="1869640"/>
            <a:ext cx="633046" cy="307777"/>
          </a:xfrm>
          <a:prstGeom prst="rect">
            <a:avLst/>
          </a:prstGeom>
          <a:noFill/>
        </p:spPr>
        <p:txBody>
          <a:bodyPr wrap="square" rtlCol="0">
            <a:spAutoFit/>
          </a:bodyPr>
          <a:lstStyle/>
          <a:p>
            <a:endParaRPr lang="en-IN" dirty="0"/>
          </a:p>
        </p:txBody>
      </p:sp>
      <p:graphicFrame>
        <p:nvGraphicFramePr>
          <p:cNvPr id="22" name="Table 21"/>
          <p:cNvGraphicFramePr>
            <a:graphicFrameLocks noGrp="1"/>
          </p:cNvGraphicFramePr>
          <p:nvPr>
            <p:extLst>
              <p:ext uri="{D42A27DB-BD31-4B8C-83A1-F6EECF244321}">
                <p14:modId xmlns:p14="http://schemas.microsoft.com/office/powerpoint/2010/main" val="3768774466"/>
              </p:ext>
            </p:extLst>
          </p:nvPr>
        </p:nvGraphicFramePr>
        <p:xfrm>
          <a:off x="4635773" y="1869640"/>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3</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grpSp>
        <p:nvGrpSpPr>
          <p:cNvPr id="26" name="Group 25"/>
          <p:cNvGrpSpPr/>
          <p:nvPr/>
        </p:nvGrpSpPr>
        <p:grpSpPr>
          <a:xfrm>
            <a:off x="8255978" y="1614659"/>
            <a:ext cx="3683976" cy="2593731"/>
            <a:chOff x="4423877" y="3182812"/>
            <a:chExt cx="2611315" cy="2593731"/>
          </a:xfrm>
        </p:grpSpPr>
        <p:sp>
          <p:nvSpPr>
            <p:cNvPr id="27" name="Left Bracket 26"/>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8" name="Right Bracket 27"/>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9" name="TextBox 28"/>
          <p:cNvSpPr txBox="1"/>
          <p:nvPr/>
        </p:nvSpPr>
        <p:spPr>
          <a:xfrm>
            <a:off x="9045837" y="1869640"/>
            <a:ext cx="633046" cy="307777"/>
          </a:xfrm>
          <a:prstGeom prst="rect">
            <a:avLst/>
          </a:prstGeom>
          <a:noFill/>
        </p:spPr>
        <p:txBody>
          <a:bodyPr wrap="square" rtlCol="0">
            <a:spAutoFit/>
          </a:bodyPr>
          <a:lstStyle/>
          <a:p>
            <a:endParaRPr lang="en-IN" dirty="0"/>
          </a:p>
        </p:txBody>
      </p:sp>
      <p:graphicFrame>
        <p:nvGraphicFramePr>
          <p:cNvPr id="30" name="Table 29"/>
          <p:cNvGraphicFramePr>
            <a:graphicFrameLocks noGrp="1"/>
          </p:cNvGraphicFramePr>
          <p:nvPr>
            <p:extLst>
              <p:ext uri="{D42A27DB-BD31-4B8C-83A1-F6EECF244321}">
                <p14:modId xmlns:p14="http://schemas.microsoft.com/office/powerpoint/2010/main" val="3502227410"/>
              </p:ext>
            </p:extLst>
          </p:nvPr>
        </p:nvGraphicFramePr>
        <p:xfrm>
          <a:off x="8404000" y="1869586"/>
          <a:ext cx="3351315" cy="2057400"/>
        </p:xfrm>
        <a:graphic>
          <a:graphicData uri="http://schemas.openxmlformats.org/drawingml/2006/table">
            <a:tbl>
              <a:tblPr firstRow="1" bandRow="1">
                <a:effectLst/>
                <a:tableStyleId>{5C22544A-7EE6-4342-B048-85BDC9FD1C3A}</a:tableStyleId>
              </a:tblPr>
              <a:tblGrid>
                <a:gridCol w="1117105">
                  <a:extLst>
                    <a:ext uri="{9D8B030D-6E8A-4147-A177-3AD203B41FA5}">
                      <a16:colId xmlns="" xmlns:a16="http://schemas.microsoft.com/office/drawing/2014/main" val="20000"/>
                    </a:ext>
                  </a:extLst>
                </a:gridCol>
                <a:gridCol w="1117105">
                  <a:extLst>
                    <a:ext uri="{9D8B030D-6E8A-4147-A177-3AD203B41FA5}">
                      <a16:colId xmlns="" xmlns:a16="http://schemas.microsoft.com/office/drawing/2014/main" val="20001"/>
                    </a:ext>
                  </a:extLst>
                </a:gridCol>
                <a:gridCol w="1117105">
                  <a:extLst>
                    <a:ext uri="{9D8B030D-6E8A-4147-A177-3AD203B41FA5}">
                      <a16:colId xmlns="" xmlns:a16="http://schemas.microsoft.com/office/drawing/2014/main" val="20002"/>
                    </a:ext>
                  </a:extLst>
                </a:gridCol>
              </a:tblGrid>
              <a:tr h="685800">
                <a:tc>
                  <a:txBody>
                    <a:bodyPr/>
                    <a:lstStyle/>
                    <a:p>
                      <a:pPr algn="ctr"/>
                      <a:r>
                        <a:rPr lang="af-ZA" sz="3600" b="1" dirty="0">
                          <a:solidFill>
                            <a:schemeClr val="tx1"/>
                          </a:solidFill>
                        </a:rPr>
                        <a:t>47</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30</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af-ZA" sz="3600" b="1" dirty="0">
                          <a:solidFill>
                            <a:schemeClr val="tx1"/>
                          </a:solidFill>
                        </a:rPr>
                        <a:t>?</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af-ZA" sz="3600" b="1" dirty="0">
                          <a:solidFill>
                            <a:schemeClr val="tx1"/>
                          </a:solidFill>
                        </a:rPr>
                        <a:t>?</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af-ZA" sz="3600" b="1" dirty="0">
                          <a:solidFill>
                            <a:schemeClr val="tx1"/>
                          </a:solidFill>
                        </a:rPr>
                        <a:t>?</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36" name="Flowchart: Alternate Process 35"/>
          <p:cNvSpPr/>
          <p:nvPr/>
        </p:nvSpPr>
        <p:spPr>
          <a:xfrm>
            <a:off x="1044836" y="1879597"/>
            <a:ext cx="1802423"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37" name="Flowchart: Alternate Process 36"/>
          <p:cNvSpPr/>
          <p:nvPr/>
        </p:nvSpPr>
        <p:spPr>
          <a:xfrm rot="5400000">
            <a:off x="4100163" y="2613498"/>
            <a:ext cx="1802423"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38" name="Flowchart: Alternate Process 37"/>
          <p:cNvSpPr/>
          <p:nvPr/>
        </p:nvSpPr>
        <p:spPr>
          <a:xfrm>
            <a:off x="8557863" y="1981772"/>
            <a:ext cx="804497"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39" name="Flowchart: Alternate Process 38"/>
          <p:cNvSpPr/>
          <p:nvPr/>
        </p:nvSpPr>
        <p:spPr>
          <a:xfrm>
            <a:off x="9677435" y="1979814"/>
            <a:ext cx="804497"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dirty="0">
              <a:solidFill>
                <a:schemeClr val="tx1"/>
              </a:solidFill>
            </a:endParaRPr>
          </a:p>
        </p:txBody>
      </p:sp>
      <p:sp>
        <p:nvSpPr>
          <p:cNvPr id="31" name="Google Shape;507;p4"/>
          <p:cNvSpPr/>
          <p:nvPr/>
        </p:nvSpPr>
        <p:spPr>
          <a:xfrm>
            <a:off x="442123" y="4705594"/>
            <a:ext cx="11236568" cy="129822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i="0" u="none" strike="noStrike" cap="none" dirty="0">
                <a:solidFill>
                  <a:srgbClr val="000000"/>
                </a:solidFill>
                <a:latin typeface="Calibri"/>
                <a:ea typeface="Calibri"/>
                <a:cs typeface="Calibri"/>
                <a:sym typeface="Calibri"/>
              </a:rPr>
              <a:t>Similarly, you can find the rest of the elements of the resultant matrix. </a:t>
            </a:r>
          </a:p>
        </p:txBody>
      </p:sp>
    </p:spTree>
    <p:extLst>
      <p:ext uri="{BB962C8B-B14F-4D97-AF65-F5344CB8AC3E}">
        <p14:creationId xmlns:p14="http://schemas.microsoft.com/office/powerpoint/2010/main" val="648784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Matrix Multiplication</a:t>
            </a:r>
          </a:p>
        </p:txBody>
      </p:sp>
      <p:grpSp>
        <p:nvGrpSpPr>
          <p:cNvPr id="3" name="Group 2"/>
          <p:cNvGrpSpPr/>
          <p:nvPr/>
        </p:nvGrpSpPr>
        <p:grpSpPr>
          <a:xfrm>
            <a:off x="622806" y="2376502"/>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833821" y="2631483"/>
            <a:ext cx="633046" cy="307777"/>
          </a:xfrm>
          <a:prstGeom prst="rect">
            <a:avLst/>
          </a:prstGeom>
          <a:noFill/>
        </p:spPr>
        <p:txBody>
          <a:bodyPr wrap="square" rtlCol="0">
            <a:spAutoFit/>
          </a:bodyPr>
          <a:lstStyle/>
          <a:p>
            <a:endParaRPr lang="en-IN" dirty="0"/>
          </a:p>
        </p:txBody>
      </p:sp>
      <p:graphicFrame>
        <p:nvGraphicFramePr>
          <p:cNvPr id="8" name="Table 7"/>
          <p:cNvGraphicFramePr>
            <a:graphicFrameLocks noGrp="1"/>
          </p:cNvGraphicFramePr>
          <p:nvPr>
            <p:extLst>
              <p:ext uri="{D42A27DB-BD31-4B8C-83A1-F6EECF244321}">
                <p14:modId xmlns:p14="http://schemas.microsoft.com/office/powerpoint/2010/main" val="4133593578"/>
              </p:ext>
            </p:extLst>
          </p:nvPr>
        </p:nvGraphicFramePr>
        <p:xfrm>
          <a:off x="960588" y="2631483"/>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Multiply 8"/>
          <p:cNvSpPr/>
          <p:nvPr/>
        </p:nvSpPr>
        <p:spPr>
          <a:xfrm>
            <a:off x="3416794" y="3185432"/>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Equal 15"/>
          <p:cNvSpPr/>
          <p:nvPr/>
        </p:nvSpPr>
        <p:spPr>
          <a:xfrm>
            <a:off x="7042638" y="3194278"/>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TextBox 20"/>
          <p:cNvSpPr txBox="1"/>
          <p:nvPr/>
        </p:nvSpPr>
        <p:spPr>
          <a:xfrm>
            <a:off x="9142552" y="2631429"/>
            <a:ext cx="633046" cy="307777"/>
          </a:xfrm>
          <a:prstGeom prst="rect">
            <a:avLst/>
          </a:prstGeom>
          <a:noFill/>
        </p:spPr>
        <p:txBody>
          <a:bodyPr wrap="square" rtlCol="0">
            <a:spAutoFit/>
          </a:bodyPr>
          <a:lstStyle/>
          <a:p>
            <a:endParaRPr lang="en-IN" dirty="0"/>
          </a:p>
        </p:txBody>
      </p:sp>
      <p:grpSp>
        <p:nvGrpSpPr>
          <p:cNvPr id="17" name="Group 16"/>
          <p:cNvGrpSpPr/>
          <p:nvPr/>
        </p:nvGrpSpPr>
        <p:grpSpPr>
          <a:xfrm>
            <a:off x="4297991" y="2376502"/>
            <a:ext cx="2611315" cy="2593731"/>
            <a:chOff x="4423877" y="3182812"/>
            <a:chExt cx="2611315" cy="2593731"/>
          </a:xfrm>
        </p:grpSpPr>
        <p:sp>
          <p:nvSpPr>
            <p:cNvPr id="18" name="Left Bracket 1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Right Bracket 18"/>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0" name="TextBox 19"/>
          <p:cNvSpPr txBox="1"/>
          <p:nvPr/>
        </p:nvSpPr>
        <p:spPr>
          <a:xfrm>
            <a:off x="4509006" y="2631483"/>
            <a:ext cx="633046" cy="307777"/>
          </a:xfrm>
          <a:prstGeom prst="rect">
            <a:avLst/>
          </a:prstGeom>
          <a:noFill/>
        </p:spPr>
        <p:txBody>
          <a:bodyPr wrap="square" rtlCol="0">
            <a:spAutoFit/>
          </a:bodyPr>
          <a:lstStyle/>
          <a:p>
            <a:endParaRPr lang="en-IN" dirty="0"/>
          </a:p>
        </p:txBody>
      </p:sp>
      <p:graphicFrame>
        <p:nvGraphicFramePr>
          <p:cNvPr id="22" name="Table 21"/>
          <p:cNvGraphicFramePr>
            <a:graphicFrameLocks noGrp="1"/>
          </p:cNvGraphicFramePr>
          <p:nvPr>
            <p:extLst>
              <p:ext uri="{D42A27DB-BD31-4B8C-83A1-F6EECF244321}">
                <p14:modId xmlns:p14="http://schemas.microsoft.com/office/powerpoint/2010/main" val="1177231340"/>
              </p:ext>
            </p:extLst>
          </p:nvPr>
        </p:nvGraphicFramePr>
        <p:xfrm>
          <a:off x="4635773" y="2631483"/>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3</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grpSp>
        <p:nvGrpSpPr>
          <p:cNvPr id="26" name="Group 25"/>
          <p:cNvGrpSpPr/>
          <p:nvPr/>
        </p:nvGrpSpPr>
        <p:grpSpPr>
          <a:xfrm>
            <a:off x="8255978" y="2376502"/>
            <a:ext cx="3683976" cy="2593731"/>
            <a:chOff x="4423877" y="3182812"/>
            <a:chExt cx="2611315" cy="2593731"/>
          </a:xfrm>
        </p:grpSpPr>
        <p:sp>
          <p:nvSpPr>
            <p:cNvPr id="27" name="Left Bracket 26"/>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8" name="Right Bracket 27"/>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9" name="TextBox 28"/>
          <p:cNvSpPr txBox="1"/>
          <p:nvPr/>
        </p:nvSpPr>
        <p:spPr>
          <a:xfrm>
            <a:off x="9045837" y="2631483"/>
            <a:ext cx="633046" cy="307777"/>
          </a:xfrm>
          <a:prstGeom prst="rect">
            <a:avLst/>
          </a:prstGeom>
          <a:noFill/>
        </p:spPr>
        <p:txBody>
          <a:bodyPr wrap="square" rtlCol="0">
            <a:spAutoFit/>
          </a:bodyPr>
          <a:lstStyle/>
          <a:p>
            <a:endParaRPr lang="en-IN" dirty="0"/>
          </a:p>
        </p:txBody>
      </p:sp>
      <p:graphicFrame>
        <p:nvGraphicFramePr>
          <p:cNvPr id="30" name="Table 29"/>
          <p:cNvGraphicFramePr>
            <a:graphicFrameLocks noGrp="1"/>
          </p:cNvGraphicFramePr>
          <p:nvPr>
            <p:extLst>
              <p:ext uri="{D42A27DB-BD31-4B8C-83A1-F6EECF244321}">
                <p14:modId xmlns:p14="http://schemas.microsoft.com/office/powerpoint/2010/main" val="660520484"/>
              </p:ext>
            </p:extLst>
          </p:nvPr>
        </p:nvGraphicFramePr>
        <p:xfrm>
          <a:off x="8404000" y="2631429"/>
          <a:ext cx="3351315" cy="2057400"/>
        </p:xfrm>
        <a:graphic>
          <a:graphicData uri="http://schemas.openxmlformats.org/drawingml/2006/table">
            <a:tbl>
              <a:tblPr firstRow="1" bandRow="1">
                <a:effectLst/>
                <a:tableStyleId>{5C22544A-7EE6-4342-B048-85BDC9FD1C3A}</a:tableStyleId>
              </a:tblPr>
              <a:tblGrid>
                <a:gridCol w="1117105">
                  <a:extLst>
                    <a:ext uri="{9D8B030D-6E8A-4147-A177-3AD203B41FA5}">
                      <a16:colId xmlns="" xmlns:a16="http://schemas.microsoft.com/office/drawing/2014/main" val="20000"/>
                    </a:ext>
                  </a:extLst>
                </a:gridCol>
                <a:gridCol w="1117105">
                  <a:extLst>
                    <a:ext uri="{9D8B030D-6E8A-4147-A177-3AD203B41FA5}">
                      <a16:colId xmlns="" xmlns:a16="http://schemas.microsoft.com/office/drawing/2014/main" val="20001"/>
                    </a:ext>
                  </a:extLst>
                </a:gridCol>
                <a:gridCol w="1117105">
                  <a:extLst>
                    <a:ext uri="{9D8B030D-6E8A-4147-A177-3AD203B41FA5}">
                      <a16:colId xmlns="" xmlns:a16="http://schemas.microsoft.com/office/drawing/2014/main" val="20002"/>
                    </a:ext>
                  </a:extLst>
                </a:gridCol>
              </a:tblGrid>
              <a:tr h="685800">
                <a:tc>
                  <a:txBody>
                    <a:bodyPr/>
                    <a:lstStyle/>
                    <a:p>
                      <a:pPr algn="ctr"/>
                      <a:r>
                        <a:rPr lang="af-ZA" sz="3600" b="1" dirty="0">
                          <a:solidFill>
                            <a:schemeClr val="tx1"/>
                          </a:solidFill>
                        </a:rPr>
                        <a:t>47</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30</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18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af-ZA" sz="3600" b="1" dirty="0">
                          <a:solidFill>
                            <a:schemeClr val="tx1"/>
                          </a:solidFill>
                        </a:rPr>
                        <a:t>50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28</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23</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af-ZA" sz="3600" b="1" dirty="0">
                          <a:solidFill>
                            <a:schemeClr val="tx1"/>
                          </a:solidFill>
                        </a:rPr>
                        <a:t>42</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21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af-ZA" sz="3600" b="1" dirty="0">
                          <a:solidFill>
                            <a:schemeClr val="tx1"/>
                          </a:solidFill>
                        </a:rPr>
                        <a:t>15</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128614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6" name="Google Shape;507;p4"/>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4" name="TextBox 3"/>
          <p:cNvSpPr txBox="1"/>
          <p:nvPr/>
        </p:nvSpPr>
        <p:spPr>
          <a:xfrm>
            <a:off x="8748346" y="1547454"/>
            <a:ext cx="1828800" cy="369332"/>
          </a:xfrm>
          <a:prstGeom prst="rect">
            <a:avLst/>
          </a:prstGeom>
          <a:noFill/>
        </p:spPr>
        <p:txBody>
          <a:bodyPr wrap="square" rtlCol="0">
            <a:spAutoFit/>
          </a:bodyPr>
          <a:lstStyle/>
          <a:p>
            <a:pPr algn="ctr"/>
            <a:r>
              <a:rPr lang="af-ZA" sz="1800" b="1" dirty="0"/>
              <a:t>Output</a:t>
            </a:r>
            <a:endParaRPr lang="en-IN" sz="1800" b="1" dirty="0"/>
          </a:p>
        </p:txBody>
      </p:sp>
      <p:sp>
        <p:nvSpPr>
          <p:cNvPr id="22" name="Google Shape;507;p4"/>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used the numpy.dot() method to multiply the two matrices.</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1965" y="2170577"/>
            <a:ext cx="6188229" cy="1921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8011" y="2479287"/>
            <a:ext cx="2537626" cy="161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4086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smtClean="0">
                <a:solidFill>
                  <a:srgbClr val="604878"/>
                </a:solidFill>
                <a:latin typeface="Raleway Light"/>
                <a:ea typeface="Raleway Light"/>
                <a:cs typeface="Raleway Light"/>
                <a:sym typeface="Raleway Light"/>
              </a:rPr>
              <a:t>Cross Product</a:t>
            </a:r>
            <a:endParaRPr lang="en-US" sz="3200" b="1" i="0" u="none" strike="noStrike" cap="none" dirty="0">
              <a:solidFill>
                <a:srgbClr val="604878"/>
              </a:solidFill>
              <a:latin typeface="Raleway Light"/>
              <a:ea typeface="Raleway Light"/>
              <a:cs typeface="Raleway Light"/>
              <a:sym typeface="Raleway Light"/>
            </a:endParaRPr>
          </a:p>
        </p:txBody>
      </p:sp>
      <p:sp>
        <p:nvSpPr>
          <p:cNvPr id="9" name="Multiply 8"/>
          <p:cNvSpPr/>
          <p:nvPr/>
        </p:nvSpPr>
        <p:spPr>
          <a:xfrm>
            <a:off x="2168849" y="2168487"/>
            <a:ext cx="782516" cy="720969"/>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Equal 15"/>
          <p:cNvSpPr/>
          <p:nvPr/>
        </p:nvSpPr>
        <p:spPr>
          <a:xfrm>
            <a:off x="4571145" y="2238826"/>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17" name="Group 16"/>
          <p:cNvGrpSpPr/>
          <p:nvPr/>
        </p:nvGrpSpPr>
        <p:grpSpPr>
          <a:xfrm>
            <a:off x="3145741" y="1418761"/>
            <a:ext cx="1230922" cy="2593733"/>
            <a:chOff x="4423877" y="3182810"/>
            <a:chExt cx="1230922" cy="2593733"/>
          </a:xfrm>
        </p:grpSpPr>
        <p:sp>
          <p:nvSpPr>
            <p:cNvPr id="18" name="Left Bracket 1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Right Bracket 18"/>
            <p:cNvSpPr/>
            <p:nvPr/>
          </p:nvSpPr>
          <p:spPr>
            <a:xfrm>
              <a:off x="5267938" y="3182810"/>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4" name="Group 23"/>
          <p:cNvGrpSpPr/>
          <p:nvPr/>
        </p:nvGrpSpPr>
        <p:grpSpPr>
          <a:xfrm>
            <a:off x="855362" y="1384538"/>
            <a:ext cx="1230922" cy="2593733"/>
            <a:chOff x="4423877" y="3182810"/>
            <a:chExt cx="1230922" cy="2593733"/>
          </a:xfrm>
        </p:grpSpPr>
        <p:sp>
          <p:nvSpPr>
            <p:cNvPr id="25" name="Left Bracket 24"/>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6" name="Right Bracket 25"/>
            <p:cNvSpPr/>
            <p:nvPr/>
          </p:nvSpPr>
          <p:spPr>
            <a:xfrm>
              <a:off x="5267938" y="3182810"/>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7" name="Table 26"/>
          <p:cNvGraphicFramePr>
            <a:graphicFrameLocks noGrp="1"/>
          </p:cNvGraphicFramePr>
          <p:nvPr>
            <p:extLst>
              <p:ext uri="{D42A27DB-BD31-4B8C-83A1-F6EECF244321}">
                <p14:modId xmlns:p14="http://schemas.microsoft.com/office/powerpoint/2010/main" val="1452245795"/>
              </p:ext>
            </p:extLst>
          </p:nvPr>
        </p:nvGraphicFramePr>
        <p:xfrm>
          <a:off x="3489617" y="1672495"/>
          <a:ext cx="500185" cy="2086266"/>
        </p:xfrm>
        <a:graphic>
          <a:graphicData uri="http://schemas.openxmlformats.org/drawingml/2006/table">
            <a:tbl>
              <a:tblPr firstRow="1" bandRow="1">
                <a:tableStyleId>{2D5ABB26-0587-4C30-8999-92F81FD0307C}</a:tableStyleId>
              </a:tblPr>
              <a:tblGrid>
                <a:gridCol w="500185">
                  <a:extLst>
                    <a:ext uri="{9D8B030D-6E8A-4147-A177-3AD203B41FA5}">
                      <a16:colId xmlns="" xmlns:a16="http://schemas.microsoft.com/office/drawing/2014/main" val="20000"/>
                    </a:ext>
                  </a:extLst>
                </a:gridCol>
              </a:tblGrid>
              <a:tr h="695422">
                <a:tc>
                  <a:txBody>
                    <a:bodyPr/>
                    <a:lstStyle/>
                    <a:p>
                      <a:pPr algn="ctr"/>
                      <a:r>
                        <a:rPr lang="af-ZA" sz="3600" b="1" dirty="0" smtClean="0"/>
                        <a:t>2</a:t>
                      </a:r>
                      <a:endParaRPr lang="en-IN" sz="3600" b="1" dirty="0"/>
                    </a:p>
                  </a:txBody>
                  <a:tcPr anchor="ctr"/>
                </a:tc>
                <a:extLst>
                  <a:ext uri="{0D108BD9-81ED-4DB2-BD59-A6C34878D82A}">
                    <a16:rowId xmlns="" xmlns:a16="http://schemas.microsoft.com/office/drawing/2014/main" val="10000"/>
                  </a:ext>
                </a:extLst>
              </a:tr>
              <a:tr h="695422">
                <a:tc>
                  <a:txBody>
                    <a:bodyPr/>
                    <a:lstStyle/>
                    <a:p>
                      <a:pPr algn="ctr"/>
                      <a:r>
                        <a:rPr lang="af-ZA" sz="3600" b="1" dirty="0" smtClean="0"/>
                        <a:t>9</a:t>
                      </a:r>
                      <a:endParaRPr lang="en-IN" sz="3600" b="1" dirty="0"/>
                    </a:p>
                  </a:txBody>
                  <a:tcPr anchor="ctr"/>
                </a:tc>
                <a:extLst>
                  <a:ext uri="{0D108BD9-81ED-4DB2-BD59-A6C34878D82A}">
                    <a16:rowId xmlns="" xmlns:a16="http://schemas.microsoft.com/office/drawing/2014/main" val="10001"/>
                  </a:ext>
                </a:extLst>
              </a:tr>
              <a:tr h="695422">
                <a:tc>
                  <a:txBody>
                    <a:bodyPr/>
                    <a:lstStyle/>
                    <a:p>
                      <a:pPr algn="ctr"/>
                      <a:r>
                        <a:rPr lang="af-ZA" sz="3600" b="1" dirty="0" smtClean="0"/>
                        <a:t>7</a:t>
                      </a:r>
                      <a:endParaRPr lang="en-IN" sz="3600" b="1" dirty="0"/>
                    </a:p>
                  </a:txBody>
                  <a:tcPr anchor="ctr"/>
                </a:tc>
                <a:extLst>
                  <a:ext uri="{0D108BD9-81ED-4DB2-BD59-A6C34878D82A}">
                    <a16:rowId xmlns="" xmlns:a16="http://schemas.microsoft.com/office/drawing/2014/main" val="10002"/>
                  </a:ext>
                </a:extLst>
              </a:tr>
            </a:tbl>
          </a:graphicData>
        </a:graphic>
      </p:graphicFrame>
      <p:graphicFrame>
        <p:nvGraphicFramePr>
          <p:cNvPr id="28" name="Table 27"/>
          <p:cNvGraphicFramePr>
            <a:graphicFrameLocks noGrp="1"/>
          </p:cNvGraphicFramePr>
          <p:nvPr>
            <p:extLst>
              <p:ext uri="{D42A27DB-BD31-4B8C-83A1-F6EECF244321}">
                <p14:modId xmlns:p14="http://schemas.microsoft.com/office/powerpoint/2010/main" val="1948803372"/>
              </p:ext>
            </p:extLst>
          </p:nvPr>
        </p:nvGraphicFramePr>
        <p:xfrm>
          <a:off x="1199238" y="1638270"/>
          <a:ext cx="500185" cy="2086266"/>
        </p:xfrm>
        <a:graphic>
          <a:graphicData uri="http://schemas.openxmlformats.org/drawingml/2006/table">
            <a:tbl>
              <a:tblPr firstRow="1" bandRow="1">
                <a:tableStyleId>{2D5ABB26-0587-4C30-8999-92F81FD0307C}</a:tableStyleId>
              </a:tblPr>
              <a:tblGrid>
                <a:gridCol w="500185">
                  <a:extLst>
                    <a:ext uri="{9D8B030D-6E8A-4147-A177-3AD203B41FA5}">
                      <a16:colId xmlns="" xmlns:a16="http://schemas.microsoft.com/office/drawing/2014/main" val="20000"/>
                    </a:ext>
                  </a:extLst>
                </a:gridCol>
              </a:tblGrid>
              <a:tr h="695422">
                <a:tc>
                  <a:txBody>
                    <a:bodyPr/>
                    <a:lstStyle/>
                    <a:p>
                      <a:pPr algn="ctr"/>
                      <a:r>
                        <a:rPr lang="af-ZA" sz="3600" b="1" dirty="0" smtClean="0"/>
                        <a:t>3</a:t>
                      </a:r>
                      <a:endParaRPr lang="en-IN" sz="3600" b="1" dirty="0"/>
                    </a:p>
                  </a:txBody>
                  <a:tcPr anchor="ctr"/>
                </a:tc>
                <a:extLst>
                  <a:ext uri="{0D108BD9-81ED-4DB2-BD59-A6C34878D82A}">
                    <a16:rowId xmlns="" xmlns:a16="http://schemas.microsoft.com/office/drawing/2014/main" val="10000"/>
                  </a:ext>
                </a:extLst>
              </a:tr>
              <a:tr h="695422">
                <a:tc>
                  <a:txBody>
                    <a:bodyPr/>
                    <a:lstStyle/>
                    <a:p>
                      <a:pPr algn="ctr"/>
                      <a:r>
                        <a:rPr lang="af-ZA" sz="3600" b="1" dirty="0" smtClean="0"/>
                        <a:t>2</a:t>
                      </a:r>
                      <a:endParaRPr lang="en-IN" sz="3600" b="1" dirty="0"/>
                    </a:p>
                  </a:txBody>
                  <a:tcPr anchor="ctr"/>
                </a:tc>
                <a:extLst>
                  <a:ext uri="{0D108BD9-81ED-4DB2-BD59-A6C34878D82A}">
                    <a16:rowId xmlns="" xmlns:a16="http://schemas.microsoft.com/office/drawing/2014/main" val="10001"/>
                  </a:ext>
                </a:extLst>
              </a:tr>
              <a:tr h="695422">
                <a:tc>
                  <a:txBody>
                    <a:bodyPr/>
                    <a:lstStyle/>
                    <a:p>
                      <a:pPr algn="ctr"/>
                      <a:r>
                        <a:rPr lang="af-ZA" sz="3600" b="1" dirty="0" smtClean="0"/>
                        <a:t>8</a:t>
                      </a:r>
                      <a:endParaRPr lang="en-IN" sz="3600" b="1" dirty="0"/>
                    </a:p>
                  </a:txBody>
                  <a:tcPr anchor="ctr"/>
                </a:tc>
                <a:extLst>
                  <a:ext uri="{0D108BD9-81ED-4DB2-BD59-A6C34878D82A}">
                    <a16:rowId xmlns="" xmlns:a16="http://schemas.microsoft.com/office/drawing/2014/main" val="10002"/>
                  </a:ext>
                </a:extLst>
              </a:tr>
            </a:tbl>
          </a:graphicData>
        </a:graphic>
      </p:graphicFrame>
      <p:grpSp>
        <p:nvGrpSpPr>
          <p:cNvPr id="29" name="Group 28"/>
          <p:cNvGrpSpPr/>
          <p:nvPr/>
        </p:nvGrpSpPr>
        <p:grpSpPr>
          <a:xfrm>
            <a:off x="6513653" y="1522252"/>
            <a:ext cx="3683976" cy="2593731"/>
            <a:chOff x="4423877" y="3182812"/>
            <a:chExt cx="2611315" cy="2593731"/>
          </a:xfrm>
        </p:grpSpPr>
        <p:sp>
          <p:nvSpPr>
            <p:cNvPr id="30" name="Left Bracket 29"/>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1" name="Right Bracket 30"/>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32" name="Table 31"/>
          <p:cNvGraphicFramePr>
            <a:graphicFrameLocks noGrp="1"/>
          </p:cNvGraphicFramePr>
          <p:nvPr>
            <p:extLst>
              <p:ext uri="{D42A27DB-BD31-4B8C-83A1-F6EECF244321}">
                <p14:modId xmlns:p14="http://schemas.microsoft.com/office/powerpoint/2010/main" val="1723204302"/>
              </p:ext>
            </p:extLst>
          </p:nvPr>
        </p:nvGraphicFramePr>
        <p:xfrm>
          <a:off x="6661675" y="1777179"/>
          <a:ext cx="3351315" cy="2057400"/>
        </p:xfrm>
        <a:graphic>
          <a:graphicData uri="http://schemas.openxmlformats.org/drawingml/2006/table">
            <a:tbl>
              <a:tblPr firstRow="1" bandRow="1">
                <a:effectLst/>
                <a:tableStyleId>{5C22544A-7EE6-4342-B048-85BDC9FD1C3A}</a:tableStyleId>
              </a:tblPr>
              <a:tblGrid>
                <a:gridCol w="1117105">
                  <a:extLst>
                    <a:ext uri="{9D8B030D-6E8A-4147-A177-3AD203B41FA5}">
                      <a16:colId xmlns="" xmlns:a16="http://schemas.microsoft.com/office/drawing/2014/main" val="20000"/>
                    </a:ext>
                  </a:extLst>
                </a:gridCol>
                <a:gridCol w="1117105">
                  <a:extLst>
                    <a:ext uri="{9D8B030D-6E8A-4147-A177-3AD203B41FA5}">
                      <a16:colId xmlns="" xmlns:a16="http://schemas.microsoft.com/office/drawing/2014/main" val="20001"/>
                    </a:ext>
                  </a:extLst>
                </a:gridCol>
                <a:gridCol w="1117105">
                  <a:extLst>
                    <a:ext uri="{9D8B030D-6E8A-4147-A177-3AD203B41FA5}">
                      <a16:colId xmlns="" xmlns:a16="http://schemas.microsoft.com/office/drawing/2014/main" val="20002"/>
                    </a:ext>
                  </a:extLst>
                </a:gridCol>
              </a:tblGrid>
              <a:tr h="685800">
                <a:tc>
                  <a:txBody>
                    <a:bodyPr/>
                    <a:lstStyle/>
                    <a:p>
                      <a:pPr algn="ctr"/>
                      <a:r>
                        <a:rPr lang="af-ZA" sz="3600" b="1" dirty="0" smtClean="0">
                          <a:solidFill>
                            <a:schemeClr val="tx1"/>
                          </a:solidFill>
                        </a:rPr>
                        <a:t>i</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smtClean="0">
                          <a:solidFill>
                            <a:schemeClr val="tx1"/>
                          </a:solidFill>
                        </a:rPr>
                        <a:t>j</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smtClean="0">
                          <a:solidFill>
                            <a:schemeClr val="tx1"/>
                          </a:solidFill>
                        </a:rPr>
                        <a:t>k</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af-ZA" sz="3600" b="1" dirty="0" smtClean="0">
                          <a:solidFill>
                            <a:schemeClr val="tx1"/>
                          </a:solidFill>
                        </a:rPr>
                        <a:t>3</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smtClean="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smtClean="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af-ZA" sz="3600" b="1" dirty="0" smtClean="0">
                          <a:solidFill>
                            <a:schemeClr val="tx1"/>
                          </a:solidFill>
                        </a:rPr>
                        <a:t>2</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smtClean="0">
                          <a:solidFill>
                            <a:schemeClr val="tx1"/>
                          </a:solidFill>
                        </a:rPr>
                        <a:t>9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af-ZA" sz="3600" b="1" dirty="0" smtClean="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33" name="Equal 32"/>
          <p:cNvSpPr/>
          <p:nvPr/>
        </p:nvSpPr>
        <p:spPr>
          <a:xfrm>
            <a:off x="1165917" y="4971739"/>
            <a:ext cx="1143000" cy="580292"/>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 name="TextBox 1"/>
          <p:cNvSpPr txBox="1"/>
          <p:nvPr/>
        </p:nvSpPr>
        <p:spPr>
          <a:xfrm>
            <a:off x="2579859" y="4971739"/>
            <a:ext cx="757382" cy="584775"/>
          </a:xfrm>
          <a:prstGeom prst="rect">
            <a:avLst/>
          </a:prstGeom>
          <a:noFill/>
        </p:spPr>
        <p:txBody>
          <a:bodyPr wrap="square" rtlCol="0">
            <a:spAutoFit/>
          </a:bodyPr>
          <a:lstStyle/>
          <a:p>
            <a:r>
              <a:rPr lang="en-US" sz="3200" b="1" dirty="0" smtClean="0"/>
              <a:t>i</a:t>
            </a:r>
            <a:endParaRPr lang="en-IN" sz="3200" b="1" dirty="0"/>
          </a:p>
        </p:txBody>
      </p:sp>
      <p:sp>
        <p:nvSpPr>
          <p:cNvPr id="34" name="TextBox 33"/>
          <p:cNvSpPr txBox="1"/>
          <p:nvPr/>
        </p:nvSpPr>
        <p:spPr>
          <a:xfrm>
            <a:off x="5485009" y="4971739"/>
            <a:ext cx="757382" cy="584775"/>
          </a:xfrm>
          <a:prstGeom prst="rect">
            <a:avLst/>
          </a:prstGeom>
          <a:noFill/>
        </p:spPr>
        <p:txBody>
          <a:bodyPr wrap="square" rtlCol="0">
            <a:spAutoFit/>
          </a:bodyPr>
          <a:lstStyle/>
          <a:p>
            <a:r>
              <a:rPr lang="en-US" sz="3200" b="1" dirty="0"/>
              <a:t>j</a:t>
            </a:r>
            <a:endParaRPr lang="en-IN" sz="3200" b="1" dirty="0"/>
          </a:p>
        </p:txBody>
      </p:sp>
      <p:sp>
        <p:nvSpPr>
          <p:cNvPr id="35" name="TextBox 34"/>
          <p:cNvSpPr txBox="1"/>
          <p:nvPr/>
        </p:nvSpPr>
        <p:spPr>
          <a:xfrm>
            <a:off x="8650052" y="4967256"/>
            <a:ext cx="757382" cy="584775"/>
          </a:xfrm>
          <a:prstGeom prst="rect">
            <a:avLst/>
          </a:prstGeom>
          <a:noFill/>
        </p:spPr>
        <p:txBody>
          <a:bodyPr wrap="square" rtlCol="0">
            <a:spAutoFit/>
          </a:bodyPr>
          <a:lstStyle/>
          <a:p>
            <a:r>
              <a:rPr lang="en-US" sz="3200" b="1" dirty="0"/>
              <a:t>k</a:t>
            </a:r>
            <a:endParaRPr lang="en-IN" sz="3200" b="1" dirty="0"/>
          </a:p>
        </p:txBody>
      </p:sp>
      <p:grpSp>
        <p:nvGrpSpPr>
          <p:cNvPr id="13" name="Group 12"/>
          <p:cNvGrpSpPr/>
          <p:nvPr/>
        </p:nvGrpSpPr>
        <p:grpSpPr>
          <a:xfrm>
            <a:off x="3041677" y="4828698"/>
            <a:ext cx="1145309" cy="1034498"/>
            <a:chOff x="2309091" y="4525780"/>
            <a:chExt cx="1145309" cy="1034498"/>
          </a:xfrm>
        </p:grpSpPr>
        <p:cxnSp>
          <p:nvCxnSpPr>
            <p:cNvPr id="11" name="Straight Connector 10"/>
            <p:cNvCxnSpPr/>
            <p:nvPr/>
          </p:nvCxnSpPr>
          <p:spPr>
            <a:xfrm>
              <a:off x="2309091" y="4525780"/>
              <a:ext cx="0" cy="103449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3454400" y="4525780"/>
              <a:ext cx="0" cy="1034498"/>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5939649" y="4828698"/>
            <a:ext cx="1145309" cy="1034498"/>
            <a:chOff x="5207063" y="4525780"/>
            <a:chExt cx="1145309" cy="1034498"/>
          </a:xfrm>
        </p:grpSpPr>
        <p:cxnSp>
          <p:nvCxnSpPr>
            <p:cNvPr id="39" name="Straight Connector 38"/>
            <p:cNvCxnSpPr/>
            <p:nvPr/>
          </p:nvCxnSpPr>
          <p:spPr>
            <a:xfrm>
              <a:off x="5207063" y="4525780"/>
              <a:ext cx="0" cy="103449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6352372" y="4525780"/>
              <a:ext cx="0" cy="1034498"/>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9089988" y="4828698"/>
            <a:ext cx="1145309" cy="1034498"/>
            <a:chOff x="8357402" y="4525780"/>
            <a:chExt cx="1145309" cy="1034498"/>
          </a:xfrm>
        </p:grpSpPr>
        <p:cxnSp>
          <p:nvCxnSpPr>
            <p:cNvPr id="41" name="Straight Connector 40"/>
            <p:cNvCxnSpPr/>
            <p:nvPr/>
          </p:nvCxnSpPr>
          <p:spPr>
            <a:xfrm>
              <a:off x="8357402" y="4525780"/>
              <a:ext cx="0" cy="103449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9502711" y="4525780"/>
              <a:ext cx="0" cy="1034498"/>
            </a:xfrm>
            <a:prstGeom prst="line">
              <a:avLst/>
            </a:prstGeom>
            <a:ln w="25400"/>
          </p:spPr>
          <p:style>
            <a:lnRef idx="1">
              <a:schemeClr val="accent1"/>
            </a:lnRef>
            <a:fillRef idx="0">
              <a:schemeClr val="accent1"/>
            </a:fillRef>
            <a:effectRef idx="0">
              <a:schemeClr val="accent1"/>
            </a:effectRef>
            <a:fontRef idx="minor">
              <a:schemeClr val="tx1"/>
            </a:fontRef>
          </p:style>
        </p:cxnSp>
      </p:grpSp>
      <p:graphicFrame>
        <p:nvGraphicFramePr>
          <p:cNvPr id="43" name="Table 42"/>
          <p:cNvGraphicFramePr>
            <a:graphicFrameLocks noGrp="1"/>
          </p:cNvGraphicFramePr>
          <p:nvPr>
            <p:extLst>
              <p:ext uri="{D42A27DB-BD31-4B8C-83A1-F6EECF244321}">
                <p14:modId xmlns:p14="http://schemas.microsoft.com/office/powerpoint/2010/main" val="4028246182"/>
              </p:ext>
            </p:extLst>
          </p:nvPr>
        </p:nvGraphicFramePr>
        <p:xfrm>
          <a:off x="3174166" y="4971739"/>
          <a:ext cx="986290" cy="754705"/>
        </p:xfrm>
        <a:graphic>
          <a:graphicData uri="http://schemas.openxmlformats.org/drawingml/2006/table">
            <a:tbl>
              <a:tblPr firstRow="1" bandRow="1">
                <a:tableStyleId>{2D5ABB26-0587-4C30-8999-92F81FD0307C}</a:tableStyleId>
              </a:tblPr>
              <a:tblGrid>
                <a:gridCol w="493145"/>
                <a:gridCol w="493145"/>
              </a:tblGrid>
              <a:tr h="369429">
                <a:tc>
                  <a:txBody>
                    <a:bodyPr/>
                    <a:lstStyle/>
                    <a:p>
                      <a:r>
                        <a:rPr lang="en-US" sz="1800" b="1" dirty="0" smtClean="0"/>
                        <a:t>2</a:t>
                      </a:r>
                      <a:endParaRPr lang="en-IN" sz="1800" b="1" dirty="0"/>
                    </a:p>
                  </a:txBody>
                  <a:tcPr/>
                </a:tc>
                <a:tc>
                  <a:txBody>
                    <a:bodyPr/>
                    <a:lstStyle/>
                    <a:p>
                      <a:r>
                        <a:rPr lang="en-US" sz="1800" b="1" dirty="0" smtClean="0"/>
                        <a:t>8</a:t>
                      </a:r>
                      <a:endParaRPr lang="en-IN" sz="1800" b="1" dirty="0"/>
                    </a:p>
                  </a:txBody>
                  <a:tcPr/>
                </a:tc>
              </a:tr>
              <a:tr h="385276">
                <a:tc>
                  <a:txBody>
                    <a:bodyPr/>
                    <a:lstStyle/>
                    <a:p>
                      <a:r>
                        <a:rPr lang="en-US" sz="1800" b="1" dirty="0" smtClean="0"/>
                        <a:t>9</a:t>
                      </a:r>
                      <a:endParaRPr lang="en-IN" sz="1800" b="1" dirty="0"/>
                    </a:p>
                  </a:txBody>
                  <a:tcPr/>
                </a:tc>
                <a:tc>
                  <a:txBody>
                    <a:bodyPr/>
                    <a:lstStyle/>
                    <a:p>
                      <a:r>
                        <a:rPr lang="en-US" sz="1800" b="1" dirty="0" smtClean="0"/>
                        <a:t>7</a:t>
                      </a:r>
                      <a:endParaRPr lang="en-IN" sz="1800" b="1" dirty="0"/>
                    </a:p>
                  </a:txBody>
                  <a:tcPr/>
                </a:tc>
              </a:tr>
            </a:tbl>
          </a:graphicData>
        </a:graphic>
      </p:graphicFrame>
      <p:graphicFrame>
        <p:nvGraphicFramePr>
          <p:cNvPr id="44" name="Table 43"/>
          <p:cNvGraphicFramePr>
            <a:graphicFrameLocks noGrp="1"/>
          </p:cNvGraphicFramePr>
          <p:nvPr>
            <p:extLst>
              <p:ext uri="{D42A27DB-BD31-4B8C-83A1-F6EECF244321}">
                <p14:modId xmlns:p14="http://schemas.microsoft.com/office/powerpoint/2010/main" val="847079938"/>
              </p:ext>
            </p:extLst>
          </p:nvPr>
        </p:nvGraphicFramePr>
        <p:xfrm>
          <a:off x="6024700" y="4967256"/>
          <a:ext cx="986290" cy="754705"/>
        </p:xfrm>
        <a:graphic>
          <a:graphicData uri="http://schemas.openxmlformats.org/drawingml/2006/table">
            <a:tbl>
              <a:tblPr firstRow="1" bandRow="1">
                <a:tableStyleId>{2D5ABB26-0587-4C30-8999-92F81FD0307C}</a:tableStyleId>
              </a:tblPr>
              <a:tblGrid>
                <a:gridCol w="493145"/>
                <a:gridCol w="493145"/>
              </a:tblGrid>
              <a:tr h="369429">
                <a:tc>
                  <a:txBody>
                    <a:bodyPr/>
                    <a:lstStyle/>
                    <a:p>
                      <a:r>
                        <a:rPr lang="en-US" sz="1800" b="1" dirty="0" smtClean="0"/>
                        <a:t>3</a:t>
                      </a:r>
                      <a:endParaRPr lang="en-IN" sz="1800" b="1" dirty="0"/>
                    </a:p>
                  </a:txBody>
                  <a:tcPr/>
                </a:tc>
                <a:tc>
                  <a:txBody>
                    <a:bodyPr/>
                    <a:lstStyle/>
                    <a:p>
                      <a:r>
                        <a:rPr lang="en-US" sz="1800" b="1" dirty="0" smtClean="0"/>
                        <a:t>8</a:t>
                      </a:r>
                      <a:endParaRPr lang="en-IN" sz="1800" b="1" dirty="0"/>
                    </a:p>
                  </a:txBody>
                  <a:tcPr/>
                </a:tc>
              </a:tr>
              <a:tr h="385276">
                <a:tc>
                  <a:txBody>
                    <a:bodyPr/>
                    <a:lstStyle/>
                    <a:p>
                      <a:r>
                        <a:rPr lang="en-US" sz="1800" b="1" dirty="0" smtClean="0"/>
                        <a:t>2</a:t>
                      </a:r>
                      <a:endParaRPr lang="en-IN" sz="1800" b="1" dirty="0"/>
                    </a:p>
                  </a:txBody>
                  <a:tcPr/>
                </a:tc>
                <a:tc>
                  <a:txBody>
                    <a:bodyPr/>
                    <a:lstStyle/>
                    <a:p>
                      <a:r>
                        <a:rPr lang="en-US" sz="1800" b="1" dirty="0" smtClean="0"/>
                        <a:t>7</a:t>
                      </a:r>
                      <a:endParaRPr lang="en-IN" sz="1800" b="1" dirty="0"/>
                    </a:p>
                  </a:txBody>
                  <a:tcPr/>
                </a:tc>
              </a:tr>
            </a:tbl>
          </a:graphicData>
        </a:graphic>
      </p:graphicFrame>
      <p:graphicFrame>
        <p:nvGraphicFramePr>
          <p:cNvPr id="45" name="Table 44"/>
          <p:cNvGraphicFramePr>
            <a:graphicFrameLocks noGrp="1"/>
          </p:cNvGraphicFramePr>
          <p:nvPr>
            <p:extLst>
              <p:ext uri="{D42A27DB-BD31-4B8C-83A1-F6EECF244321}">
                <p14:modId xmlns:p14="http://schemas.microsoft.com/office/powerpoint/2010/main" val="278142529"/>
              </p:ext>
            </p:extLst>
          </p:nvPr>
        </p:nvGraphicFramePr>
        <p:xfrm>
          <a:off x="9170869" y="4967256"/>
          <a:ext cx="986290" cy="754705"/>
        </p:xfrm>
        <a:graphic>
          <a:graphicData uri="http://schemas.openxmlformats.org/drawingml/2006/table">
            <a:tbl>
              <a:tblPr firstRow="1" bandRow="1">
                <a:tableStyleId>{2D5ABB26-0587-4C30-8999-92F81FD0307C}</a:tableStyleId>
              </a:tblPr>
              <a:tblGrid>
                <a:gridCol w="493145"/>
                <a:gridCol w="493145"/>
              </a:tblGrid>
              <a:tr h="369429">
                <a:tc>
                  <a:txBody>
                    <a:bodyPr/>
                    <a:lstStyle/>
                    <a:p>
                      <a:r>
                        <a:rPr lang="en-US" sz="1800" b="1" dirty="0" smtClean="0"/>
                        <a:t>3</a:t>
                      </a:r>
                      <a:endParaRPr lang="en-IN" sz="1800" b="1" dirty="0"/>
                    </a:p>
                  </a:txBody>
                  <a:tcPr/>
                </a:tc>
                <a:tc>
                  <a:txBody>
                    <a:bodyPr/>
                    <a:lstStyle/>
                    <a:p>
                      <a:r>
                        <a:rPr lang="en-US" sz="1800" b="1" dirty="0" smtClean="0"/>
                        <a:t>2</a:t>
                      </a:r>
                      <a:endParaRPr lang="en-IN" sz="1800" b="1" dirty="0"/>
                    </a:p>
                  </a:txBody>
                  <a:tcPr/>
                </a:tc>
              </a:tr>
              <a:tr h="385276">
                <a:tc>
                  <a:txBody>
                    <a:bodyPr/>
                    <a:lstStyle/>
                    <a:p>
                      <a:r>
                        <a:rPr lang="en-US" sz="1800" b="1" dirty="0" smtClean="0"/>
                        <a:t>2</a:t>
                      </a:r>
                      <a:endParaRPr lang="en-IN" sz="1800" b="1" dirty="0"/>
                    </a:p>
                  </a:txBody>
                  <a:tcPr/>
                </a:tc>
                <a:tc>
                  <a:txBody>
                    <a:bodyPr/>
                    <a:lstStyle/>
                    <a:p>
                      <a:r>
                        <a:rPr lang="en-US" sz="1800" b="1" dirty="0" smtClean="0"/>
                        <a:t>9</a:t>
                      </a:r>
                      <a:endParaRPr lang="en-IN" sz="1800" b="1" dirty="0"/>
                    </a:p>
                  </a:txBody>
                  <a:tcPr/>
                </a:tc>
              </a:tr>
            </a:tbl>
          </a:graphicData>
        </a:graphic>
      </p:graphicFrame>
      <p:sp>
        <p:nvSpPr>
          <p:cNvPr id="46" name="Cross 45"/>
          <p:cNvSpPr/>
          <p:nvPr/>
        </p:nvSpPr>
        <p:spPr>
          <a:xfrm>
            <a:off x="7779931" y="5170456"/>
            <a:ext cx="350981" cy="350982"/>
          </a:xfrm>
          <a:prstGeom prst="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Rectangle 46"/>
          <p:cNvSpPr/>
          <p:nvPr/>
        </p:nvSpPr>
        <p:spPr>
          <a:xfrm>
            <a:off x="4493787" y="5300232"/>
            <a:ext cx="554182" cy="91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60272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455776" y="1459522"/>
            <a:ext cx="8522901"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6" name="Google Shape;507;p4"/>
          <p:cNvSpPr/>
          <p:nvPr/>
        </p:nvSpPr>
        <p:spPr>
          <a:xfrm>
            <a:off x="9533333" y="1459523"/>
            <a:ext cx="2340713"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4" name="TextBox 3"/>
          <p:cNvSpPr txBox="1"/>
          <p:nvPr/>
        </p:nvSpPr>
        <p:spPr>
          <a:xfrm>
            <a:off x="10060605" y="1547454"/>
            <a:ext cx="1205016" cy="369332"/>
          </a:xfrm>
          <a:prstGeom prst="rect">
            <a:avLst/>
          </a:prstGeom>
          <a:noFill/>
        </p:spPr>
        <p:txBody>
          <a:bodyPr wrap="square" rtlCol="0">
            <a:spAutoFit/>
          </a:bodyPr>
          <a:lstStyle/>
          <a:p>
            <a:pPr algn="ctr"/>
            <a:r>
              <a:rPr lang="af-ZA" sz="1800" b="1" dirty="0"/>
              <a:t>Output</a:t>
            </a:r>
            <a:endParaRPr lang="en-IN" sz="1800" b="1" dirty="0"/>
          </a:p>
        </p:txBody>
      </p:sp>
      <p:sp>
        <p:nvSpPr>
          <p:cNvPr id="22" name="Google Shape;507;p4"/>
          <p:cNvSpPr/>
          <p:nvPr/>
        </p:nvSpPr>
        <p:spPr>
          <a:xfrm>
            <a:off x="165579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used the </a:t>
            </a:r>
            <a:r>
              <a:rPr lang="af-ZA" sz="2000" dirty="0" smtClean="0">
                <a:latin typeface="Calibri"/>
                <a:ea typeface="Calibri"/>
                <a:cs typeface="Calibri"/>
                <a:sym typeface="Calibri"/>
              </a:rPr>
              <a:t>numpy.cross() </a:t>
            </a:r>
            <a:r>
              <a:rPr lang="af-ZA" sz="2000" dirty="0">
                <a:latin typeface="Calibri"/>
                <a:ea typeface="Calibri"/>
                <a:cs typeface="Calibri"/>
                <a:sym typeface="Calibri"/>
              </a:rPr>
              <a:t>method to </a:t>
            </a:r>
            <a:r>
              <a:rPr lang="af-ZA" sz="2000" dirty="0" smtClean="0">
                <a:latin typeface="Calibri"/>
                <a:ea typeface="Calibri"/>
                <a:cs typeface="Calibri"/>
                <a:sym typeface="Calibri"/>
              </a:rPr>
              <a:t>find the cross product of the two matrices.</a:t>
            </a:r>
            <a:endParaRPr lang="af-ZA" sz="2000" dirty="0">
              <a:latin typeface="Calibri"/>
              <a:ea typeface="Calibri"/>
              <a:cs typeface="Calibri"/>
              <a:sym typeface="Calibri"/>
            </a:endParaRP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108" y="2239096"/>
            <a:ext cx="8232612" cy="1593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7595" y="2804713"/>
            <a:ext cx="1851036" cy="462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1317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Transpose</a:t>
            </a:r>
          </a:p>
        </p:txBody>
      </p:sp>
      <p:grpSp>
        <p:nvGrpSpPr>
          <p:cNvPr id="3" name="Group 2"/>
          <p:cNvGrpSpPr/>
          <p:nvPr/>
        </p:nvGrpSpPr>
        <p:grpSpPr>
          <a:xfrm>
            <a:off x="1690089" y="1872777"/>
            <a:ext cx="2611315" cy="1622180"/>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4301404" y="1580388"/>
            <a:ext cx="633046" cy="584775"/>
          </a:xfrm>
          <a:prstGeom prst="rect">
            <a:avLst/>
          </a:prstGeom>
          <a:noFill/>
        </p:spPr>
        <p:txBody>
          <a:bodyPr wrap="square" rtlCol="0">
            <a:spAutoFit/>
          </a:bodyPr>
          <a:lstStyle/>
          <a:p>
            <a:r>
              <a:rPr lang="af-ZA" sz="3200" b="1" dirty="0"/>
              <a:t>T</a:t>
            </a:r>
            <a:endParaRPr lang="en-IN" sz="3200" b="1" dirty="0"/>
          </a:p>
        </p:txBody>
      </p:sp>
      <p:sp>
        <p:nvSpPr>
          <p:cNvPr id="9" name="Google Shape;507;p4"/>
          <p:cNvSpPr/>
          <p:nvPr/>
        </p:nvSpPr>
        <p:spPr>
          <a:xfrm>
            <a:off x="1929689" y="4591113"/>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In the transpose of a matrix, the columns and rows are interchanged like shown in the example. </a:t>
            </a:r>
            <a:endParaRPr sz="2000" b="1" i="0" u="none" strike="noStrike" cap="none" dirty="0">
              <a:solidFill>
                <a:srgbClr val="000000"/>
              </a:solidFill>
              <a:latin typeface="Calibri"/>
              <a:ea typeface="Calibri"/>
              <a:cs typeface="Calibri"/>
              <a:sym typeface="Calibri"/>
            </a:endParaRPr>
          </a:p>
        </p:txBody>
      </p:sp>
      <p:grpSp>
        <p:nvGrpSpPr>
          <p:cNvPr id="10" name="Group 9"/>
          <p:cNvGrpSpPr/>
          <p:nvPr/>
        </p:nvGrpSpPr>
        <p:grpSpPr>
          <a:xfrm>
            <a:off x="7580936" y="1463908"/>
            <a:ext cx="1993888" cy="2593731"/>
            <a:chOff x="4423877" y="3182812"/>
            <a:chExt cx="2611315" cy="2593731"/>
          </a:xfrm>
        </p:grpSpPr>
        <p:sp>
          <p:nvSpPr>
            <p:cNvPr id="11" name="Left Bracket 10"/>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Right Bracket 11"/>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13" name="TextBox 12"/>
          <p:cNvSpPr txBox="1"/>
          <p:nvPr/>
        </p:nvSpPr>
        <p:spPr>
          <a:xfrm>
            <a:off x="7791950" y="1718889"/>
            <a:ext cx="633046" cy="307777"/>
          </a:xfrm>
          <a:prstGeom prst="rect">
            <a:avLst/>
          </a:prstGeom>
          <a:noFill/>
        </p:spPr>
        <p:txBody>
          <a:bodyPr wrap="square" rtlCol="0">
            <a:spAutoFit/>
          </a:bodyPr>
          <a:lstStyle/>
          <a:p>
            <a:endParaRPr lang="en-IN" dirty="0"/>
          </a:p>
        </p:txBody>
      </p:sp>
      <p:sp>
        <p:nvSpPr>
          <p:cNvPr id="2" name="Equal 1"/>
          <p:cNvSpPr/>
          <p:nvPr/>
        </p:nvSpPr>
        <p:spPr>
          <a:xfrm>
            <a:off x="5292969" y="240469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763096983"/>
              </p:ext>
            </p:extLst>
          </p:nvPr>
        </p:nvGraphicFramePr>
        <p:xfrm>
          <a:off x="1867900" y="2113494"/>
          <a:ext cx="2269404" cy="1280160"/>
        </p:xfrm>
        <a:graphic>
          <a:graphicData uri="http://schemas.openxmlformats.org/drawingml/2006/table">
            <a:tbl>
              <a:tblPr firstRow="1" bandRow="1">
                <a:tableStyleId>{2D5ABB26-0587-4C30-8999-92F81FD0307C}</a:tableStyleId>
              </a:tblPr>
              <a:tblGrid>
                <a:gridCol w="756468">
                  <a:extLst>
                    <a:ext uri="{9D8B030D-6E8A-4147-A177-3AD203B41FA5}">
                      <a16:colId xmlns="" xmlns:a16="http://schemas.microsoft.com/office/drawing/2014/main" val="20000"/>
                    </a:ext>
                  </a:extLst>
                </a:gridCol>
                <a:gridCol w="756468">
                  <a:extLst>
                    <a:ext uri="{9D8B030D-6E8A-4147-A177-3AD203B41FA5}">
                      <a16:colId xmlns="" xmlns:a16="http://schemas.microsoft.com/office/drawing/2014/main" val="20001"/>
                    </a:ext>
                  </a:extLst>
                </a:gridCol>
                <a:gridCol w="756468">
                  <a:extLst>
                    <a:ext uri="{9D8B030D-6E8A-4147-A177-3AD203B41FA5}">
                      <a16:colId xmlns="" xmlns:a16="http://schemas.microsoft.com/office/drawing/2014/main" val="20002"/>
                    </a:ext>
                  </a:extLst>
                </a:gridCol>
              </a:tblGrid>
              <a:tr h="570373">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0</a:t>
                      </a:r>
                      <a:endParaRPr lang="en-IN" sz="3600" b="1" dirty="0">
                        <a:solidFill>
                          <a:schemeClr val="tx1"/>
                        </a:solidFill>
                      </a:endParaRPr>
                    </a:p>
                  </a:txBody>
                  <a:tcPr anchor="ctr"/>
                </a:tc>
                <a:extLst>
                  <a:ext uri="{0D108BD9-81ED-4DB2-BD59-A6C34878D82A}">
                    <a16:rowId xmlns="" xmlns:a16="http://schemas.microsoft.com/office/drawing/2014/main" val="10000"/>
                  </a:ext>
                </a:extLst>
              </a:tr>
              <a:tr h="570373">
                <a:tc>
                  <a:txBody>
                    <a:bodyPr/>
                    <a:lstStyle/>
                    <a:p>
                      <a:pPr algn="ctr"/>
                      <a:r>
                        <a:rPr lang="af-ZA" sz="3600" b="1" dirty="0">
                          <a:solidFill>
                            <a:schemeClr val="tx1"/>
                          </a:solidFill>
                        </a:rPr>
                        <a:t>2</a:t>
                      </a:r>
                      <a:endParaRPr lang="en-IN" sz="3600" b="1" dirty="0">
                        <a:solidFill>
                          <a:schemeClr val="tx1"/>
                        </a:solidFill>
                      </a:endParaRPr>
                    </a:p>
                  </a:txBody>
                  <a:tcPr anchor="ctr"/>
                </a:tc>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2</a:t>
                      </a:r>
                      <a:endParaRPr lang="en-IN" sz="3600" b="1" dirty="0">
                        <a:solidFill>
                          <a:schemeClr val="tx1"/>
                        </a:solidFill>
                      </a:endParaRPr>
                    </a:p>
                  </a:txBody>
                  <a:tcPr anchor="ctr"/>
                </a:tc>
                <a:extLst>
                  <a:ext uri="{0D108BD9-81ED-4DB2-BD59-A6C34878D82A}">
                    <a16:rowId xmlns="" xmlns:a16="http://schemas.microsoft.com/office/drawing/2014/main" val="10001"/>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1579188010"/>
              </p:ext>
            </p:extLst>
          </p:nvPr>
        </p:nvGraphicFramePr>
        <p:xfrm>
          <a:off x="7847264" y="1638018"/>
          <a:ext cx="1432170" cy="2183973"/>
        </p:xfrm>
        <a:graphic>
          <a:graphicData uri="http://schemas.openxmlformats.org/drawingml/2006/table">
            <a:tbl>
              <a:tblPr firstRow="1" bandRow="1">
                <a:tableStyleId>{2D5ABB26-0587-4C30-8999-92F81FD0307C}</a:tableStyleId>
              </a:tblPr>
              <a:tblGrid>
                <a:gridCol w="716085">
                  <a:extLst>
                    <a:ext uri="{9D8B030D-6E8A-4147-A177-3AD203B41FA5}">
                      <a16:colId xmlns="" xmlns:a16="http://schemas.microsoft.com/office/drawing/2014/main" val="20000"/>
                    </a:ext>
                  </a:extLst>
                </a:gridCol>
                <a:gridCol w="716085">
                  <a:extLst>
                    <a:ext uri="{9D8B030D-6E8A-4147-A177-3AD203B41FA5}">
                      <a16:colId xmlns="" xmlns:a16="http://schemas.microsoft.com/office/drawing/2014/main" val="20001"/>
                    </a:ext>
                  </a:extLst>
                </a:gridCol>
              </a:tblGrid>
              <a:tr h="727991">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2</a:t>
                      </a:r>
                      <a:endParaRPr lang="en-IN" sz="3600" b="1" dirty="0">
                        <a:solidFill>
                          <a:schemeClr val="tx1"/>
                        </a:solidFill>
                      </a:endParaRPr>
                    </a:p>
                  </a:txBody>
                  <a:tcPr anchor="ctr"/>
                </a:tc>
                <a:extLst>
                  <a:ext uri="{0D108BD9-81ED-4DB2-BD59-A6C34878D82A}">
                    <a16:rowId xmlns="" xmlns:a16="http://schemas.microsoft.com/office/drawing/2014/main" val="10000"/>
                  </a:ext>
                </a:extLst>
              </a:tr>
              <a:tr h="727991">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1</a:t>
                      </a:r>
                      <a:endParaRPr lang="en-IN" sz="3600" b="1" dirty="0">
                        <a:solidFill>
                          <a:schemeClr val="tx1"/>
                        </a:solidFill>
                      </a:endParaRPr>
                    </a:p>
                  </a:txBody>
                  <a:tcPr anchor="ctr"/>
                </a:tc>
                <a:extLst>
                  <a:ext uri="{0D108BD9-81ED-4DB2-BD59-A6C34878D82A}">
                    <a16:rowId xmlns="" xmlns:a16="http://schemas.microsoft.com/office/drawing/2014/main" val="10001"/>
                  </a:ext>
                </a:extLst>
              </a:tr>
              <a:tr h="727991">
                <a:tc>
                  <a:txBody>
                    <a:bodyPr/>
                    <a:lstStyle/>
                    <a:p>
                      <a:pPr algn="ctr"/>
                      <a:r>
                        <a:rPr lang="af-ZA" sz="3600" b="1" dirty="0">
                          <a:solidFill>
                            <a:schemeClr val="tx1"/>
                          </a:solidFill>
                        </a:rPr>
                        <a:t>0</a:t>
                      </a:r>
                      <a:endParaRPr lang="en-IN" sz="3600" b="1" dirty="0">
                        <a:solidFill>
                          <a:schemeClr val="tx1"/>
                        </a:solidFill>
                      </a:endParaRPr>
                    </a:p>
                  </a:txBody>
                  <a:tcPr anchor="ctr"/>
                </a:tc>
                <a:tc>
                  <a:txBody>
                    <a:bodyPr/>
                    <a:lstStyle/>
                    <a:p>
                      <a:pPr algn="ctr"/>
                      <a:r>
                        <a:rPr lang="af-ZA" sz="3600" b="1" dirty="0">
                          <a:solidFill>
                            <a:schemeClr val="tx1"/>
                          </a:solidFill>
                        </a:rPr>
                        <a:t>2</a:t>
                      </a:r>
                      <a:endParaRPr lang="en-IN" sz="3600" b="1" dirty="0">
                        <a:solidFill>
                          <a:schemeClr val="tx1"/>
                        </a:solidFill>
                      </a:endParaRPr>
                    </a:p>
                  </a:txBody>
                  <a:tcPr anchor="ct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4171327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Properties of Transpose of a Matrix</a:t>
            </a:r>
          </a:p>
        </p:txBody>
      </p:sp>
      <p:sp>
        <p:nvSpPr>
          <p:cNvPr id="18" name="Google Shape;507;p4"/>
          <p:cNvSpPr/>
          <p:nvPr/>
        </p:nvSpPr>
        <p:spPr>
          <a:xfrm>
            <a:off x="6761279" y="1452259"/>
            <a:ext cx="4657415" cy="1493164"/>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Additive property of transpose of a matrix</a:t>
            </a:r>
          </a:p>
          <a:p>
            <a:pPr marL="0" marR="0" lvl="0" indent="0" algn="ctr" rtl="0">
              <a:spcBef>
                <a:spcPts val="0"/>
              </a:spcBef>
              <a:spcAft>
                <a:spcPts val="0"/>
              </a:spcAft>
              <a:buNone/>
            </a:pPr>
            <a:r>
              <a:rPr lang="en-US" sz="2000" b="1" dirty="0">
                <a:latin typeface="Calibri"/>
                <a:ea typeface="Calibri"/>
                <a:cs typeface="Calibri"/>
                <a:sym typeface="Calibri"/>
              </a:rPr>
              <a:t>(A+B)’ = A’ + B’</a:t>
            </a:r>
            <a:endParaRPr sz="2000" b="1" i="0" u="none" strike="noStrike" cap="none" dirty="0">
              <a:solidFill>
                <a:srgbClr val="000000"/>
              </a:solidFill>
              <a:latin typeface="Calibri"/>
              <a:ea typeface="Calibri"/>
              <a:cs typeface="Calibri"/>
              <a:sym typeface="Calibri"/>
            </a:endParaRPr>
          </a:p>
        </p:txBody>
      </p:sp>
      <p:sp>
        <p:nvSpPr>
          <p:cNvPr id="19" name="Google Shape;507;p4"/>
          <p:cNvSpPr/>
          <p:nvPr/>
        </p:nvSpPr>
        <p:spPr>
          <a:xfrm>
            <a:off x="741051" y="1452259"/>
            <a:ext cx="4657415" cy="1493164"/>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Transpose of a Transposed matrix is the original matrix</a:t>
            </a:r>
          </a:p>
          <a:p>
            <a:pPr marL="0" marR="0" lvl="0" indent="0" algn="ctr" rtl="0">
              <a:spcBef>
                <a:spcPts val="0"/>
              </a:spcBef>
              <a:spcAft>
                <a:spcPts val="0"/>
              </a:spcAft>
              <a:buNone/>
            </a:pPr>
            <a:r>
              <a:rPr lang="en-US" sz="2000" b="1" dirty="0">
                <a:latin typeface="Calibri"/>
                <a:ea typeface="Calibri"/>
                <a:cs typeface="Calibri"/>
                <a:sym typeface="Calibri"/>
              </a:rPr>
              <a:t>(A’)’ = A</a:t>
            </a:r>
            <a:endParaRPr sz="2000" b="1" i="0" u="none" strike="noStrike" cap="none" dirty="0">
              <a:solidFill>
                <a:srgbClr val="000000"/>
              </a:solidFill>
              <a:latin typeface="Calibri"/>
              <a:ea typeface="Calibri"/>
              <a:cs typeface="Calibri"/>
              <a:sym typeface="Calibri"/>
            </a:endParaRPr>
          </a:p>
        </p:txBody>
      </p:sp>
      <p:sp>
        <p:nvSpPr>
          <p:cNvPr id="20" name="Google Shape;507;p4"/>
          <p:cNvSpPr/>
          <p:nvPr/>
        </p:nvSpPr>
        <p:spPr>
          <a:xfrm>
            <a:off x="6761278" y="3826182"/>
            <a:ext cx="4657415" cy="1493164"/>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Multiplication property of the transpose</a:t>
            </a:r>
            <a:r>
              <a:rPr lang="en-US" sz="2000" b="1" dirty="0">
                <a:latin typeface="Calibri"/>
                <a:ea typeface="Calibri"/>
                <a:cs typeface="Calibri"/>
                <a:sym typeface="Calibri"/>
              </a:rPr>
              <a:t>:</a:t>
            </a:r>
          </a:p>
          <a:p>
            <a:pPr marL="0" marR="0" lvl="0" indent="0" algn="ctr" rtl="0">
              <a:spcBef>
                <a:spcPts val="0"/>
              </a:spcBef>
              <a:spcAft>
                <a:spcPts val="0"/>
              </a:spcAft>
              <a:buNone/>
            </a:pPr>
            <a:r>
              <a:rPr lang="en-US" sz="2000" b="1" i="0" u="none" strike="noStrike" cap="none" dirty="0">
                <a:solidFill>
                  <a:srgbClr val="000000"/>
                </a:solidFill>
                <a:latin typeface="Calibri"/>
                <a:ea typeface="Calibri"/>
                <a:cs typeface="Calibri"/>
                <a:sym typeface="Calibri"/>
              </a:rPr>
              <a:t>(AB)’ = B’A’</a:t>
            </a:r>
            <a:endParaRPr lang="en-US" sz="2000" b="0" i="0" u="none" strike="noStrike" cap="none" dirty="0">
              <a:solidFill>
                <a:srgbClr val="000000"/>
              </a:solidFill>
              <a:latin typeface="Calibri"/>
              <a:ea typeface="Calibri"/>
              <a:cs typeface="Calibri"/>
              <a:sym typeface="Calibri"/>
            </a:endParaRPr>
          </a:p>
        </p:txBody>
      </p:sp>
      <p:sp>
        <p:nvSpPr>
          <p:cNvPr id="21" name="Google Shape;507;p4"/>
          <p:cNvSpPr/>
          <p:nvPr/>
        </p:nvSpPr>
        <p:spPr>
          <a:xfrm>
            <a:off x="741050" y="3826182"/>
            <a:ext cx="4657415" cy="1493164"/>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Multiplication by a Constant</a:t>
            </a:r>
          </a:p>
          <a:p>
            <a:pPr marL="0" marR="0" lvl="0" indent="0" algn="ctr" rtl="0">
              <a:spcBef>
                <a:spcPts val="0"/>
              </a:spcBef>
              <a:spcAft>
                <a:spcPts val="0"/>
              </a:spcAft>
              <a:buNone/>
            </a:pPr>
            <a:r>
              <a:rPr lang="en-US" sz="2000" b="1" dirty="0">
                <a:latin typeface="Calibri"/>
                <a:ea typeface="Calibri"/>
                <a:cs typeface="Calibri"/>
                <a:sym typeface="Calibri"/>
              </a:rPr>
              <a:t>K x A’ = KA’, </a:t>
            </a:r>
            <a:r>
              <a:rPr lang="en-US" sz="2000" dirty="0">
                <a:latin typeface="Calibri"/>
                <a:ea typeface="Calibri"/>
                <a:cs typeface="Calibri"/>
                <a:sym typeface="Calibri"/>
              </a:rPr>
              <a:t>Where K is a constant</a:t>
            </a:r>
          </a:p>
        </p:txBody>
      </p:sp>
    </p:spTree>
    <p:extLst>
      <p:ext uri="{BB962C8B-B14F-4D97-AF65-F5344CB8AC3E}">
        <p14:creationId xmlns:p14="http://schemas.microsoft.com/office/powerpoint/2010/main" val="2369232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6" name="Google Shape;507;p4"/>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4" name="TextBox 3"/>
          <p:cNvSpPr txBox="1"/>
          <p:nvPr/>
        </p:nvSpPr>
        <p:spPr>
          <a:xfrm>
            <a:off x="8748346" y="1547454"/>
            <a:ext cx="1828800" cy="369332"/>
          </a:xfrm>
          <a:prstGeom prst="rect">
            <a:avLst/>
          </a:prstGeom>
          <a:noFill/>
        </p:spPr>
        <p:txBody>
          <a:bodyPr wrap="square" rtlCol="0">
            <a:spAutoFit/>
          </a:bodyPr>
          <a:lstStyle/>
          <a:p>
            <a:pPr algn="ctr"/>
            <a:r>
              <a:rPr lang="af-ZA" sz="1800" b="1" dirty="0"/>
              <a:t>Output</a:t>
            </a:r>
            <a:endParaRPr lang="en-IN" sz="1800" b="1" dirty="0"/>
          </a:p>
        </p:txBody>
      </p:sp>
      <p:sp>
        <p:nvSpPr>
          <p:cNvPr id="22" name="Google Shape;507;p4"/>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used the numpy.transpose() method to obtain the transpose of the matrix E.</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5957" y="2338585"/>
            <a:ext cx="6080246" cy="1486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48346" y="2338585"/>
            <a:ext cx="2013115" cy="1838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6148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Inverse</a:t>
            </a:r>
          </a:p>
        </p:txBody>
      </p:sp>
      <p:grpSp>
        <p:nvGrpSpPr>
          <p:cNvPr id="3" name="Group 2"/>
          <p:cNvGrpSpPr/>
          <p:nvPr/>
        </p:nvGrpSpPr>
        <p:grpSpPr>
          <a:xfrm>
            <a:off x="1690089" y="1433141"/>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6" name="TextBox 5"/>
          <p:cNvSpPr txBox="1"/>
          <p:nvPr/>
        </p:nvSpPr>
        <p:spPr>
          <a:xfrm>
            <a:off x="4301404" y="1140753"/>
            <a:ext cx="633046" cy="584775"/>
          </a:xfrm>
          <a:prstGeom prst="rect">
            <a:avLst/>
          </a:prstGeom>
          <a:noFill/>
        </p:spPr>
        <p:txBody>
          <a:bodyPr wrap="square" rtlCol="0">
            <a:spAutoFit/>
          </a:bodyPr>
          <a:lstStyle/>
          <a:p>
            <a:r>
              <a:rPr lang="af-ZA" sz="3200" b="1" dirty="0"/>
              <a:t>-1</a:t>
            </a:r>
            <a:endParaRPr lang="en-IN" sz="3200" b="1" dirty="0"/>
          </a:p>
        </p:txBody>
      </p:sp>
      <p:graphicFrame>
        <p:nvGraphicFramePr>
          <p:cNvPr id="8" name="Table 7"/>
          <p:cNvGraphicFramePr>
            <a:graphicFrameLocks noGrp="1"/>
          </p:cNvGraphicFramePr>
          <p:nvPr>
            <p:extLst>
              <p:ext uri="{D42A27DB-BD31-4B8C-83A1-F6EECF244321}">
                <p14:modId xmlns:p14="http://schemas.microsoft.com/office/powerpoint/2010/main" val="3561738460"/>
              </p:ext>
            </p:extLst>
          </p:nvPr>
        </p:nvGraphicFramePr>
        <p:xfrm>
          <a:off x="2027871"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Google Shape;507;p4"/>
          <p:cNvSpPr/>
          <p:nvPr/>
        </p:nvSpPr>
        <p:spPr>
          <a:xfrm>
            <a:off x="7508632" y="1557766"/>
            <a:ext cx="3859822" cy="366486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To understand the inverse of a matrix, there are several concepts that you must be familiar with like determinant of a matrix, adjoint of a matrix, etc.</a:t>
            </a:r>
            <a:endParaRPr sz="2000" b="1" i="0" u="none" strike="noStrike" cap="none" dirty="0">
              <a:solidFill>
                <a:srgbClr val="000000"/>
              </a:solidFill>
              <a:latin typeface="Calibri"/>
              <a:ea typeface="Calibri"/>
              <a:cs typeface="Calibri"/>
              <a:sym typeface="Calibri"/>
            </a:endParaRPr>
          </a:p>
        </p:txBody>
      </p:sp>
      <p:sp>
        <p:nvSpPr>
          <p:cNvPr id="15" name="Equal 14"/>
          <p:cNvSpPr/>
          <p:nvPr/>
        </p:nvSpPr>
        <p:spPr>
          <a:xfrm>
            <a:off x="5292969" y="240469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846988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Inverse – Determinant of a Matrix</a:t>
            </a:r>
          </a:p>
        </p:txBody>
      </p:sp>
      <p:grpSp>
        <p:nvGrpSpPr>
          <p:cNvPr id="3" name="Group 2"/>
          <p:cNvGrpSpPr/>
          <p:nvPr/>
        </p:nvGrpSpPr>
        <p:grpSpPr>
          <a:xfrm>
            <a:off x="1690089" y="1433141"/>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8" name="Table 7"/>
          <p:cNvGraphicFramePr>
            <a:graphicFrameLocks noGrp="1"/>
          </p:cNvGraphicFramePr>
          <p:nvPr>
            <p:extLst>
              <p:ext uri="{D42A27DB-BD31-4B8C-83A1-F6EECF244321}">
                <p14:modId xmlns:p14="http://schemas.microsoft.com/office/powerpoint/2010/main" val="2978932485"/>
              </p:ext>
            </p:extLst>
          </p:nvPr>
        </p:nvGraphicFramePr>
        <p:xfrm>
          <a:off x="2027871"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Google Shape;507;p4"/>
          <p:cNvSpPr/>
          <p:nvPr/>
        </p:nvSpPr>
        <p:spPr>
          <a:xfrm>
            <a:off x="7508632" y="1557766"/>
            <a:ext cx="3859822" cy="366486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We can follow the laplacian</a:t>
            </a:r>
            <a:r>
              <a:rPr lang="en-US" sz="2000" dirty="0">
                <a:latin typeface="Calibri"/>
                <a:ea typeface="Calibri"/>
                <a:cs typeface="Calibri"/>
                <a:sym typeface="Calibri"/>
              </a:rPr>
              <a:t> expansion method to find the determinant of the matrix. It helps us in finding the inverse of the matrix.</a:t>
            </a:r>
          </a:p>
        </p:txBody>
      </p:sp>
      <p:sp>
        <p:nvSpPr>
          <p:cNvPr id="15" name="Equal 14"/>
          <p:cNvSpPr/>
          <p:nvPr/>
        </p:nvSpPr>
        <p:spPr>
          <a:xfrm>
            <a:off x="5292969" y="240469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063488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Inverse – Determinant of a 2x2 Matrix</a:t>
            </a:r>
          </a:p>
        </p:txBody>
      </p:sp>
      <p:grpSp>
        <p:nvGrpSpPr>
          <p:cNvPr id="3" name="Group 2"/>
          <p:cNvGrpSpPr/>
          <p:nvPr/>
        </p:nvGrpSpPr>
        <p:grpSpPr>
          <a:xfrm>
            <a:off x="1602165" y="1529862"/>
            <a:ext cx="2611315" cy="1538654"/>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15" name="Equal 14"/>
          <p:cNvSpPr/>
          <p:nvPr/>
        </p:nvSpPr>
        <p:spPr>
          <a:xfrm>
            <a:off x="4620982" y="1853357"/>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3569215252"/>
              </p:ext>
            </p:extLst>
          </p:nvPr>
        </p:nvGraphicFramePr>
        <p:xfrm>
          <a:off x="1926491" y="1546792"/>
          <a:ext cx="1977292" cy="1416216"/>
        </p:xfrm>
        <a:graphic>
          <a:graphicData uri="http://schemas.openxmlformats.org/drawingml/2006/table">
            <a:tbl>
              <a:tblPr firstRow="1" bandRow="1">
                <a:tableStyleId>{2D5ABB26-0587-4C30-8999-92F81FD0307C}</a:tableStyleId>
              </a:tblPr>
              <a:tblGrid>
                <a:gridCol w="957385">
                  <a:extLst>
                    <a:ext uri="{9D8B030D-6E8A-4147-A177-3AD203B41FA5}">
                      <a16:colId xmlns="" xmlns:a16="http://schemas.microsoft.com/office/drawing/2014/main" val="20000"/>
                    </a:ext>
                  </a:extLst>
                </a:gridCol>
                <a:gridCol w="1019907">
                  <a:extLst>
                    <a:ext uri="{9D8B030D-6E8A-4147-A177-3AD203B41FA5}">
                      <a16:colId xmlns="" xmlns:a16="http://schemas.microsoft.com/office/drawing/2014/main" val="20001"/>
                    </a:ext>
                  </a:extLst>
                </a:gridCol>
              </a:tblGrid>
              <a:tr h="708108">
                <a:tc>
                  <a:txBody>
                    <a:bodyPr/>
                    <a:lstStyle/>
                    <a:p>
                      <a:pPr algn="ctr"/>
                      <a:r>
                        <a:rPr lang="af-ZA" sz="3600" b="1" dirty="0">
                          <a:solidFill>
                            <a:schemeClr val="tx1"/>
                          </a:solidFill>
                        </a:rPr>
                        <a:t>a</a:t>
                      </a:r>
                      <a:endParaRPr lang="en-IN" sz="3600" b="1" dirty="0">
                        <a:solidFill>
                          <a:schemeClr val="tx1"/>
                        </a:solidFill>
                      </a:endParaRPr>
                    </a:p>
                  </a:txBody>
                  <a:tcPr anchor="ctr"/>
                </a:tc>
                <a:tc>
                  <a:txBody>
                    <a:bodyPr/>
                    <a:lstStyle/>
                    <a:p>
                      <a:pPr algn="ctr"/>
                      <a:r>
                        <a:rPr lang="af-ZA" sz="3600" b="1" dirty="0">
                          <a:solidFill>
                            <a:schemeClr val="tx1"/>
                          </a:solidFill>
                        </a:rPr>
                        <a:t>b</a:t>
                      </a:r>
                      <a:endParaRPr lang="en-IN" sz="3600" b="1" dirty="0">
                        <a:solidFill>
                          <a:schemeClr val="tx1"/>
                        </a:solidFill>
                      </a:endParaRPr>
                    </a:p>
                  </a:txBody>
                  <a:tcPr anchor="ctr"/>
                </a:tc>
                <a:extLst>
                  <a:ext uri="{0D108BD9-81ED-4DB2-BD59-A6C34878D82A}">
                    <a16:rowId xmlns="" xmlns:a16="http://schemas.microsoft.com/office/drawing/2014/main" val="10000"/>
                  </a:ext>
                </a:extLst>
              </a:tr>
              <a:tr h="708108">
                <a:tc>
                  <a:txBody>
                    <a:bodyPr/>
                    <a:lstStyle/>
                    <a:p>
                      <a:pPr algn="ctr"/>
                      <a:r>
                        <a:rPr lang="af-ZA" sz="3600" b="1" dirty="0">
                          <a:solidFill>
                            <a:schemeClr val="tx1"/>
                          </a:solidFill>
                        </a:rPr>
                        <a:t>c</a:t>
                      </a:r>
                      <a:endParaRPr lang="en-IN" sz="3600" b="1" dirty="0">
                        <a:solidFill>
                          <a:schemeClr val="tx1"/>
                        </a:solidFill>
                      </a:endParaRPr>
                    </a:p>
                  </a:txBody>
                  <a:tcPr anchor="ctr"/>
                </a:tc>
                <a:tc>
                  <a:txBody>
                    <a:bodyPr/>
                    <a:lstStyle/>
                    <a:p>
                      <a:pPr algn="ctr"/>
                      <a:r>
                        <a:rPr lang="af-ZA" sz="3600" b="1" dirty="0">
                          <a:solidFill>
                            <a:schemeClr val="tx1"/>
                          </a:solidFill>
                        </a:rPr>
                        <a:t>d</a:t>
                      </a:r>
                      <a:endParaRPr lang="en-IN" sz="3600" b="1" dirty="0">
                        <a:solidFill>
                          <a:schemeClr val="tx1"/>
                        </a:solidFill>
                      </a:endParaRPr>
                    </a:p>
                  </a:txBody>
                  <a:tcPr anchor="ctr"/>
                </a:tc>
                <a:extLst>
                  <a:ext uri="{0D108BD9-81ED-4DB2-BD59-A6C34878D82A}">
                    <a16:rowId xmlns="" xmlns:a16="http://schemas.microsoft.com/office/drawing/2014/main" val="10001"/>
                  </a:ext>
                </a:extLst>
              </a:tr>
            </a:tbl>
          </a:graphicData>
        </a:graphic>
      </p:graphicFrame>
      <p:grpSp>
        <p:nvGrpSpPr>
          <p:cNvPr id="18" name="Group 17"/>
          <p:cNvGrpSpPr/>
          <p:nvPr/>
        </p:nvGrpSpPr>
        <p:grpSpPr>
          <a:xfrm>
            <a:off x="1602165" y="3930162"/>
            <a:ext cx="2611315" cy="1538654"/>
            <a:chOff x="4423877" y="3182812"/>
            <a:chExt cx="2611315" cy="2593731"/>
          </a:xfrm>
        </p:grpSpPr>
        <p:sp>
          <p:nvSpPr>
            <p:cNvPr id="19" name="Left Bracket 18"/>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0" name="Right Bracket 19"/>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1" name="Equal 20"/>
          <p:cNvSpPr/>
          <p:nvPr/>
        </p:nvSpPr>
        <p:spPr>
          <a:xfrm>
            <a:off x="4761659" y="4253657"/>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2" name="Google Shape;507;p4"/>
          <p:cNvSpPr/>
          <p:nvPr/>
        </p:nvSpPr>
        <p:spPr>
          <a:xfrm>
            <a:off x="6031832" y="4039534"/>
            <a:ext cx="5834955" cy="107887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rtl="0">
              <a:spcBef>
                <a:spcPts val="0"/>
              </a:spcBef>
              <a:spcAft>
                <a:spcPts val="0"/>
              </a:spcAft>
              <a:buNone/>
            </a:pPr>
            <a:r>
              <a:rPr lang="af-ZA" sz="2800" b="1" dirty="0">
                <a:latin typeface="Calibri"/>
                <a:ea typeface="Calibri"/>
                <a:cs typeface="Calibri"/>
                <a:sym typeface="Calibri"/>
              </a:rPr>
              <a:t>|Matrix| = 1 x 9 – 4 x 6 = 9 – 24 = -15 </a:t>
            </a:r>
          </a:p>
        </p:txBody>
      </p:sp>
      <p:graphicFrame>
        <p:nvGraphicFramePr>
          <p:cNvPr id="23" name="Table 22"/>
          <p:cNvGraphicFramePr>
            <a:graphicFrameLocks noGrp="1"/>
          </p:cNvGraphicFramePr>
          <p:nvPr>
            <p:extLst>
              <p:ext uri="{D42A27DB-BD31-4B8C-83A1-F6EECF244321}">
                <p14:modId xmlns:p14="http://schemas.microsoft.com/office/powerpoint/2010/main" val="3882038351"/>
              </p:ext>
            </p:extLst>
          </p:nvPr>
        </p:nvGraphicFramePr>
        <p:xfrm>
          <a:off x="1926491" y="3947092"/>
          <a:ext cx="1977292" cy="1416216"/>
        </p:xfrm>
        <a:graphic>
          <a:graphicData uri="http://schemas.openxmlformats.org/drawingml/2006/table">
            <a:tbl>
              <a:tblPr firstRow="1" bandRow="1">
                <a:tableStyleId>{2D5ABB26-0587-4C30-8999-92F81FD0307C}</a:tableStyleId>
              </a:tblPr>
              <a:tblGrid>
                <a:gridCol w="957385">
                  <a:extLst>
                    <a:ext uri="{9D8B030D-6E8A-4147-A177-3AD203B41FA5}">
                      <a16:colId xmlns="" xmlns:a16="http://schemas.microsoft.com/office/drawing/2014/main" val="20000"/>
                    </a:ext>
                  </a:extLst>
                </a:gridCol>
                <a:gridCol w="1019907">
                  <a:extLst>
                    <a:ext uri="{9D8B030D-6E8A-4147-A177-3AD203B41FA5}">
                      <a16:colId xmlns="" xmlns:a16="http://schemas.microsoft.com/office/drawing/2014/main" val="20001"/>
                    </a:ext>
                  </a:extLst>
                </a:gridCol>
              </a:tblGrid>
              <a:tr h="708108">
                <a:tc>
                  <a:txBody>
                    <a:bodyPr/>
                    <a:lstStyle/>
                    <a:p>
                      <a:pPr algn="ctr"/>
                      <a:r>
                        <a:rPr lang="af-ZA" sz="3600" b="1" dirty="0">
                          <a:solidFill>
                            <a:schemeClr val="tx1"/>
                          </a:solidFill>
                        </a:rPr>
                        <a:t>1</a:t>
                      </a:r>
                      <a:endParaRPr lang="en-IN" sz="3600" b="1" dirty="0">
                        <a:solidFill>
                          <a:schemeClr val="tx1"/>
                        </a:solidFill>
                      </a:endParaRPr>
                    </a:p>
                  </a:txBody>
                  <a:tcPr anchor="ctr"/>
                </a:tc>
                <a:tc>
                  <a:txBody>
                    <a:bodyPr/>
                    <a:lstStyle/>
                    <a:p>
                      <a:pPr algn="ctr"/>
                      <a:r>
                        <a:rPr lang="af-ZA" sz="3600" b="1" dirty="0">
                          <a:solidFill>
                            <a:schemeClr val="tx1"/>
                          </a:solidFill>
                        </a:rPr>
                        <a:t>4</a:t>
                      </a:r>
                      <a:endParaRPr lang="en-IN" sz="3600" b="1" dirty="0">
                        <a:solidFill>
                          <a:schemeClr val="tx1"/>
                        </a:solidFill>
                      </a:endParaRPr>
                    </a:p>
                  </a:txBody>
                  <a:tcPr anchor="ctr"/>
                </a:tc>
                <a:extLst>
                  <a:ext uri="{0D108BD9-81ED-4DB2-BD59-A6C34878D82A}">
                    <a16:rowId xmlns="" xmlns:a16="http://schemas.microsoft.com/office/drawing/2014/main" val="10000"/>
                  </a:ext>
                </a:extLst>
              </a:tr>
              <a:tr h="708108">
                <a:tc>
                  <a:txBody>
                    <a:bodyPr/>
                    <a:lstStyle/>
                    <a:p>
                      <a:pPr algn="ctr"/>
                      <a:r>
                        <a:rPr lang="af-ZA" sz="3600" b="1" dirty="0">
                          <a:solidFill>
                            <a:schemeClr val="tx1"/>
                          </a:solidFill>
                        </a:rPr>
                        <a:t>6</a:t>
                      </a:r>
                      <a:endParaRPr lang="en-IN" sz="3600" b="1" dirty="0">
                        <a:solidFill>
                          <a:schemeClr val="tx1"/>
                        </a:solidFill>
                      </a:endParaRPr>
                    </a:p>
                  </a:txBody>
                  <a:tcPr anchor="ctr"/>
                </a:tc>
                <a:tc>
                  <a:txBody>
                    <a:bodyPr/>
                    <a:lstStyle/>
                    <a:p>
                      <a:pPr algn="ctr"/>
                      <a:r>
                        <a:rPr lang="af-ZA" sz="3600" b="1" dirty="0">
                          <a:solidFill>
                            <a:schemeClr val="tx1"/>
                          </a:solidFill>
                        </a:rPr>
                        <a:t>9</a:t>
                      </a:r>
                      <a:endParaRPr lang="en-IN" sz="3600" b="1" dirty="0">
                        <a:solidFill>
                          <a:schemeClr val="tx1"/>
                        </a:solidFill>
                      </a:endParaRPr>
                    </a:p>
                  </a:txBody>
                  <a:tcPr anchor="ctr"/>
                </a:tc>
                <a:extLst>
                  <a:ext uri="{0D108BD9-81ED-4DB2-BD59-A6C34878D82A}">
                    <a16:rowId xmlns="" xmlns:a16="http://schemas.microsoft.com/office/drawing/2014/main" val="10001"/>
                  </a:ext>
                </a:extLst>
              </a:tr>
            </a:tbl>
          </a:graphicData>
        </a:graphic>
      </p:graphicFrame>
      <p:sp>
        <p:nvSpPr>
          <p:cNvPr id="24" name="Google Shape;507;p4"/>
          <p:cNvSpPr/>
          <p:nvPr/>
        </p:nvSpPr>
        <p:spPr>
          <a:xfrm>
            <a:off x="5917305" y="1639234"/>
            <a:ext cx="5834955" cy="107887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lvl="0" algn="ctr"/>
            <a:r>
              <a:rPr lang="pt-BR" sz="2800" b="1" dirty="0">
                <a:latin typeface="Calibri"/>
                <a:ea typeface="Calibri"/>
                <a:cs typeface="Calibri"/>
                <a:sym typeface="Calibri"/>
              </a:rPr>
              <a:t>|Matrix| = a x d – b x c</a:t>
            </a:r>
          </a:p>
        </p:txBody>
      </p:sp>
    </p:spTree>
    <p:extLst>
      <p:ext uri="{BB962C8B-B14F-4D97-AF65-F5344CB8AC3E}">
        <p14:creationId xmlns:p14="http://schemas.microsoft.com/office/powerpoint/2010/main" val="91449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Inverse – Determinant of a 3x3 Matrix</a:t>
            </a:r>
          </a:p>
        </p:txBody>
      </p:sp>
      <p:grpSp>
        <p:nvGrpSpPr>
          <p:cNvPr id="3" name="Group 2"/>
          <p:cNvGrpSpPr/>
          <p:nvPr/>
        </p:nvGrpSpPr>
        <p:grpSpPr>
          <a:xfrm>
            <a:off x="529505" y="1433141"/>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8" name="Table 7"/>
          <p:cNvGraphicFramePr>
            <a:graphicFrameLocks noGrp="1"/>
          </p:cNvGraphicFramePr>
          <p:nvPr>
            <p:extLst>
              <p:ext uri="{D42A27DB-BD31-4B8C-83A1-F6EECF244321}">
                <p14:modId xmlns:p14="http://schemas.microsoft.com/office/powerpoint/2010/main" val="1364668217"/>
              </p:ext>
            </p:extLst>
          </p:nvPr>
        </p:nvGraphicFramePr>
        <p:xfrm>
          <a:off x="867287"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a</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b</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c</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d</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e</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f</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g</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h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i</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15" name="Equal 14"/>
          <p:cNvSpPr/>
          <p:nvPr/>
        </p:nvSpPr>
        <p:spPr>
          <a:xfrm>
            <a:off x="3543300" y="225522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Google Shape;507;p4"/>
          <p:cNvSpPr/>
          <p:nvPr/>
        </p:nvSpPr>
        <p:spPr>
          <a:xfrm>
            <a:off x="5301761" y="2127738"/>
            <a:ext cx="6664570" cy="93198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rtl="0">
              <a:spcBef>
                <a:spcPts val="0"/>
              </a:spcBef>
              <a:spcAft>
                <a:spcPts val="0"/>
              </a:spcAft>
              <a:buNone/>
            </a:pPr>
            <a:r>
              <a:rPr lang="af-ZA" sz="2000" b="1" i="0" u="none" strike="noStrike" cap="none" dirty="0">
                <a:solidFill>
                  <a:srgbClr val="000000"/>
                </a:solidFill>
                <a:latin typeface="Calibri"/>
                <a:ea typeface="Calibri"/>
                <a:cs typeface="Calibri"/>
                <a:sym typeface="Calibri"/>
              </a:rPr>
              <a:t>|Matrix| = a(e x i – f x h) – b(d x i – f x g) </a:t>
            </a:r>
            <a:r>
              <a:rPr lang="af-ZA" sz="2000" b="1" dirty="0" smtClean="0">
                <a:latin typeface="Calibri"/>
                <a:ea typeface="Calibri"/>
                <a:cs typeface="Calibri"/>
                <a:sym typeface="Calibri"/>
              </a:rPr>
              <a:t>+ </a:t>
            </a:r>
            <a:r>
              <a:rPr lang="af-ZA" sz="2000" b="1" i="0" u="none" strike="noStrike" cap="none" dirty="0" smtClean="0">
                <a:solidFill>
                  <a:srgbClr val="000000"/>
                </a:solidFill>
                <a:latin typeface="Calibri"/>
                <a:ea typeface="Calibri"/>
                <a:cs typeface="Calibri"/>
                <a:sym typeface="Calibri"/>
              </a:rPr>
              <a:t>c(d </a:t>
            </a:r>
            <a:r>
              <a:rPr lang="af-ZA" sz="2000" b="1" i="0" u="none" strike="noStrike" cap="none" dirty="0">
                <a:solidFill>
                  <a:srgbClr val="000000"/>
                </a:solidFill>
                <a:latin typeface="Calibri"/>
                <a:ea typeface="Calibri"/>
                <a:cs typeface="Calibri"/>
                <a:sym typeface="Calibri"/>
              </a:rPr>
              <a:t>x h – e x g)</a:t>
            </a:r>
            <a:endParaRPr sz="2000" b="1" i="0" u="none" strike="noStrike" cap="none" dirty="0">
              <a:solidFill>
                <a:srgbClr val="000000"/>
              </a:solidFill>
              <a:latin typeface="Calibri"/>
              <a:ea typeface="Calibri"/>
              <a:cs typeface="Calibri"/>
              <a:sym typeface="Calibri"/>
            </a:endParaRPr>
          </a:p>
        </p:txBody>
      </p:sp>
      <p:grpSp>
        <p:nvGrpSpPr>
          <p:cNvPr id="9" name="Group 8"/>
          <p:cNvGrpSpPr/>
          <p:nvPr/>
        </p:nvGrpSpPr>
        <p:grpSpPr>
          <a:xfrm>
            <a:off x="9030408" y="3516918"/>
            <a:ext cx="2611315" cy="2593731"/>
            <a:chOff x="4423877" y="3182812"/>
            <a:chExt cx="2611315" cy="2593731"/>
          </a:xfrm>
        </p:grpSpPr>
        <p:sp>
          <p:nvSpPr>
            <p:cNvPr id="11" name="Left Bracket 10"/>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Right Bracket 11"/>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3" name="Table 12"/>
          <p:cNvGraphicFramePr>
            <a:graphicFrameLocks noGrp="1"/>
          </p:cNvGraphicFramePr>
          <p:nvPr>
            <p:extLst>
              <p:ext uri="{D42A27DB-BD31-4B8C-83A1-F6EECF244321}">
                <p14:modId xmlns:p14="http://schemas.microsoft.com/office/powerpoint/2010/main" val="2580831741"/>
              </p:ext>
            </p:extLst>
          </p:nvPr>
        </p:nvGraphicFramePr>
        <p:xfrm>
          <a:off x="9368190" y="3771899"/>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2</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smtClean="0">
                          <a:solidFill>
                            <a:schemeClr val="tx1"/>
                          </a:solidFill>
                        </a:rPr>
                        <a:t>-3</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1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14" name="Google Shape;507;p4"/>
          <p:cNvSpPr/>
          <p:nvPr/>
        </p:nvSpPr>
        <p:spPr>
          <a:xfrm>
            <a:off x="740520" y="4237891"/>
            <a:ext cx="7656134" cy="1872757"/>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rtl="0">
              <a:spcBef>
                <a:spcPts val="0"/>
              </a:spcBef>
              <a:spcAft>
                <a:spcPts val="0"/>
              </a:spcAft>
              <a:buNone/>
            </a:pPr>
            <a:r>
              <a:rPr lang="af-ZA" sz="2000" b="1" i="0" u="none" strike="noStrike" cap="none" dirty="0">
                <a:solidFill>
                  <a:srgbClr val="000000"/>
                </a:solidFill>
                <a:latin typeface="Calibri"/>
                <a:ea typeface="Calibri"/>
                <a:cs typeface="Calibri"/>
                <a:sym typeface="Calibri"/>
              </a:rPr>
              <a:t>|Matrix| = 2(2 x 2 – 2 x 1) – 2(1 x 2 – 2 x 1) – 3(1 x 1 – 2 x 1)</a:t>
            </a:r>
          </a:p>
          <a:p>
            <a:pPr marL="0" marR="0" lvl="0" indent="0" rtl="0">
              <a:spcBef>
                <a:spcPts val="0"/>
              </a:spcBef>
              <a:spcAft>
                <a:spcPts val="0"/>
              </a:spcAft>
              <a:buNone/>
            </a:pPr>
            <a:r>
              <a:rPr lang="af-ZA" sz="2000" b="1" dirty="0">
                <a:latin typeface="Calibri"/>
                <a:ea typeface="Calibri"/>
                <a:cs typeface="Calibri"/>
                <a:sym typeface="Calibri"/>
              </a:rPr>
              <a:t> </a:t>
            </a:r>
          </a:p>
          <a:p>
            <a:pPr marL="0" marR="0" lvl="0" indent="0" rtl="0">
              <a:spcBef>
                <a:spcPts val="0"/>
              </a:spcBef>
              <a:spcAft>
                <a:spcPts val="0"/>
              </a:spcAft>
              <a:buNone/>
            </a:pPr>
            <a:r>
              <a:rPr lang="af-ZA" sz="2000" b="1" i="0" u="none" strike="noStrike" cap="none" dirty="0">
                <a:solidFill>
                  <a:srgbClr val="000000"/>
                </a:solidFill>
                <a:latin typeface="Calibri"/>
                <a:ea typeface="Calibri"/>
                <a:cs typeface="Calibri"/>
                <a:sym typeface="Calibri"/>
              </a:rPr>
              <a:t>= 2(2) – 2(0) – 3(-1)</a:t>
            </a:r>
          </a:p>
          <a:p>
            <a:pPr marL="0" marR="0" lvl="0" indent="0" rtl="0">
              <a:spcBef>
                <a:spcPts val="0"/>
              </a:spcBef>
              <a:spcAft>
                <a:spcPts val="0"/>
              </a:spcAft>
              <a:buNone/>
            </a:pPr>
            <a:r>
              <a:rPr lang="af-ZA" sz="2000" b="1" dirty="0">
                <a:latin typeface="Calibri"/>
                <a:ea typeface="Calibri"/>
                <a:cs typeface="Calibri"/>
                <a:sym typeface="Calibri"/>
              </a:rPr>
              <a:t>= 4 – 0 – (-3)</a:t>
            </a:r>
          </a:p>
          <a:p>
            <a:pPr marL="0" marR="0" lvl="0" indent="0" rtl="0">
              <a:spcBef>
                <a:spcPts val="0"/>
              </a:spcBef>
              <a:spcAft>
                <a:spcPts val="0"/>
              </a:spcAft>
              <a:buNone/>
            </a:pPr>
            <a:r>
              <a:rPr lang="af-ZA" sz="2000" b="1" i="0" u="none" strike="noStrike" cap="none" dirty="0">
                <a:solidFill>
                  <a:srgbClr val="000000"/>
                </a:solidFill>
                <a:latin typeface="Calibri"/>
                <a:ea typeface="Calibri"/>
                <a:cs typeface="Calibri"/>
                <a:sym typeface="Calibri"/>
              </a:rPr>
              <a:t>= 4 + 3 = 7 </a:t>
            </a:r>
            <a:endParaRPr sz="2000" b="1" i="0" u="none" strike="noStrike" cap="none"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3511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Inverse – Adjoint of a Matrix</a:t>
            </a:r>
          </a:p>
        </p:txBody>
      </p:sp>
      <p:grpSp>
        <p:nvGrpSpPr>
          <p:cNvPr id="3" name="Group 2"/>
          <p:cNvGrpSpPr/>
          <p:nvPr/>
        </p:nvGrpSpPr>
        <p:grpSpPr>
          <a:xfrm>
            <a:off x="1690089" y="1433141"/>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8" name="Table 7"/>
          <p:cNvGraphicFramePr>
            <a:graphicFrameLocks noGrp="1"/>
          </p:cNvGraphicFramePr>
          <p:nvPr>
            <p:extLst>
              <p:ext uri="{D42A27DB-BD31-4B8C-83A1-F6EECF244321}">
                <p14:modId xmlns:p14="http://schemas.microsoft.com/office/powerpoint/2010/main" val="3253193246"/>
              </p:ext>
            </p:extLst>
          </p:nvPr>
        </p:nvGraphicFramePr>
        <p:xfrm>
          <a:off x="2027871"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Google Shape;507;p4"/>
          <p:cNvSpPr/>
          <p:nvPr/>
        </p:nvSpPr>
        <p:spPr>
          <a:xfrm>
            <a:off x="7508632" y="1557766"/>
            <a:ext cx="3859822" cy="366486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To find the adjoint of a given matrix, we have to find the transpose of the cofactors of the elements in the given matrix. It is also known as adjugate of a matrix.</a:t>
            </a:r>
            <a:endParaRPr sz="2000" b="1" i="0" u="none" strike="noStrike" cap="none" dirty="0">
              <a:solidFill>
                <a:srgbClr val="000000"/>
              </a:solidFill>
              <a:latin typeface="Calibri"/>
              <a:ea typeface="Calibri"/>
              <a:cs typeface="Calibri"/>
              <a:sym typeface="Calibri"/>
            </a:endParaRPr>
          </a:p>
        </p:txBody>
      </p:sp>
      <p:sp>
        <p:nvSpPr>
          <p:cNvPr id="15" name="Equal 14"/>
          <p:cNvSpPr/>
          <p:nvPr/>
        </p:nvSpPr>
        <p:spPr>
          <a:xfrm>
            <a:off x="5292969" y="240469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10133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Inverse – Adjoint of a Matrix</a:t>
            </a:r>
          </a:p>
        </p:txBody>
      </p:sp>
      <p:grpSp>
        <p:nvGrpSpPr>
          <p:cNvPr id="3" name="Group 2"/>
          <p:cNvGrpSpPr/>
          <p:nvPr/>
        </p:nvGrpSpPr>
        <p:grpSpPr>
          <a:xfrm>
            <a:off x="1690089" y="1433141"/>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8" name="Table 7"/>
          <p:cNvGraphicFramePr>
            <a:graphicFrameLocks noGrp="1"/>
          </p:cNvGraphicFramePr>
          <p:nvPr>
            <p:extLst>
              <p:ext uri="{D42A27DB-BD31-4B8C-83A1-F6EECF244321}">
                <p14:modId xmlns:p14="http://schemas.microsoft.com/office/powerpoint/2010/main" val="898620735"/>
              </p:ext>
            </p:extLst>
          </p:nvPr>
        </p:nvGraphicFramePr>
        <p:xfrm>
          <a:off x="2027871"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15" name="Equal 14"/>
          <p:cNvSpPr/>
          <p:nvPr/>
        </p:nvSpPr>
        <p:spPr>
          <a:xfrm>
            <a:off x="5292969" y="240469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11" name="Group 10"/>
          <p:cNvGrpSpPr/>
          <p:nvPr/>
        </p:nvGrpSpPr>
        <p:grpSpPr>
          <a:xfrm>
            <a:off x="7563350" y="1529857"/>
            <a:ext cx="2611315" cy="2593731"/>
            <a:chOff x="4423877" y="3182812"/>
            <a:chExt cx="2611315" cy="2593731"/>
          </a:xfrm>
        </p:grpSpPr>
        <p:sp>
          <p:nvSpPr>
            <p:cNvPr id="12" name="Left Bracket 11"/>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 name="Right Bracket 12"/>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4" name="Table 13"/>
          <p:cNvGraphicFramePr>
            <a:graphicFrameLocks noGrp="1"/>
          </p:cNvGraphicFramePr>
          <p:nvPr>
            <p:extLst>
              <p:ext uri="{D42A27DB-BD31-4B8C-83A1-F6EECF244321}">
                <p14:modId xmlns:p14="http://schemas.microsoft.com/office/powerpoint/2010/main" val="1624165332"/>
              </p:ext>
            </p:extLst>
          </p:nvPr>
        </p:nvGraphicFramePr>
        <p:xfrm>
          <a:off x="7901132" y="1784838"/>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af-ZA" sz="1800" b="1" dirty="0">
                          <a:solidFill>
                            <a:schemeClr val="tx1"/>
                          </a:solidFill>
                        </a:rPr>
                        <a:t>m11</a:t>
                      </a:r>
                      <a:endParaRPr lang="en-IN" sz="18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800" b="1" dirty="0">
                          <a:solidFill>
                            <a:schemeClr val="tx1"/>
                          </a:solidFill>
                        </a:rPr>
                        <a:t>m12</a:t>
                      </a:r>
                      <a:endParaRPr lang="en-IN" sz="18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800" b="1" dirty="0">
                          <a:solidFill>
                            <a:schemeClr val="tx1"/>
                          </a:solidFill>
                        </a:rPr>
                        <a:t>m13</a:t>
                      </a:r>
                      <a:endParaRPr lang="en-IN" sz="18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1800" b="1" dirty="0">
                          <a:solidFill>
                            <a:schemeClr val="tx1"/>
                          </a:solidFill>
                        </a:rPr>
                        <a:t>m21</a:t>
                      </a:r>
                      <a:endParaRPr lang="en-IN" sz="18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800" b="1" dirty="0">
                          <a:solidFill>
                            <a:schemeClr val="tx1"/>
                          </a:solidFill>
                        </a:rPr>
                        <a:t>m22</a:t>
                      </a:r>
                      <a:endParaRPr lang="en-IN" sz="18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800" b="1" dirty="0">
                          <a:solidFill>
                            <a:schemeClr val="tx1"/>
                          </a:solidFill>
                        </a:rPr>
                        <a:t>m23</a:t>
                      </a:r>
                      <a:endParaRPr lang="en-IN" sz="18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1800" b="1" dirty="0">
                          <a:solidFill>
                            <a:schemeClr val="tx1"/>
                          </a:solidFill>
                        </a:rPr>
                        <a:t>m31</a:t>
                      </a:r>
                      <a:endParaRPr lang="en-IN" sz="18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1800" b="1" dirty="0">
                          <a:solidFill>
                            <a:schemeClr val="tx1"/>
                          </a:solidFill>
                        </a:rPr>
                        <a:t>m32 </a:t>
                      </a:r>
                      <a:endParaRPr lang="en-IN" sz="18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1800" b="1" dirty="0">
                          <a:solidFill>
                            <a:schemeClr val="tx1"/>
                          </a:solidFill>
                        </a:rPr>
                        <a:t>m33</a:t>
                      </a:r>
                      <a:endParaRPr lang="en-IN" sz="18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16" name="Google Shape;507;p4"/>
          <p:cNvSpPr/>
          <p:nvPr/>
        </p:nvSpPr>
        <p:spPr>
          <a:xfrm>
            <a:off x="1099038" y="4519247"/>
            <a:ext cx="10269416" cy="1538654"/>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The minor (m11, m12,… mij) are the determinants of the square matrix that is formed after eliminating the i</a:t>
            </a:r>
            <a:r>
              <a:rPr lang="en-US" sz="2000" b="0" i="0" u="none" strike="noStrike" cap="none" baseline="30000" dirty="0">
                <a:solidFill>
                  <a:srgbClr val="000000"/>
                </a:solidFill>
                <a:latin typeface="Calibri"/>
                <a:ea typeface="Calibri"/>
                <a:cs typeface="Calibri"/>
                <a:sym typeface="Calibri"/>
              </a:rPr>
              <a:t>th</a:t>
            </a:r>
            <a:r>
              <a:rPr lang="en-US" sz="2000" b="0" i="0" u="none" strike="noStrike" cap="none" dirty="0">
                <a:solidFill>
                  <a:srgbClr val="000000"/>
                </a:solidFill>
                <a:latin typeface="Calibri"/>
                <a:ea typeface="Calibri"/>
                <a:cs typeface="Calibri"/>
                <a:sym typeface="Calibri"/>
              </a:rPr>
              <a:t> row and j</a:t>
            </a:r>
            <a:r>
              <a:rPr lang="en-US" sz="2000" b="0" i="0" u="none" strike="noStrike" cap="none" baseline="30000" dirty="0">
                <a:solidFill>
                  <a:srgbClr val="000000"/>
                </a:solidFill>
                <a:latin typeface="Calibri"/>
                <a:ea typeface="Calibri"/>
                <a:cs typeface="Calibri"/>
                <a:sym typeface="Calibri"/>
              </a:rPr>
              <a:t>th</a:t>
            </a:r>
            <a:r>
              <a:rPr lang="en-US" sz="2000" b="0" i="0" u="none" strike="noStrike" cap="none" dirty="0">
                <a:solidFill>
                  <a:srgbClr val="000000"/>
                </a:solidFill>
                <a:latin typeface="Calibri"/>
                <a:ea typeface="Calibri"/>
                <a:cs typeface="Calibri"/>
                <a:sym typeface="Calibri"/>
              </a:rPr>
              <a:t> column of the matrix. We use the minors to calculate the cofactors of th</a:t>
            </a:r>
            <a:r>
              <a:rPr lang="en-US" sz="2000" dirty="0">
                <a:latin typeface="Calibri"/>
                <a:ea typeface="Calibri"/>
                <a:cs typeface="Calibri"/>
                <a:sym typeface="Calibri"/>
              </a:rPr>
              <a:t>e given matrix.</a:t>
            </a:r>
            <a:endParaRPr sz="2000" b="1" i="0" u="none" strike="noStrike" cap="none"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33949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Inverse – Adjoint of a Matrix</a:t>
            </a:r>
          </a:p>
        </p:txBody>
      </p:sp>
      <p:grpSp>
        <p:nvGrpSpPr>
          <p:cNvPr id="3" name="Group 2"/>
          <p:cNvGrpSpPr/>
          <p:nvPr/>
        </p:nvGrpSpPr>
        <p:grpSpPr>
          <a:xfrm>
            <a:off x="1690089" y="1433141"/>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8" name="Table 7"/>
          <p:cNvGraphicFramePr>
            <a:graphicFrameLocks noGrp="1"/>
          </p:cNvGraphicFramePr>
          <p:nvPr>
            <p:extLst>
              <p:ext uri="{D42A27DB-BD31-4B8C-83A1-F6EECF244321}">
                <p14:modId xmlns:p14="http://schemas.microsoft.com/office/powerpoint/2010/main" val="3128520233"/>
              </p:ext>
            </p:extLst>
          </p:nvPr>
        </p:nvGraphicFramePr>
        <p:xfrm>
          <a:off x="2027871"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15" name="Equal 14"/>
          <p:cNvSpPr/>
          <p:nvPr/>
        </p:nvSpPr>
        <p:spPr>
          <a:xfrm>
            <a:off x="5292969" y="240469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11" name="Group 10"/>
          <p:cNvGrpSpPr/>
          <p:nvPr/>
        </p:nvGrpSpPr>
        <p:grpSpPr>
          <a:xfrm>
            <a:off x="7563350" y="1529857"/>
            <a:ext cx="2611315" cy="2593731"/>
            <a:chOff x="4423877" y="3182812"/>
            <a:chExt cx="2611315" cy="2593731"/>
          </a:xfrm>
        </p:grpSpPr>
        <p:sp>
          <p:nvSpPr>
            <p:cNvPr id="12" name="Left Bracket 11"/>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 name="Right Bracket 12"/>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4" name="Table 13"/>
          <p:cNvGraphicFramePr>
            <a:graphicFrameLocks noGrp="1"/>
          </p:cNvGraphicFramePr>
          <p:nvPr>
            <p:extLst>
              <p:ext uri="{D42A27DB-BD31-4B8C-83A1-F6EECF244321}">
                <p14:modId xmlns:p14="http://schemas.microsoft.com/office/powerpoint/2010/main" val="1753401171"/>
              </p:ext>
            </p:extLst>
          </p:nvPr>
        </p:nvGraphicFramePr>
        <p:xfrm>
          <a:off x="7901132" y="1784838"/>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af-ZA" sz="1800" b="1" dirty="0">
                          <a:solidFill>
                            <a:schemeClr val="tx1"/>
                          </a:solidFill>
                        </a:rPr>
                        <a:t>m11</a:t>
                      </a:r>
                      <a:endParaRPr lang="en-IN" sz="18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800" b="1" dirty="0">
                          <a:solidFill>
                            <a:schemeClr val="tx1"/>
                          </a:solidFill>
                        </a:rPr>
                        <a:t>m12</a:t>
                      </a:r>
                      <a:endParaRPr lang="en-IN" sz="18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800" b="1" dirty="0">
                          <a:solidFill>
                            <a:schemeClr val="tx1"/>
                          </a:solidFill>
                        </a:rPr>
                        <a:t>m13</a:t>
                      </a:r>
                      <a:endParaRPr lang="en-IN" sz="18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1800" b="1" dirty="0">
                          <a:solidFill>
                            <a:schemeClr val="tx1"/>
                          </a:solidFill>
                        </a:rPr>
                        <a:t>m21</a:t>
                      </a:r>
                      <a:endParaRPr lang="en-IN" sz="18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800" b="1" dirty="0">
                          <a:solidFill>
                            <a:schemeClr val="tx1"/>
                          </a:solidFill>
                        </a:rPr>
                        <a:t>m22</a:t>
                      </a:r>
                      <a:endParaRPr lang="en-IN" sz="18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800" b="1" dirty="0">
                          <a:solidFill>
                            <a:schemeClr val="tx1"/>
                          </a:solidFill>
                        </a:rPr>
                        <a:t>m23</a:t>
                      </a:r>
                      <a:endParaRPr lang="en-IN" sz="18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1800" b="1" dirty="0">
                          <a:solidFill>
                            <a:schemeClr val="tx1"/>
                          </a:solidFill>
                        </a:rPr>
                        <a:t>m31</a:t>
                      </a:r>
                      <a:endParaRPr lang="en-IN" sz="18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1800" b="1" dirty="0">
                          <a:solidFill>
                            <a:schemeClr val="tx1"/>
                          </a:solidFill>
                        </a:rPr>
                        <a:t>m32 </a:t>
                      </a:r>
                      <a:endParaRPr lang="en-IN" sz="18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1800" b="1" dirty="0">
                          <a:solidFill>
                            <a:schemeClr val="tx1"/>
                          </a:solidFill>
                        </a:rPr>
                        <a:t>m33</a:t>
                      </a:r>
                      <a:endParaRPr lang="en-IN" sz="18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16" name="Google Shape;507;p4"/>
          <p:cNvSpPr/>
          <p:nvPr/>
        </p:nvSpPr>
        <p:spPr>
          <a:xfrm>
            <a:off x="1099038" y="4519247"/>
            <a:ext cx="10269416" cy="1538654"/>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Formulae to find the cofactors = Cij = (-1)</a:t>
            </a:r>
            <a:r>
              <a:rPr lang="en-US" sz="2000" b="0" i="0" u="none" strike="noStrike" cap="none" baseline="30000" dirty="0">
                <a:solidFill>
                  <a:srgbClr val="000000"/>
                </a:solidFill>
                <a:latin typeface="Calibri"/>
                <a:ea typeface="Calibri"/>
                <a:cs typeface="Calibri"/>
                <a:sym typeface="Calibri"/>
              </a:rPr>
              <a:t>i+j</a:t>
            </a:r>
            <a:r>
              <a:rPr lang="en-US" sz="2000" dirty="0">
                <a:latin typeface="Calibri"/>
                <a:ea typeface="Calibri"/>
                <a:cs typeface="Calibri"/>
                <a:sym typeface="Calibri"/>
              </a:rPr>
              <a:t>|mij|</a:t>
            </a:r>
          </a:p>
          <a:p>
            <a:pPr marL="0" marR="0" lvl="0" indent="0" algn="ctr" rtl="0">
              <a:spcBef>
                <a:spcPts val="0"/>
              </a:spcBef>
              <a:spcAft>
                <a:spcPts val="0"/>
              </a:spcAft>
              <a:buNone/>
            </a:pPr>
            <a:r>
              <a:rPr lang="en-US" sz="2000" dirty="0">
                <a:latin typeface="Calibri"/>
                <a:ea typeface="Calibri"/>
                <a:cs typeface="Calibri"/>
                <a:sym typeface="Calibri"/>
              </a:rPr>
              <a:t>We will use the above formulae to calculate the cofactors of the given matrix.</a:t>
            </a:r>
            <a:r>
              <a:rPr lang="en-US" sz="2000" b="0" i="0" u="none" strike="noStrike" cap="none" dirty="0">
                <a:solidFill>
                  <a:srgbClr val="000000"/>
                </a:solidFill>
                <a:latin typeface="Calibri"/>
                <a:ea typeface="Calibri"/>
                <a:cs typeface="Calibri"/>
                <a:sym typeface="Calibri"/>
              </a:rPr>
              <a:t> </a:t>
            </a:r>
            <a:endParaRPr sz="2000" b="1" i="0" u="none" strike="noStrike" cap="none"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878007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Inverse – Adjoint of a Matrix</a:t>
            </a:r>
          </a:p>
        </p:txBody>
      </p:sp>
      <p:sp>
        <p:nvSpPr>
          <p:cNvPr id="31" name="Flowchart: Alternate Process 30"/>
          <p:cNvSpPr/>
          <p:nvPr/>
        </p:nvSpPr>
        <p:spPr>
          <a:xfrm>
            <a:off x="554897" y="1631068"/>
            <a:ext cx="5108331"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f-ZA" sz="2000" b="1" dirty="0">
                <a:solidFill>
                  <a:schemeClr val="tx1"/>
                </a:solidFill>
              </a:rPr>
              <a:t>m11 = 48 – 21 = 27</a:t>
            </a:r>
            <a:endParaRPr lang="en-IN" sz="2000" b="1" dirty="0">
              <a:solidFill>
                <a:schemeClr val="tx1"/>
              </a:solidFill>
            </a:endParaRPr>
          </a:p>
        </p:txBody>
      </p:sp>
      <p:sp>
        <p:nvSpPr>
          <p:cNvPr id="32" name="Flowchart: Alternate Process 31"/>
          <p:cNvSpPr/>
          <p:nvPr/>
        </p:nvSpPr>
        <p:spPr>
          <a:xfrm>
            <a:off x="554897" y="2378414"/>
            <a:ext cx="5108331"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f-ZA" sz="2000" b="1" dirty="0">
                <a:solidFill>
                  <a:schemeClr val="tx1"/>
                </a:solidFill>
              </a:rPr>
              <a:t>m12 = 32 – 7 = 25</a:t>
            </a:r>
            <a:endParaRPr lang="en-IN" sz="2000" b="1" dirty="0">
              <a:solidFill>
                <a:schemeClr val="tx1"/>
              </a:solidFill>
            </a:endParaRPr>
          </a:p>
        </p:txBody>
      </p:sp>
      <p:sp>
        <p:nvSpPr>
          <p:cNvPr id="33" name="Flowchart: Alternate Process 32"/>
          <p:cNvSpPr/>
          <p:nvPr/>
        </p:nvSpPr>
        <p:spPr>
          <a:xfrm>
            <a:off x="6269897" y="1631067"/>
            <a:ext cx="5108331"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f-ZA" sz="2000" b="1" dirty="0">
                <a:solidFill>
                  <a:schemeClr val="tx1"/>
                </a:solidFill>
              </a:rPr>
              <a:t>m22 = 40 – 9 = 31</a:t>
            </a:r>
            <a:endParaRPr lang="en-IN" sz="2000" b="1" dirty="0">
              <a:solidFill>
                <a:schemeClr val="tx1"/>
              </a:solidFill>
            </a:endParaRPr>
          </a:p>
        </p:txBody>
      </p:sp>
      <p:sp>
        <p:nvSpPr>
          <p:cNvPr id="34" name="Flowchart: Alternate Process 33"/>
          <p:cNvSpPr/>
          <p:nvPr/>
        </p:nvSpPr>
        <p:spPr>
          <a:xfrm>
            <a:off x="6269897" y="2378413"/>
            <a:ext cx="5108331"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f-ZA" sz="2000" b="1" dirty="0">
                <a:solidFill>
                  <a:schemeClr val="tx1"/>
                </a:solidFill>
              </a:rPr>
              <a:t>m23 = 15 -2 = 13</a:t>
            </a:r>
            <a:endParaRPr lang="en-IN" sz="2000" b="1" dirty="0">
              <a:solidFill>
                <a:schemeClr val="tx1"/>
              </a:solidFill>
            </a:endParaRPr>
          </a:p>
        </p:txBody>
      </p:sp>
      <p:sp>
        <p:nvSpPr>
          <p:cNvPr id="35" name="Flowchart: Alternate Process 34"/>
          <p:cNvSpPr/>
          <p:nvPr/>
        </p:nvSpPr>
        <p:spPr>
          <a:xfrm>
            <a:off x="554897" y="3187307"/>
            <a:ext cx="5108331"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f-ZA" sz="2000" b="1" dirty="0">
                <a:solidFill>
                  <a:schemeClr val="tx1"/>
                </a:solidFill>
              </a:rPr>
              <a:t>m13 = 12 – 6 = 6</a:t>
            </a:r>
            <a:endParaRPr lang="en-IN" sz="2000" b="1" dirty="0">
              <a:solidFill>
                <a:schemeClr val="tx1"/>
              </a:solidFill>
            </a:endParaRPr>
          </a:p>
        </p:txBody>
      </p:sp>
      <p:sp>
        <p:nvSpPr>
          <p:cNvPr id="36" name="Flowchart: Alternate Process 35"/>
          <p:cNvSpPr/>
          <p:nvPr/>
        </p:nvSpPr>
        <p:spPr>
          <a:xfrm>
            <a:off x="554897" y="3934653"/>
            <a:ext cx="5108331"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f-ZA" sz="2000" b="1" dirty="0">
                <a:solidFill>
                  <a:schemeClr val="tx1"/>
                </a:solidFill>
              </a:rPr>
              <a:t>m21 = 16 – 27 = -11</a:t>
            </a:r>
            <a:endParaRPr lang="en-IN" sz="2000" b="1" dirty="0">
              <a:solidFill>
                <a:schemeClr val="tx1"/>
              </a:solidFill>
            </a:endParaRPr>
          </a:p>
        </p:txBody>
      </p:sp>
      <p:sp>
        <p:nvSpPr>
          <p:cNvPr id="37" name="Flowchart: Alternate Process 36"/>
          <p:cNvSpPr/>
          <p:nvPr/>
        </p:nvSpPr>
        <p:spPr>
          <a:xfrm>
            <a:off x="6269897" y="3187306"/>
            <a:ext cx="5108331"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f-ZA" sz="2000" b="1" dirty="0">
                <a:solidFill>
                  <a:schemeClr val="tx1"/>
                </a:solidFill>
              </a:rPr>
              <a:t>m31 = 14 – 54 = -40 </a:t>
            </a:r>
            <a:endParaRPr lang="en-IN" sz="2000" b="1" dirty="0">
              <a:solidFill>
                <a:schemeClr val="tx1"/>
              </a:solidFill>
            </a:endParaRPr>
          </a:p>
        </p:txBody>
      </p:sp>
      <p:sp>
        <p:nvSpPr>
          <p:cNvPr id="38" name="Flowchart: Alternate Process 37"/>
          <p:cNvSpPr/>
          <p:nvPr/>
        </p:nvSpPr>
        <p:spPr>
          <a:xfrm>
            <a:off x="6269897" y="3934652"/>
            <a:ext cx="5108331"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f-ZA" sz="2000" b="1" dirty="0">
                <a:solidFill>
                  <a:schemeClr val="tx1"/>
                </a:solidFill>
              </a:rPr>
              <a:t>m32 = 35 – 36 = -1</a:t>
            </a:r>
            <a:endParaRPr lang="en-IN" sz="2000" b="1" dirty="0">
              <a:solidFill>
                <a:schemeClr val="tx1"/>
              </a:solidFill>
            </a:endParaRPr>
          </a:p>
        </p:txBody>
      </p:sp>
      <p:sp>
        <p:nvSpPr>
          <p:cNvPr id="39" name="Flowchart: Alternate Process 38"/>
          <p:cNvSpPr/>
          <p:nvPr/>
        </p:nvSpPr>
        <p:spPr>
          <a:xfrm>
            <a:off x="3447566" y="4840260"/>
            <a:ext cx="5108331" cy="562707"/>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f-ZA" sz="2000" b="1" dirty="0">
                <a:solidFill>
                  <a:schemeClr val="tx1"/>
                </a:solidFill>
              </a:rPr>
              <a:t>m33 = 30 – 8 = 22</a:t>
            </a:r>
            <a:endParaRPr lang="en-IN" sz="2000" b="1" dirty="0">
              <a:solidFill>
                <a:schemeClr val="tx1"/>
              </a:solidFill>
            </a:endParaRPr>
          </a:p>
        </p:txBody>
      </p:sp>
    </p:spTree>
    <p:extLst>
      <p:ext uri="{BB962C8B-B14F-4D97-AF65-F5344CB8AC3E}">
        <p14:creationId xmlns:p14="http://schemas.microsoft.com/office/powerpoint/2010/main" val="275500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5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5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Inverse – Adjoint of a Matrix</a:t>
            </a:r>
          </a:p>
        </p:txBody>
      </p:sp>
      <p:grpSp>
        <p:nvGrpSpPr>
          <p:cNvPr id="3" name="Group 2"/>
          <p:cNvGrpSpPr/>
          <p:nvPr/>
        </p:nvGrpSpPr>
        <p:grpSpPr>
          <a:xfrm>
            <a:off x="7616105" y="1499078"/>
            <a:ext cx="3752349"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8" name="Table 7"/>
          <p:cNvGraphicFramePr>
            <a:graphicFrameLocks noGrp="1"/>
          </p:cNvGraphicFramePr>
          <p:nvPr>
            <p:extLst>
              <p:ext uri="{D42A27DB-BD31-4B8C-83A1-F6EECF244321}">
                <p14:modId xmlns:p14="http://schemas.microsoft.com/office/powerpoint/2010/main" val="2276026517"/>
              </p:ext>
            </p:extLst>
          </p:nvPr>
        </p:nvGraphicFramePr>
        <p:xfrm>
          <a:off x="7953887" y="1754059"/>
          <a:ext cx="3136614" cy="2057400"/>
        </p:xfrm>
        <a:graphic>
          <a:graphicData uri="http://schemas.openxmlformats.org/drawingml/2006/table">
            <a:tbl>
              <a:tblPr firstRow="1" bandRow="1">
                <a:effectLst/>
                <a:tableStyleId>{5C22544A-7EE6-4342-B048-85BDC9FD1C3A}</a:tableStyleId>
              </a:tblPr>
              <a:tblGrid>
                <a:gridCol w="1045538">
                  <a:extLst>
                    <a:ext uri="{9D8B030D-6E8A-4147-A177-3AD203B41FA5}">
                      <a16:colId xmlns="" xmlns:a16="http://schemas.microsoft.com/office/drawing/2014/main" val="20000"/>
                    </a:ext>
                  </a:extLst>
                </a:gridCol>
                <a:gridCol w="1045538">
                  <a:extLst>
                    <a:ext uri="{9D8B030D-6E8A-4147-A177-3AD203B41FA5}">
                      <a16:colId xmlns="" xmlns:a16="http://schemas.microsoft.com/office/drawing/2014/main" val="20001"/>
                    </a:ext>
                  </a:extLst>
                </a:gridCol>
                <a:gridCol w="1045538">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27</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11</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-40</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-25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31</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6</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-13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15" name="Equal 14"/>
          <p:cNvSpPr/>
          <p:nvPr/>
        </p:nvSpPr>
        <p:spPr>
          <a:xfrm>
            <a:off x="5292969" y="240469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11" name="Group 10"/>
          <p:cNvGrpSpPr/>
          <p:nvPr/>
        </p:nvGrpSpPr>
        <p:grpSpPr>
          <a:xfrm>
            <a:off x="518746" y="1499078"/>
            <a:ext cx="3474927" cy="2593731"/>
            <a:chOff x="4423877" y="3182812"/>
            <a:chExt cx="2611315" cy="2593731"/>
          </a:xfrm>
        </p:grpSpPr>
        <p:sp>
          <p:nvSpPr>
            <p:cNvPr id="12" name="Left Bracket 11"/>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 name="Right Bracket 12"/>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4" name="Table 13"/>
          <p:cNvGraphicFramePr>
            <a:graphicFrameLocks noGrp="1"/>
          </p:cNvGraphicFramePr>
          <p:nvPr>
            <p:extLst>
              <p:ext uri="{D42A27DB-BD31-4B8C-83A1-F6EECF244321}">
                <p14:modId xmlns:p14="http://schemas.microsoft.com/office/powerpoint/2010/main" val="2212296700"/>
              </p:ext>
            </p:extLst>
          </p:nvPr>
        </p:nvGraphicFramePr>
        <p:xfrm>
          <a:off x="967155" y="1754059"/>
          <a:ext cx="2748837" cy="2057400"/>
        </p:xfrm>
        <a:graphic>
          <a:graphicData uri="http://schemas.openxmlformats.org/drawingml/2006/table">
            <a:tbl>
              <a:tblPr firstRow="1" bandRow="1">
                <a:effectLst/>
                <a:tableStyleId>{5C22544A-7EE6-4342-B048-85BDC9FD1C3A}</a:tableStyleId>
              </a:tblPr>
              <a:tblGrid>
                <a:gridCol w="916279">
                  <a:extLst>
                    <a:ext uri="{9D8B030D-6E8A-4147-A177-3AD203B41FA5}">
                      <a16:colId xmlns="" xmlns:a16="http://schemas.microsoft.com/office/drawing/2014/main" val="20000"/>
                    </a:ext>
                  </a:extLst>
                </a:gridCol>
                <a:gridCol w="916279">
                  <a:extLst>
                    <a:ext uri="{9D8B030D-6E8A-4147-A177-3AD203B41FA5}">
                      <a16:colId xmlns="" xmlns:a16="http://schemas.microsoft.com/office/drawing/2014/main" val="20001"/>
                    </a:ext>
                  </a:extLst>
                </a:gridCol>
                <a:gridCol w="916279">
                  <a:extLst>
                    <a:ext uri="{9D8B030D-6E8A-4147-A177-3AD203B41FA5}">
                      <a16:colId xmlns="" xmlns:a16="http://schemas.microsoft.com/office/drawing/2014/main" val="20002"/>
                    </a:ext>
                  </a:extLst>
                </a:gridCol>
              </a:tblGrid>
              <a:tr h="685800">
                <a:tc>
                  <a:txBody>
                    <a:bodyPr/>
                    <a:lstStyle/>
                    <a:p>
                      <a:pPr algn="ctr"/>
                      <a:r>
                        <a:rPr lang="af-ZA" sz="3600" b="1" dirty="0">
                          <a:solidFill>
                            <a:schemeClr val="tx1"/>
                          </a:solidFill>
                        </a:rPr>
                        <a:t>27</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-25</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11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31</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-13</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-40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1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22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16" name="Google Shape;507;p4"/>
          <p:cNvSpPr/>
          <p:nvPr/>
        </p:nvSpPr>
        <p:spPr>
          <a:xfrm>
            <a:off x="1099038" y="4519247"/>
            <a:ext cx="10269416" cy="1538654"/>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Let’s take a look at the formulae to find the inverse of the matrix.</a:t>
            </a:r>
            <a:endParaRPr sz="2000" b="1" i="0" u="none" strike="noStrike" cap="none" dirty="0">
              <a:solidFill>
                <a:srgbClr val="000000"/>
              </a:solidFill>
              <a:latin typeface="Calibri"/>
              <a:ea typeface="Calibri"/>
              <a:cs typeface="Calibri"/>
              <a:sym typeface="Calibri"/>
            </a:endParaRPr>
          </a:p>
        </p:txBody>
      </p:sp>
      <p:sp>
        <p:nvSpPr>
          <p:cNvPr id="17" name="TextBox 16"/>
          <p:cNvSpPr txBox="1"/>
          <p:nvPr/>
        </p:nvSpPr>
        <p:spPr>
          <a:xfrm>
            <a:off x="3981109" y="1206690"/>
            <a:ext cx="633046" cy="584775"/>
          </a:xfrm>
          <a:prstGeom prst="rect">
            <a:avLst/>
          </a:prstGeom>
          <a:noFill/>
        </p:spPr>
        <p:txBody>
          <a:bodyPr wrap="square" rtlCol="0">
            <a:spAutoFit/>
          </a:bodyPr>
          <a:lstStyle/>
          <a:p>
            <a:r>
              <a:rPr lang="af-ZA" sz="3200" b="1" dirty="0"/>
              <a:t>T</a:t>
            </a:r>
            <a:endParaRPr lang="en-IN" sz="3200" b="1" dirty="0"/>
          </a:p>
        </p:txBody>
      </p:sp>
    </p:spTree>
    <p:extLst>
      <p:ext uri="{BB962C8B-B14F-4D97-AF65-F5344CB8AC3E}">
        <p14:creationId xmlns:p14="http://schemas.microsoft.com/office/powerpoint/2010/main" val="3034649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Inverse – Formulae</a:t>
            </a:r>
          </a:p>
        </p:txBody>
      </p:sp>
      <p:grpSp>
        <p:nvGrpSpPr>
          <p:cNvPr id="3" name="Group 2"/>
          <p:cNvGrpSpPr/>
          <p:nvPr/>
        </p:nvGrpSpPr>
        <p:grpSpPr>
          <a:xfrm>
            <a:off x="1690089" y="1782672"/>
            <a:ext cx="2611315" cy="2110159"/>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9" name="Google Shape;507;p4"/>
          <p:cNvSpPr/>
          <p:nvPr/>
        </p:nvSpPr>
        <p:spPr>
          <a:xfrm>
            <a:off x="7508632" y="1490284"/>
            <a:ext cx="4369776" cy="2776842"/>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Th</a:t>
            </a:r>
            <a:r>
              <a:rPr lang="en-US" sz="2000" dirty="0">
                <a:latin typeface="Calibri"/>
                <a:ea typeface="Calibri"/>
                <a:cs typeface="Calibri"/>
                <a:sym typeface="Calibri"/>
              </a:rPr>
              <a:t>e formulae to calculate the inverse of a matrix is as follows:</a:t>
            </a:r>
            <a:endParaRPr lang="en-US" sz="2000" b="1" baseline="30000" dirty="0">
              <a:latin typeface="Calibri"/>
              <a:ea typeface="Calibri"/>
              <a:cs typeface="Calibri"/>
              <a:sym typeface="Calibri"/>
            </a:endParaRPr>
          </a:p>
          <a:p>
            <a:pPr marL="0" marR="0" lvl="0" indent="0" algn="ctr" rtl="0">
              <a:spcBef>
                <a:spcPts val="0"/>
              </a:spcBef>
              <a:spcAft>
                <a:spcPts val="0"/>
              </a:spcAft>
              <a:buNone/>
            </a:pPr>
            <a:r>
              <a:rPr lang="en-US" sz="2000" b="1" dirty="0">
                <a:latin typeface="Calibri"/>
                <a:ea typeface="Calibri"/>
                <a:cs typeface="Calibri"/>
                <a:sym typeface="Calibri"/>
              </a:rPr>
              <a:t>A</a:t>
            </a:r>
            <a:r>
              <a:rPr lang="en-US" sz="2000" b="1" baseline="30000" dirty="0">
                <a:latin typeface="Calibri"/>
                <a:ea typeface="Calibri"/>
                <a:cs typeface="Calibri"/>
                <a:sym typeface="Calibri"/>
              </a:rPr>
              <a:t>-1</a:t>
            </a:r>
            <a:r>
              <a:rPr lang="en-US" sz="2000" b="1" dirty="0">
                <a:latin typeface="Calibri"/>
                <a:ea typeface="Calibri"/>
                <a:cs typeface="Calibri"/>
                <a:sym typeface="Calibri"/>
              </a:rPr>
              <a:t> =  1/|A|. Adj A</a:t>
            </a:r>
            <a:endParaRPr lang="en-US" sz="2000" dirty="0">
              <a:latin typeface="Calibri"/>
              <a:ea typeface="Calibri"/>
              <a:cs typeface="Calibri"/>
              <a:sym typeface="Calibri"/>
            </a:endParaRPr>
          </a:p>
        </p:txBody>
      </p:sp>
      <p:sp>
        <p:nvSpPr>
          <p:cNvPr id="15" name="Equal 14"/>
          <p:cNvSpPr/>
          <p:nvPr/>
        </p:nvSpPr>
        <p:spPr>
          <a:xfrm>
            <a:off x="5292969" y="240469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TextBox 9"/>
          <p:cNvSpPr txBox="1"/>
          <p:nvPr/>
        </p:nvSpPr>
        <p:spPr>
          <a:xfrm>
            <a:off x="4301404" y="1490284"/>
            <a:ext cx="633046" cy="584775"/>
          </a:xfrm>
          <a:prstGeom prst="rect">
            <a:avLst/>
          </a:prstGeom>
          <a:noFill/>
        </p:spPr>
        <p:txBody>
          <a:bodyPr wrap="square" rtlCol="0">
            <a:spAutoFit/>
          </a:bodyPr>
          <a:lstStyle/>
          <a:p>
            <a:r>
              <a:rPr lang="af-ZA" sz="3200" b="1" dirty="0"/>
              <a:t>-1</a:t>
            </a:r>
            <a:endParaRPr lang="en-IN" sz="3200" b="1" dirty="0"/>
          </a:p>
        </p:txBody>
      </p:sp>
      <p:graphicFrame>
        <p:nvGraphicFramePr>
          <p:cNvPr id="2" name="Table 1"/>
          <p:cNvGraphicFramePr>
            <a:graphicFrameLocks noGrp="1"/>
          </p:cNvGraphicFramePr>
          <p:nvPr>
            <p:extLst>
              <p:ext uri="{D42A27DB-BD31-4B8C-83A1-F6EECF244321}">
                <p14:modId xmlns:p14="http://schemas.microsoft.com/office/powerpoint/2010/main" val="1596721139"/>
              </p:ext>
            </p:extLst>
          </p:nvPr>
        </p:nvGraphicFramePr>
        <p:xfrm>
          <a:off x="1946041" y="1944680"/>
          <a:ext cx="2161932" cy="1786142"/>
        </p:xfrm>
        <a:graphic>
          <a:graphicData uri="http://schemas.openxmlformats.org/drawingml/2006/table">
            <a:tbl>
              <a:tblPr firstRow="1" bandRow="1">
                <a:tableStyleId>{2D5ABB26-0587-4C30-8999-92F81FD0307C}</a:tableStyleId>
              </a:tblPr>
              <a:tblGrid>
                <a:gridCol w="1080966">
                  <a:extLst>
                    <a:ext uri="{9D8B030D-6E8A-4147-A177-3AD203B41FA5}">
                      <a16:colId xmlns="" xmlns:a16="http://schemas.microsoft.com/office/drawing/2014/main" val="20000"/>
                    </a:ext>
                  </a:extLst>
                </a:gridCol>
                <a:gridCol w="1080966">
                  <a:extLst>
                    <a:ext uri="{9D8B030D-6E8A-4147-A177-3AD203B41FA5}">
                      <a16:colId xmlns="" xmlns:a16="http://schemas.microsoft.com/office/drawing/2014/main" val="20001"/>
                    </a:ext>
                  </a:extLst>
                </a:gridCol>
              </a:tblGrid>
              <a:tr h="893071">
                <a:tc>
                  <a:txBody>
                    <a:bodyPr/>
                    <a:lstStyle/>
                    <a:p>
                      <a:pPr algn="ctr"/>
                      <a:r>
                        <a:rPr lang="af-ZA" sz="3600" b="1" i="0" dirty="0">
                          <a:solidFill>
                            <a:schemeClr val="tx1"/>
                          </a:solidFill>
                        </a:rPr>
                        <a:t>2</a:t>
                      </a:r>
                      <a:endParaRPr lang="en-IN" sz="3600" b="1" i="0" dirty="0">
                        <a:solidFill>
                          <a:schemeClr val="tx1"/>
                        </a:solidFill>
                      </a:endParaRPr>
                    </a:p>
                  </a:txBody>
                  <a:tcPr anchor="ctr"/>
                </a:tc>
                <a:tc>
                  <a:txBody>
                    <a:bodyPr/>
                    <a:lstStyle/>
                    <a:p>
                      <a:pPr algn="ctr"/>
                      <a:r>
                        <a:rPr lang="af-ZA" sz="3600" b="1" i="0" dirty="0">
                          <a:solidFill>
                            <a:schemeClr val="tx1"/>
                          </a:solidFill>
                        </a:rPr>
                        <a:t>1</a:t>
                      </a:r>
                      <a:endParaRPr lang="en-IN" sz="3600" b="1" i="0" dirty="0">
                        <a:solidFill>
                          <a:schemeClr val="tx1"/>
                        </a:solidFill>
                      </a:endParaRPr>
                    </a:p>
                  </a:txBody>
                  <a:tcPr anchor="ctr"/>
                </a:tc>
                <a:extLst>
                  <a:ext uri="{0D108BD9-81ED-4DB2-BD59-A6C34878D82A}">
                    <a16:rowId xmlns="" xmlns:a16="http://schemas.microsoft.com/office/drawing/2014/main" val="10000"/>
                  </a:ext>
                </a:extLst>
              </a:tr>
              <a:tr h="893071">
                <a:tc>
                  <a:txBody>
                    <a:bodyPr/>
                    <a:lstStyle/>
                    <a:p>
                      <a:pPr algn="ctr"/>
                      <a:r>
                        <a:rPr lang="af-ZA" sz="3600" b="1" i="0" dirty="0">
                          <a:solidFill>
                            <a:schemeClr val="tx1"/>
                          </a:solidFill>
                        </a:rPr>
                        <a:t>4</a:t>
                      </a:r>
                      <a:endParaRPr lang="en-IN" sz="3600" b="1" i="0" dirty="0">
                        <a:solidFill>
                          <a:schemeClr val="tx1"/>
                        </a:solidFill>
                      </a:endParaRPr>
                    </a:p>
                  </a:txBody>
                  <a:tcPr anchor="ctr"/>
                </a:tc>
                <a:tc>
                  <a:txBody>
                    <a:bodyPr/>
                    <a:lstStyle/>
                    <a:p>
                      <a:pPr algn="ctr"/>
                      <a:r>
                        <a:rPr lang="af-ZA" sz="3600" b="1" i="0" dirty="0">
                          <a:solidFill>
                            <a:schemeClr val="tx1"/>
                          </a:solidFill>
                        </a:rPr>
                        <a:t>3</a:t>
                      </a:r>
                      <a:endParaRPr lang="en-IN" sz="3600" b="1" i="0" dirty="0">
                        <a:solidFill>
                          <a:schemeClr val="tx1"/>
                        </a:solidFill>
                      </a:endParaRPr>
                    </a:p>
                  </a:txBody>
                  <a:tcPr anchor="ctr"/>
                </a:tc>
                <a:extLst>
                  <a:ext uri="{0D108BD9-81ED-4DB2-BD59-A6C34878D82A}">
                    <a16:rowId xmlns="" xmlns:a16="http://schemas.microsoft.com/office/drawing/2014/main" val="10001"/>
                  </a:ext>
                </a:extLst>
              </a:tr>
            </a:tbl>
          </a:graphicData>
        </a:graphic>
      </p:graphicFrame>
    </p:spTree>
    <p:extLst>
      <p:ext uri="{BB962C8B-B14F-4D97-AF65-F5344CB8AC3E}">
        <p14:creationId xmlns:p14="http://schemas.microsoft.com/office/powerpoint/2010/main" val="385903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Inverse – Formulae</a:t>
            </a:r>
          </a:p>
        </p:txBody>
      </p:sp>
      <p:sp>
        <p:nvSpPr>
          <p:cNvPr id="15" name="Equal 14"/>
          <p:cNvSpPr/>
          <p:nvPr/>
        </p:nvSpPr>
        <p:spPr>
          <a:xfrm>
            <a:off x="5292969" y="240469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Google Shape;507;p4"/>
          <p:cNvSpPr/>
          <p:nvPr/>
        </p:nvSpPr>
        <p:spPr>
          <a:xfrm>
            <a:off x="7508632" y="1490284"/>
            <a:ext cx="4369776" cy="2776842"/>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Now, to calculate the inverse, we will find the determinant and adjoint of the given matrix. </a:t>
            </a:r>
            <a:endParaRPr lang="en-US" sz="2000" dirty="0">
              <a:latin typeface="Calibri"/>
              <a:ea typeface="Calibri"/>
              <a:cs typeface="Calibri"/>
              <a:sym typeface="Calibri"/>
            </a:endParaRPr>
          </a:p>
        </p:txBody>
      </p:sp>
      <p:grpSp>
        <p:nvGrpSpPr>
          <p:cNvPr id="12" name="Group 11"/>
          <p:cNvGrpSpPr/>
          <p:nvPr/>
        </p:nvGrpSpPr>
        <p:grpSpPr>
          <a:xfrm>
            <a:off x="1690089" y="1782672"/>
            <a:ext cx="2611315" cy="2110159"/>
            <a:chOff x="4423877" y="3182812"/>
            <a:chExt cx="2611315" cy="2593731"/>
          </a:xfrm>
        </p:grpSpPr>
        <p:sp>
          <p:nvSpPr>
            <p:cNvPr id="13" name="Left Bracket 12"/>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4" name="Right Bracket 13"/>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16" name="TextBox 15"/>
          <p:cNvSpPr txBox="1"/>
          <p:nvPr/>
        </p:nvSpPr>
        <p:spPr>
          <a:xfrm>
            <a:off x="4301404" y="1490284"/>
            <a:ext cx="633046" cy="584775"/>
          </a:xfrm>
          <a:prstGeom prst="rect">
            <a:avLst/>
          </a:prstGeom>
          <a:noFill/>
        </p:spPr>
        <p:txBody>
          <a:bodyPr wrap="square" rtlCol="0">
            <a:spAutoFit/>
          </a:bodyPr>
          <a:lstStyle/>
          <a:p>
            <a:r>
              <a:rPr lang="af-ZA" sz="3200" b="1" dirty="0"/>
              <a:t>-1</a:t>
            </a:r>
            <a:endParaRPr lang="en-IN" sz="3200" b="1" dirty="0"/>
          </a:p>
        </p:txBody>
      </p:sp>
      <p:graphicFrame>
        <p:nvGraphicFramePr>
          <p:cNvPr id="17" name="Table 16"/>
          <p:cNvGraphicFramePr>
            <a:graphicFrameLocks noGrp="1"/>
          </p:cNvGraphicFramePr>
          <p:nvPr>
            <p:extLst>
              <p:ext uri="{D42A27DB-BD31-4B8C-83A1-F6EECF244321}">
                <p14:modId xmlns:p14="http://schemas.microsoft.com/office/powerpoint/2010/main" val="2286436073"/>
              </p:ext>
            </p:extLst>
          </p:nvPr>
        </p:nvGraphicFramePr>
        <p:xfrm>
          <a:off x="1946041" y="1944680"/>
          <a:ext cx="2161932" cy="1786142"/>
        </p:xfrm>
        <a:graphic>
          <a:graphicData uri="http://schemas.openxmlformats.org/drawingml/2006/table">
            <a:tbl>
              <a:tblPr firstRow="1" bandRow="1">
                <a:tableStyleId>{2D5ABB26-0587-4C30-8999-92F81FD0307C}</a:tableStyleId>
              </a:tblPr>
              <a:tblGrid>
                <a:gridCol w="1080966">
                  <a:extLst>
                    <a:ext uri="{9D8B030D-6E8A-4147-A177-3AD203B41FA5}">
                      <a16:colId xmlns="" xmlns:a16="http://schemas.microsoft.com/office/drawing/2014/main" val="20000"/>
                    </a:ext>
                  </a:extLst>
                </a:gridCol>
                <a:gridCol w="1080966">
                  <a:extLst>
                    <a:ext uri="{9D8B030D-6E8A-4147-A177-3AD203B41FA5}">
                      <a16:colId xmlns="" xmlns:a16="http://schemas.microsoft.com/office/drawing/2014/main" val="20001"/>
                    </a:ext>
                  </a:extLst>
                </a:gridCol>
              </a:tblGrid>
              <a:tr h="893071">
                <a:tc>
                  <a:txBody>
                    <a:bodyPr/>
                    <a:lstStyle/>
                    <a:p>
                      <a:pPr algn="ctr"/>
                      <a:r>
                        <a:rPr lang="af-ZA" sz="3600" b="1" i="0" dirty="0">
                          <a:solidFill>
                            <a:schemeClr val="tx1"/>
                          </a:solidFill>
                        </a:rPr>
                        <a:t>2</a:t>
                      </a:r>
                      <a:endParaRPr lang="en-IN" sz="3600" b="1" i="0" dirty="0">
                        <a:solidFill>
                          <a:schemeClr val="tx1"/>
                        </a:solidFill>
                      </a:endParaRPr>
                    </a:p>
                  </a:txBody>
                  <a:tcPr anchor="ctr"/>
                </a:tc>
                <a:tc>
                  <a:txBody>
                    <a:bodyPr/>
                    <a:lstStyle/>
                    <a:p>
                      <a:pPr algn="ctr"/>
                      <a:r>
                        <a:rPr lang="af-ZA" sz="3600" b="1" i="0" dirty="0">
                          <a:solidFill>
                            <a:schemeClr val="tx1"/>
                          </a:solidFill>
                        </a:rPr>
                        <a:t>1</a:t>
                      </a:r>
                      <a:endParaRPr lang="en-IN" sz="3600" b="1" i="0" dirty="0">
                        <a:solidFill>
                          <a:schemeClr val="tx1"/>
                        </a:solidFill>
                      </a:endParaRPr>
                    </a:p>
                  </a:txBody>
                  <a:tcPr anchor="ctr"/>
                </a:tc>
                <a:extLst>
                  <a:ext uri="{0D108BD9-81ED-4DB2-BD59-A6C34878D82A}">
                    <a16:rowId xmlns="" xmlns:a16="http://schemas.microsoft.com/office/drawing/2014/main" val="10000"/>
                  </a:ext>
                </a:extLst>
              </a:tr>
              <a:tr h="893071">
                <a:tc>
                  <a:txBody>
                    <a:bodyPr/>
                    <a:lstStyle/>
                    <a:p>
                      <a:pPr algn="ctr"/>
                      <a:r>
                        <a:rPr lang="af-ZA" sz="3600" b="1" i="0" dirty="0">
                          <a:solidFill>
                            <a:schemeClr val="tx1"/>
                          </a:solidFill>
                        </a:rPr>
                        <a:t>4</a:t>
                      </a:r>
                      <a:endParaRPr lang="en-IN" sz="3600" b="1" i="0" dirty="0">
                        <a:solidFill>
                          <a:schemeClr val="tx1"/>
                        </a:solidFill>
                      </a:endParaRPr>
                    </a:p>
                  </a:txBody>
                  <a:tcPr anchor="ctr"/>
                </a:tc>
                <a:tc>
                  <a:txBody>
                    <a:bodyPr/>
                    <a:lstStyle/>
                    <a:p>
                      <a:pPr algn="ctr"/>
                      <a:r>
                        <a:rPr lang="af-ZA" sz="3600" b="1" i="0" dirty="0">
                          <a:solidFill>
                            <a:schemeClr val="tx1"/>
                          </a:solidFill>
                        </a:rPr>
                        <a:t>3</a:t>
                      </a:r>
                      <a:endParaRPr lang="en-IN" sz="3600" b="1" i="0" dirty="0">
                        <a:solidFill>
                          <a:schemeClr val="tx1"/>
                        </a:solidFill>
                      </a:endParaRPr>
                    </a:p>
                  </a:txBody>
                  <a:tcPr anchor="ctr"/>
                </a:tc>
                <a:extLst>
                  <a:ext uri="{0D108BD9-81ED-4DB2-BD59-A6C34878D82A}">
                    <a16:rowId xmlns="" xmlns:a16="http://schemas.microsoft.com/office/drawing/2014/main" val="10001"/>
                  </a:ext>
                </a:extLst>
              </a:tr>
            </a:tbl>
          </a:graphicData>
        </a:graphic>
      </p:graphicFrame>
    </p:spTree>
    <p:extLst>
      <p:ext uri="{BB962C8B-B14F-4D97-AF65-F5344CB8AC3E}">
        <p14:creationId xmlns:p14="http://schemas.microsoft.com/office/powerpoint/2010/main" val="1703637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Inverse – Formulae</a:t>
            </a:r>
          </a:p>
        </p:txBody>
      </p:sp>
      <p:sp>
        <p:nvSpPr>
          <p:cNvPr id="15" name="Equal 14"/>
          <p:cNvSpPr/>
          <p:nvPr/>
        </p:nvSpPr>
        <p:spPr>
          <a:xfrm>
            <a:off x="5292969" y="240469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Google Shape;507;p4"/>
          <p:cNvSpPr/>
          <p:nvPr/>
        </p:nvSpPr>
        <p:spPr>
          <a:xfrm>
            <a:off x="764931" y="1866154"/>
            <a:ext cx="4369776" cy="1727701"/>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Adjoint of the given matrix is </a:t>
            </a:r>
            <a:endParaRPr lang="en-US" sz="2000" dirty="0">
              <a:latin typeface="Calibri"/>
              <a:ea typeface="Calibri"/>
              <a:cs typeface="Calibri"/>
              <a:sym typeface="Calibri"/>
            </a:endParaRPr>
          </a:p>
        </p:txBody>
      </p:sp>
      <p:grpSp>
        <p:nvGrpSpPr>
          <p:cNvPr id="10" name="Group 9"/>
          <p:cNvGrpSpPr/>
          <p:nvPr/>
        </p:nvGrpSpPr>
        <p:grpSpPr>
          <a:xfrm>
            <a:off x="7580936" y="1704146"/>
            <a:ext cx="2611315" cy="2110159"/>
            <a:chOff x="4423877" y="3182812"/>
            <a:chExt cx="2611315" cy="2593731"/>
          </a:xfrm>
        </p:grpSpPr>
        <p:sp>
          <p:nvSpPr>
            <p:cNvPr id="18" name="Left Bracket 1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Right Bracket 18"/>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0" name="Table 19"/>
          <p:cNvGraphicFramePr>
            <a:graphicFrameLocks noGrp="1"/>
          </p:cNvGraphicFramePr>
          <p:nvPr>
            <p:extLst>
              <p:ext uri="{D42A27DB-BD31-4B8C-83A1-F6EECF244321}">
                <p14:modId xmlns:p14="http://schemas.microsoft.com/office/powerpoint/2010/main" val="3207372462"/>
              </p:ext>
            </p:extLst>
          </p:nvPr>
        </p:nvGraphicFramePr>
        <p:xfrm>
          <a:off x="7836888" y="1866154"/>
          <a:ext cx="2161932" cy="1786142"/>
        </p:xfrm>
        <a:graphic>
          <a:graphicData uri="http://schemas.openxmlformats.org/drawingml/2006/table">
            <a:tbl>
              <a:tblPr firstRow="1" bandRow="1">
                <a:tableStyleId>{2D5ABB26-0587-4C30-8999-92F81FD0307C}</a:tableStyleId>
              </a:tblPr>
              <a:tblGrid>
                <a:gridCol w="1080966">
                  <a:extLst>
                    <a:ext uri="{9D8B030D-6E8A-4147-A177-3AD203B41FA5}">
                      <a16:colId xmlns="" xmlns:a16="http://schemas.microsoft.com/office/drawing/2014/main" val="20000"/>
                    </a:ext>
                  </a:extLst>
                </a:gridCol>
                <a:gridCol w="1080966">
                  <a:extLst>
                    <a:ext uri="{9D8B030D-6E8A-4147-A177-3AD203B41FA5}">
                      <a16:colId xmlns="" xmlns:a16="http://schemas.microsoft.com/office/drawing/2014/main" val="20001"/>
                    </a:ext>
                  </a:extLst>
                </a:gridCol>
              </a:tblGrid>
              <a:tr h="893071">
                <a:tc>
                  <a:txBody>
                    <a:bodyPr/>
                    <a:lstStyle/>
                    <a:p>
                      <a:pPr algn="ctr"/>
                      <a:r>
                        <a:rPr lang="af-ZA" sz="3600" b="1" i="0" dirty="0">
                          <a:solidFill>
                            <a:schemeClr val="tx1"/>
                          </a:solidFill>
                        </a:rPr>
                        <a:t>3</a:t>
                      </a:r>
                      <a:endParaRPr lang="en-IN" sz="3600" b="1" i="0" dirty="0">
                        <a:solidFill>
                          <a:schemeClr val="tx1"/>
                        </a:solidFill>
                      </a:endParaRPr>
                    </a:p>
                  </a:txBody>
                  <a:tcPr anchor="ctr"/>
                </a:tc>
                <a:tc>
                  <a:txBody>
                    <a:bodyPr/>
                    <a:lstStyle/>
                    <a:p>
                      <a:pPr algn="ctr"/>
                      <a:r>
                        <a:rPr lang="af-ZA" sz="3600" b="1" i="0" dirty="0">
                          <a:solidFill>
                            <a:schemeClr val="tx1"/>
                          </a:solidFill>
                        </a:rPr>
                        <a:t>-1</a:t>
                      </a:r>
                      <a:endParaRPr lang="en-IN" sz="3600" b="1" i="0" dirty="0">
                        <a:solidFill>
                          <a:schemeClr val="tx1"/>
                        </a:solidFill>
                      </a:endParaRPr>
                    </a:p>
                  </a:txBody>
                  <a:tcPr anchor="ctr"/>
                </a:tc>
                <a:extLst>
                  <a:ext uri="{0D108BD9-81ED-4DB2-BD59-A6C34878D82A}">
                    <a16:rowId xmlns="" xmlns:a16="http://schemas.microsoft.com/office/drawing/2014/main" val="10000"/>
                  </a:ext>
                </a:extLst>
              </a:tr>
              <a:tr h="893071">
                <a:tc>
                  <a:txBody>
                    <a:bodyPr/>
                    <a:lstStyle/>
                    <a:p>
                      <a:pPr algn="ctr"/>
                      <a:r>
                        <a:rPr lang="af-ZA" sz="3600" b="1" i="0" dirty="0">
                          <a:solidFill>
                            <a:schemeClr val="tx1"/>
                          </a:solidFill>
                        </a:rPr>
                        <a:t>-4</a:t>
                      </a:r>
                      <a:endParaRPr lang="en-IN" sz="3600" b="1" i="0" dirty="0">
                        <a:solidFill>
                          <a:schemeClr val="tx1"/>
                        </a:solidFill>
                      </a:endParaRPr>
                    </a:p>
                  </a:txBody>
                  <a:tcPr anchor="ctr"/>
                </a:tc>
                <a:tc>
                  <a:txBody>
                    <a:bodyPr/>
                    <a:lstStyle/>
                    <a:p>
                      <a:pPr algn="ctr"/>
                      <a:r>
                        <a:rPr lang="af-ZA" sz="3600" b="1" i="0" dirty="0">
                          <a:solidFill>
                            <a:schemeClr val="tx1"/>
                          </a:solidFill>
                        </a:rPr>
                        <a:t>2</a:t>
                      </a:r>
                      <a:endParaRPr lang="en-IN" sz="3600" b="1" i="0" dirty="0">
                        <a:solidFill>
                          <a:schemeClr val="tx1"/>
                        </a:solidFill>
                      </a:endParaRPr>
                    </a:p>
                  </a:txBody>
                  <a:tcPr anchor="ctr"/>
                </a:tc>
                <a:extLst>
                  <a:ext uri="{0D108BD9-81ED-4DB2-BD59-A6C34878D82A}">
                    <a16:rowId xmlns="" xmlns:a16="http://schemas.microsoft.com/office/drawing/2014/main" val="10001"/>
                  </a:ext>
                </a:extLst>
              </a:tr>
            </a:tbl>
          </a:graphicData>
        </a:graphic>
      </p:graphicFrame>
      <p:sp>
        <p:nvSpPr>
          <p:cNvPr id="21" name="Google Shape;507;p4"/>
          <p:cNvSpPr/>
          <p:nvPr/>
        </p:nvSpPr>
        <p:spPr>
          <a:xfrm>
            <a:off x="764931" y="4310415"/>
            <a:ext cx="4369776" cy="1727701"/>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Determinant of the given matrix is </a:t>
            </a:r>
            <a:endParaRPr lang="en-US" sz="2000" dirty="0">
              <a:latin typeface="Calibri"/>
              <a:ea typeface="Calibri"/>
              <a:cs typeface="Calibri"/>
              <a:sym typeface="Calibri"/>
            </a:endParaRPr>
          </a:p>
        </p:txBody>
      </p:sp>
      <p:sp>
        <p:nvSpPr>
          <p:cNvPr id="22" name="Equal 21"/>
          <p:cNvSpPr/>
          <p:nvPr/>
        </p:nvSpPr>
        <p:spPr>
          <a:xfrm>
            <a:off x="5292969" y="4848949"/>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3" name="Google Shape;507;p4"/>
          <p:cNvSpPr/>
          <p:nvPr/>
        </p:nvSpPr>
        <p:spPr>
          <a:xfrm>
            <a:off x="6989884" y="4310415"/>
            <a:ext cx="4369776" cy="1727701"/>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i="0" u="none" strike="noStrike" cap="none" dirty="0">
                <a:solidFill>
                  <a:srgbClr val="000000"/>
                </a:solidFill>
                <a:latin typeface="Calibri"/>
                <a:ea typeface="Calibri"/>
                <a:cs typeface="Calibri"/>
                <a:sym typeface="Calibri"/>
              </a:rPr>
              <a:t>=&gt; 2x3 – 4x1 = 2</a:t>
            </a:r>
            <a:endParaRPr lang="en-US" sz="3200" b="1" dirty="0">
              <a:latin typeface="Calibri"/>
              <a:ea typeface="Calibri"/>
              <a:cs typeface="Calibri"/>
              <a:sym typeface="Calibri"/>
            </a:endParaRPr>
          </a:p>
        </p:txBody>
      </p:sp>
    </p:spTree>
    <p:extLst>
      <p:ext uri="{BB962C8B-B14F-4D97-AF65-F5344CB8AC3E}">
        <p14:creationId xmlns:p14="http://schemas.microsoft.com/office/powerpoint/2010/main" val="4273558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Inverse – Formulae</a:t>
            </a:r>
          </a:p>
        </p:txBody>
      </p:sp>
      <p:sp>
        <p:nvSpPr>
          <p:cNvPr id="15" name="Equal 14"/>
          <p:cNvSpPr/>
          <p:nvPr/>
        </p:nvSpPr>
        <p:spPr>
          <a:xfrm>
            <a:off x="5292969" y="240469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Google Shape;507;p4"/>
          <p:cNvSpPr/>
          <p:nvPr/>
        </p:nvSpPr>
        <p:spPr>
          <a:xfrm>
            <a:off x="826478" y="4325814"/>
            <a:ext cx="10709030" cy="177622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To verify the result we can use the inverse propert</a:t>
            </a:r>
            <a:r>
              <a:rPr lang="en-US" sz="2000" dirty="0">
                <a:latin typeface="Calibri"/>
                <a:ea typeface="Calibri"/>
                <a:cs typeface="Calibri"/>
                <a:sym typeface="Calibri"/>
              </a:rPr>
              <a:t>y that states that:</a:t>
            </a:r>
          </a:p>
          <a:p>
            <a:pPr marL="0" marR="0" lvl="0" indent="0" algn="ctr" rtl="0">
              <a:spcBef>
                <a:spcPts val="0"/>
              </a:spcBef>
              <a:spcAft>
                <a:spcPts val="0"/>
              </a:spcAft>
              <a:buNone/>
            </a:pPr>
            <a:r>
              <a:rPr lang="en-US" sz="2000" dirty="0">
                <a:latin typeface="Calibri"/>
                <a:ea typeface="Calibri"/>
                <a:cs typeface="Calibri"/>
                <a:sym typeface="Calibri"/>
              </a:rPr>
              <a:t>AA</a:t>
            </a:r>
            <a:r>
              <a:rPr lang="en-US" sz="2000" baseline="30000" dirty="0">
                <a:latin typeface="Calibri"/>
                <a:ea typeface="Calibri"/>
                <a:cs typeface="Calibri"/>
                <a:sym typeface="Calibri"/>
              </a:rPr>
              <a:t>-1</a:t>
            </a:r>
            <a:r>
              <a:rPr lang="en-US" sz="2000" dirty="0">
                <a:latin typeface="Calibri"/>
                <a:ea typeface="Calibri"/>
                <a:cs typeface="Calibri"/>
                <a:sym typeface="Calibri"/>
              </a:rPr>
              <a:t> = I , where I is the identity matrix. </a:t>
            </a:r>
          </a:p>
        </p:txBody>
      </p:sp>
      <p:grpSp>
        <p:nvGrpSpPr>
          <p:cNvPr id="12" name="Group 11"/>
          <p:cNvGrpSpPr/>
          <p:nvPr/>
        </p:nvGrpSpPr>
        <p:grpSpPr>
          <a:xfrm>
            <a:off x="1690089" y="1782672"/>
            <a:ext cx="2611315" cy="2110159"/>
            <a:chOff x="4423877" y="3182812"/>
            <a:chExt cx="2611315" cy="2593731"/>
          </a:xfrm>
        </p:grpSpPr>
        <p:sp>
          <p:nvSpPr>
            <p:cNvPr id="13" name="Left Bracket 12"/>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4" name="Right Bracket 13"/>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16" name="TextBox 15"/>
          <p:cNvSpPr txBox="1"/>
          <p:nvPr/>
        </p:nvSpPr>
        <p:spPr>
          <a:xfrm>
            <a:off x="4301404" y="1490284"/>
            <a:ext cx="633046" cy="584775"/>
          </a:xfrm>
          <a:prstGeom prst="rect">
            <a:avLst/>
          </a:prstGeom>
          <a:noFill/>
        </p:spPr>
        <p:txBody>
          <a:bodyPr wrap="square" rtlCol="0">
            <a:spAutoFit/>
          </a:bodyPr>
          <a:lstStyle/>
          <a:p>
            <a:r>
              <a:rPr lang="af-ZA" sz="3200" b="1" dirty="0"/>
              <a:t>-1</a:t>
            </a:r>
            <a:endParaRPr lang="en-IN" sz="3200" b="1" dirty="0"/>
          </a:p>
        </p:txBody>
      </p:sp>
      <p:graphicFrame>
        <p:nvGraphicFramePr>
          <p:cNvPr id="17" name="Table 16"/>
          <p:cNvGraphicFramePr>
            <a:graphicFrameLocks noGrp="1"/>
          </p:cNvGraphicFramePr>
          <p:nvPr>
            <p:extLst>
              <p:ext uri="{D42A27DB-BD31-4B8C-83A1-F6EECF244321}">
                <p14:modId xmlns:p14="http://schemas.microsoft.com/office/powerpoint/2010/main" val="1953489280"/>
              </p:ext>
            </p:extLst>
          </p:nvPr>
        </p:nvGraphicFramePr>
        <p:xfrm>
          <a:off x="1946041" y="1944680"/>
          <a:ext cx="2161932" cy="1786142"/>
        </p:xfrm>
        <a:graphic>
          <a:graphicData uri="http://schemas.openxmlformats.org/drawingml/2006/table">
            <a:tbl>
              <a:tblPr firstRow="1" bandRow="1">
                <a:tableStyleId>{2D5ABB26-0587-4C30-8999-92F81FD0307C}</a:tableStyleId>
              </a:tblPr>
              <a:tblGrid>
                <a:gridCol w="1080966">
                  <a:extLst>
                    <a:ext uri="{9D8B030D-6E8A-4147-A177-3AD203B41FA5}">
                      <a16:colId xmlns="" xmlns:a16="http://schemas.microsoft.com/office/drawing/2014/main" val="20000"/>
                    </a:ext>
                  </a:extLst>
                </a:gridCol>
                <a:gridCol w="1080966">
                  <a:extLst>
                    <a:ext uri="{9D8B030D-6E8A-4147-A177-3AD203B41FA5}">
                      <a16:colId xmlns="" xmlns:a16="http://schemas.microsoft.com/office/drawing/2014/main" val="20001"/>
                    </a:ext>
                  </a:extLst>
                </a:gridCol>
              </a:tblGrid>
              <a:tr h="893071">
                <a:tc>
                  <a:txBody>
                    <a:bodyPr/>
                    <a:lstStyle/>
                    <a:p>
                      <a:pPr algn="ctr"/>
                      <a:r>
                        <a:rPr lang="af-ZA" sz="3600" b="1" i="0" dirty="0">
                          <a:solidFill>
                            <a:schemeClr val="tx1"/>
                          </a:solidFill>
                        </a:rPr>
                        <a:t>2</a:t>
                      </a:r>
                      <a:endParaRPr lang="en-IN" sz="3600" b="1" i="0" dirty="0">
                        <a:solidFill>
                          <a:schemeClr val="tx1"/>
                        </a:solidFill>
                      </a:endParaRPr>
                    </a:p>
                  </a:txBody>
                  <a:tcPr anchor="ctr"/>
                </a:tc>
                <a:tc>
                  <a:txBody>
                    <a:bodyPr/>
                    <a:lstStyle/>
                    <a:p>
                      <a:pPr algn="ctr"/>
                      <a:r>
                        <a:rPr lang="af-ZA" sz="3600" b="1" i="0" dirty="0">
                          <a:solidFill>
                            <a:schemeClr val="tx1"/>
                          </a:solidFill>
                        </a:rPr>
                        <a:t>1</a:t>
                      </a:r>
                      <a:endParaRPr lang="en-IN" sz="3600" b="1" i="0" dirty="0">
                        <a:solidFill>
                          <a:schemeClr val="tx1"/>
                        </a:solidFill>
                      </a:endParaRPr>
                    </a:p>
                  </a:txBody>
                  <a:tcPr anchor="ctr"/>
                </a:tc>
                <a:extLst>
                  <a:ext uri="{0D108BD9-81ED-4DB2-BD59-A6C34878D82A}">
                    <a16:rowId xmlns="" xmlns:a16="http://schemas.microsoft.com/office/drawing/2014/main" val="10000"/>
                  </a:ext>
                </a:extLst>
              </a:tr>
              <a:tr h="893071">
                <a:tc>
                  <a:txBody>
                    <a:bodyPr/>
                    <a:lstStyle/>
                    <a:p>
                      <a:pPr algn="ctr"/>
                      <a:r>
                        <a:rPr lang="af-ZA" sz="3600" b="1" i="0" dirty="0">
                          <a:solidFill>
                            <a:schemeClr val="tx1"/>
                          </a:solidFill>
                        </a:rPr>
                        <a:t>4</a:t>
                      </a:r>
                      <a:endParaRPr lang="en-IN" sz="3600" b="1" i="0" dirty="0">
                        <a:solidFill>
                          <a:schemeClr val="tx1"/>
                        </a:solidFill>
                      </a:endParaRPr>
                    </a:p>
                  </a:txBody>
                  <a:tcPr anchor="ctr"/>
                </a:tc>
                <a:tc>
                  <a:txBody>
                    <a:bodyPr/>
                    <a:lstStyle/>
                    <a:p>
                      <a:pPr algn="ctr"/>
                      <a:r>
                        <a:rPr lang="af-ZA" sz="3600" b="1" i="0" dirty="0">
                          <a:solidFill>
                            <a:schemeClr val="tx1"/>
                          </a:solidFill>
                        </a:rPr>
                        <a:t>3</a:t>
                      </a:r>
                      <a:endParaRPr lang="en-IN" sz="3600" b="1" i="0" dirty="0">
                        <a:solidFill>
                          <a:schemeClr val="tx1"/>
                        </a:solidFill>
                      </a:endParaRPr>
                    </a:p>
                  </a:txBody>
                  <a:tcPr anchor="ctr"/>
                </a:tc>
                <a:extLst>
                  <a:ext uri="{0D108BD9-81ED-4DB2-BD59-A6C34878D82A}">
                    <a16:rowId xmlns="" xmlns:a16="http://schemas.microsoft.com/office/drawing/2014/main" val="10001"/>
                  </a:ext>
                </a:extLst>
              </a:tr>
            </a:tbl>
          </a:graphicData>
        </a:graphic>
      </p:graphicFrame>
      <p:grpSp>
        <p:nvGrpSpPr>
          <p:cNvPr id="10" name="Group 9"/>
          <p:cNvGrpSpPr/>
          <p:nvPr/>
        </p:nvGrpSpPr>
        <p:grpSpPr>
          <a:xfrm>
            <a:off x="7563350" y="1874466"/>
            <a:ext cx="2611315" cy="2110159"/>
            <a:chOff x="4423877" y="3182812"/>
            <a:chExt cx="2611315" cy="2593731"/>
          </a:xfrm>
        </p:grpSpPr>
        <p:sp>
          <p:nvSpPr>
            <p:cNvPr id="18" name="Left Bracket 1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Right Bracket 18"/>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0" name="Table 19"/>
          <p:cNvGraphicFramePr>
            <a:graphicFrameLocks noGrp="1"/>
          </p:cNvGraphicFramePr>
          <p:nvPr>
            <p:extLst>
              <p:ext uri="{D42A27DB-BD31-4B8C-83A1-F6EECF244321}">
                <p14:modId xmlns:p14="http://schemas.microsoft.com/office/powerpoint/2010/main" val="1560377613"/>
              </p:ext>
            </p:extLst>
          </p:nvPr>
        </p:nvGraphicFramePr>
        <p:xfrm>
          <a:off x="7819302" y="2036474"/>
          <a:ext cx="2161932" cy="1786142"/>
        </p:xfrm>
        <a:graphic>
          <a:graphicData uri="http://schemas.openxmlformats.org/drawingml/2006/table">
            <a:tbl>
              <a:tblPr firstRow="1" bandRow="1">
                <a:tableStyleId>{2D5ABB26-0587-4C30-8999-92F81FD0307C}</a:tableStyleId>
              </a:tblPr>
              <a:tblGrid>
                <a:gridCol w="1080966">
                  <a:extLst>
                    <a:ext uri="{9D8B030D-6E8A-4147-A177-3AD203B41FA5}">
                      <a16:colId xmlns="" xmlns:a16="http://schemas.microsoft.com/office/drawing/2014/main" val="20000"/>
                    </a:ext>
                  </a:extLst>
                </a:gridCol>
                <a:gridCol w="1080966">
                  <a:extLst>
                    <a:ext uri="{9D8B030D-6E8A-4147-A177-3AD203B41FA5}">
                      <a16:colId xmlns="" xmlns:a16="http://schemas.microsoft.com/office/drawing/2014/main" val="20001"/>
                    </a:ext>
                  </a:extLst>
                </a:gridCol>
              </a:tblGrid>
              <a:tr h="893071">
                <a:tc>
                  <a:txBody>
                    <a:bodyPr/>
                    <a:lstStyle/>
                    <a:p>
                      <a:pPr algn="ctr"/>
                      <a:r>
                        <a:rPr lang="af-ZA" sz="3600" b="1" i="0" dirty="0">
                          <a:solidFill>
                            <a:schemeClr val="tx1"/>
                          </a:solidFill>
                        </a:rPr>
                        <a:t>3/2</a:t>
                      </a:r>
                      <a:endParaRPr lang="en-IN" sz="3600" b="1" i="0" dirty="0">
                        <a:solidFill>
                          <a:schemeClr val="tx1"/>
                        </a:solidFill>
                      </a:endParaRPr>
                    </a:p>
                  </a:txBody>
                  <a:tcPr anchor="ctr"/>
                </a:tc>
                <a:tc>
                  <a:txBody>
                    <a:bodyPr/>
                    <a:lstStyle/>
                    <a:p>
                      <a:pPr algn="ctr"/>
                      <a:r>
                        <a:rPr lang="af-ZA" sz="3600" b="1" i="0" dirty="0">
                          <a:solidFill>
                            <a:schemeClr val="tx1"/>
                          </a:solidFill>
                        </a:rPr>
                        <a:t>-1/2</a:t>
                      </a:r>
                      <a:endParaRPr lang="en-IN" sz="3600" b="1" i="0" dirty="0">
                        <a:solidFill>
                          <a:schemeClr val="tx1"/>
                        </a:solidFill>
                      </a:endParaRPr>
                    </a:p>
                  </a:txBody>
                  <a:tcPr anchor="ctr"/>
                </a:tc>
                <a:extLst>
                  <a:ext uri="{0D108BD9-81ED-4DB2-BD59-A6C34878D82A}">
                    <a16:rowId xmlns="" xmlns:a16="http://schemas.microsoft.com/office/drawing/2014/main" val="10000"/>
                  </a:ext>
                </a:extLst>
              </a:tr>
              <a:tr h="893071">
                <a:tc>
                  <a:txBody>
                    <a:bodyPr/>
                    <a:lstStyle/>
                    <a:p>
                      <a:pPr algn="ctr"/>
                      <a:r>
                        <a:rPr lang="af-ZA" sz="3600" b="1" i="0" dirty="0">
                          <a:solidFill>
                            <a:schemeClr val="tx1"/>
                          </a:solidFill>
                        </a:rPr>
                        <a:t>-2</a:t>
                      </a:r>
                      <a:endParaRPr lang="en-IN" sz="3600" b="1" i="0" dirty="0">
                        <a:solidFill>
                          <a:schemeClr val="tx1"/>
                        </a:solidFill>
                      </a:endParaRPr>
                    </a:p>
                  </a:txBody>
                  <a:tcPr anchor="ctr"/>
                </a:tc>
                <a:tc>
                  <a:txBody>
                    <a:bodyPr/>
                    <a:lstStyle/>
                    <a:p>
                      <a:pPr algn="ctr"/>
                      <a:r>
                        <a:rPr lang="af-ZA" sz="3600" b="1" i="0" dirty="0">
                          <a:solidFill>
                            <a:schemeClr val="tx1"/>
                          </a:solidFill>
                        </a:rPr>
                        <a:t>1</a:t>
                      </a:r>
                      <a:endParaRPr lang="en-IN" sz="3600" b="1" i="0" dirty="0">
                        <a:solidFill>
                          <a:schemeClr val="tx1"/>
                        </a:solidFill>
                      </a:endParaRPr>
                    </a:p>
                  </a:txBody>
                  <a:tcPr anchor="ctr"/>
                </a:tc>
                <a:extLst>
                  <a:ext uri="{0D108BD9-81ED-4DB2-BD59-A6C34878D82A}">
                    <a16:rowId xmlns="" xmlns:a16="http://schemas.microsoft.com/office/drawing/2014/main" val="10001"/>
                  </a:ext>
                </a:extLst>
              </a:tr>
            </a:tbl>
          </a:graphicData>
        </a:graphic>
      </p:graphicFrame>
    </p:spTree>
    <p:extLst>
      <p:ext uri="{BB962C8B-B14F-4D97-AF65-F5344CB8AC3E}">
        <p14:creationId xmlns:p14="http://schemas.microsoft.com/office/powerpoint/2010/main" val="1854860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Inverse – Formulae</a:t>
            </a:r>
          </a:p>
        </p:txBody>
      </p:sp>
      <p:sp>
        <p:nvSpPr>
          <p:cNvPr id="11" name="Google Shape;507;p4"/>
          <p:cNvSpPr/>
          <p:nvPr/>
        </p:nvSpPr>
        <p:spPr>
          <a:xfrm>
            <a:off x="826478" y="4325814"/>
            <a:ext cx="10709030" cy="177622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Since we are getting an identity matrix when we did AA</a:t>
            </a:r>
            <a:r>
              <a:rPr lang="en-US" sz="2000" b="0" i="0" u="none" strike="noStrike" cap="none" baseline="30000" dirty="0">
                <a:solidFill>
                  <a:srgbClr val="000000"/>
                </a:solidFill>
                <a:latin typeface="Calibri"/>
                <a:ea typeface="Calibri"/>
                <a:cs typeface="Calibri"/>
                <a:sym typeface="Calibri"/>
              </a:rPr>
              <a:t>-1</a:t>
            </a:r>
            <a:r>
              <a:rPr lang="en-US" sz="2000" b="0" i="0" u="none" strike="noStrike" cap="none" dirty="0">
                <a:solidFill>
                  <a:srgbClr val="000000"/>
                </a:solidFill>
                <a:latin typeface="Calibri"/>
                <a:ea typeface="Calibri"/>
                <a:cs typeface="Calibri"/>
                <a:sym typeface="Calibri"/>
              </a:rPr>
              <a:t>, we have calculated the inverse of the matrix successfully. We can follow the same formulae for the 3x3 matri</a:t>
            </a:r>
            <a:r>
              <a:rPr lang="en-US" sz="2000" dirty="0">
                <a:latin typeface="Calibri"/>
                <a:ea typeface="Calibri"/>
                <a:cs typeface="Calibri"/>
                <a:sym typeface="Calibri"/>
              </a:rPr>
              <a:t>x as well – where the adjoint and the determinant will determine the inverse of the given matrix. </a:t>
            </a:r>
          </a:p>
        </p:txBody>
      </p:sp>
      <p:graphicFrame>
        <p:nvGraphicFramePr>
          <p:cNvPr id="17" name="Table 16"/>
          <p:cNvGraphicFramePr>
            <a:graphicFrameLocks noGrp="1"/>
          </p:cNvGraphicFramePr>
          <p:nvPr>
            <p:extLst>
              <p:ext uri="{D42A27DB-BD31-4B8C-83A1-F6EECF244321}">
                <p14:modId xmlns:p14="http://schemas.microsoft.com/office/powerpoint/2010/main" val="146853496"/>
              </p:ext>
            </p:extLst>
          </p:nvPr>
        </p:nvGraphicFramePr>
        <p:xfrm>
          <a:off x="851398" y="2102941"/>
          <a:ext cx="2161932" cy="1786142"/>
        </p:xfrm>
        <a:graphic>
          <a:graphicData uri="http://schemas.openxmlformats.org/drawingml/2006/table">
            <a:tbl>
              <a:tblPr firstRow="1" bandRow="1">
                <a:tableStyleId>{2D5ABB26-0587-4C30-8999-92F81FD0307C}</a:tableStyleId>
              </a:tblPr>
              <a:tblGrid>
                <a:gridCol w="1080966">
                  <a:extLst>
                    <a:ext uri="{9D8B030D-6E8A-4147-A177-3AD203B41FA5}">
                      <a16:colId xmlns="" xmlns:a16="http://schemas.microsoft.com/office/drawing/2014/main" val="20000"/>
                    </a:ext>
                  </a:extLst>
                </a:gridCol>
                <a:gridCol w="1080966">
                  <a:extLst>
                    <a:ext uri="{9D8B030D-6E8A-4147-A177-3AD203B41FA5}">
                      <a16:colId xmlns="" xmlns:a16="http://schemas.microsoft.com/office/drawing/2014/main" val="20001"/>
                    </a:ext>
                  </a:extLst>
                </a:gridCol>
              </a:tblGrid>
              <a:tr h="893071">
                <a:tc>
                  <a:txBody>
                    <a:bodyPr/>
                    <a:lstStyle/>
                    <a:p>
                      <a:pPr algn="ctr"/>
                      <a:r>
                        <a:rPr lang="af-ZA" sz="3600" b="1" i="0" dirty="0">
                          <a:solidFill>
                            <a:schemeClr val="tx1"/>
                          </a:solidFill>
                        </a:rPr>
                        <a:t>2</a:t>
                      </a:r>
                      <a:endParaRPr lang="en-IN" sz="3600" b="1" i="0" dirty="0">
                        <a:solidFill>
                          <a:schemeClr val="tx1"/>
                        </a:solidFill>
                      </a:endParaRPr>
                    </a:p>
                  </a:txBody>
                  <a:tcPr anchor="ctr"/>
                </a:tc>
                <a:tc>
                  <a:txBody>
                    <a:bodyPr/>
                    <a:lstStyle/>
                    <a:p>
                      <a:pPr algn="ctr"/>
                      <a:r>
                        <a:rPr lang="af-ZA" sz="3600" b="1" i="0" dirty="0">
                          <a:solidFill>
                            <a:schemeClr val="tx1"/>
                          </a:solidFill>
                        </a:rPr>
                        <a:t>1</a:t>
                      </a:r>
                      <a:endParaRPr lang="en-IN" sz="3600" b="1" i="0" dirty="0">
                        <a:solidFill>
                          <a:schemeClr val="tx1"/>
                        </a:solidFill>
                      </a:endParaRPr>
                    </a:p>
                  </a:txBody>
                  <a:tcPr anchor="ctr"/>
                </a:tc>
                <a:extLst>
                  <a:ext uri="{0D108BD9-81ED-4DB2-BD59-A6C34878D82A}">
                    <a16:rowId xmlns="" xmlns:a16="http://schemas.microsoft.com/office/drawing/2014/main" val="10000"/>
                  </a:ext>
                </a:extLst>
              </a:tr>
              <a:tr h="893071">
                <a:tc>
                  <a:txBody>
                    <a:bodyPr/>
                    <a:lstStyle/>
                    <a:p>
                      <a:pPr algn="ctr"/>
                      <a:r>
                        <a:rPr lang="af-ZA" sz="3600" b="1" i="0" dirty="0">
                          <a:solidFill>
                            <a:schemeClr val="tx1"/>
                          </a:solidFill>
                        </a:rPr>
                        <a:t>4</a:t>
                      </a:r>
                      <a:endParaRPr lang="en-IN" sz="3600" b="1" i="0" dirty="0">
                        <a:solidFill>
                          <a:schemeClr val="tx1"/>
                        </a:solidFill>
                      </a:endParaRPr>
                    </a:p>
                  </a:txBody>
                  <a:tcPr anchor="ctr"/>
                </a:tc>
                <a:tc>
                  <a:txBody>
                    <a:bodyPr/>
                    <a:lstStyle/>
                    <a:p>
                      <a:pPr algn="ctr"/>
                      <a:r>
                        <a:rPr lang="af-ZA" sz="3600" b="1" i="0" dirty="0">
                          <a:solidFill>
                            <a:schemeClr val="tx1"/>
                          </a:solidFill>
                        </a:rPr>
                        <a:t>3</a:t>
                      </a:r>
                      <a:endParaRPr lang="en-IN" sz="3600" b="1" i="0" dirty="0">
                        <a:solidFill>
                          <a:schemeClr val="tx1"/>
                        </a:solidFill>
                      </a:endParaRPr>
                    </a:p>
                  </a:txBody>
                  <a:tcPr anchor="ctr"/>
                </a:tc>
                <a:extLst>
                  <a:ext uri="{0D108BD9-81ED-4DB2-BD59-A6C34878D82A}">
                    <a16:rowId xmlns="" xmlns:a16="http://schemas.microsoft.com/office/drawing/2014/main" val="10001"/>
                  </a:ext>
                </a:extLst>
              </a:tr>
            </a:tbl>
          </a:graphicData>
        </a:graphic>
      </p:graphicFrame>
      <p:grpSp>
        <p:nvGrpSpPr>
          <p:cNvPr id="10" name="Group 9"/>
          <p:cNvGrpSpPr/>
          <p:nvPr/>
        </p:nvGrpSpPr>
        <p:grpSpPr>
          <a:xfrm>
            <a:off x="3980484" y="1874466"/>
            <a:ext cx="2611315" cy="2110159"/>
            <a:chOff x="4423877" y="3182812"/>
            <a:chExt cx="2611315" cy="2593731"/>
          </a:xfrm>
        </p:grpSpPr>
        <p:sp>
          <p:nvSpPr>
            <p:cNvPr id="18" name="Left Bracket 1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9" name="Right Bracket 18"/>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0" name="Table 19"/>
          <p:cNvGraphicFramePr>
            <a:graphicFrameLocks noGrp="1"/>
          </p:cNvGraphicFramePr>
          <p:nvPr>
            <p:extLst>
              <p:ext uri="{D42A27DB-BD31-4B8C-83A1-F6EECF244321}">
                <p14:modId xmlns:p14="http://schemas.microsoft.com/office/powerpoint/2010/main" val="1244373267"/>
              </p:ext>
            </p:extLst>
          </p:nvPr>
        </p:nvGraphicFramePr>
        <p:xfrm>
          <a:off x="4236436" y="2036474"/>
          <a:ext cx="2161932" cy="1786142"/>
        </p:xfrm>
        <a:graphic>
          <a:graphicData uri="http://schemas.openxmlformats.org/drawingml/2006/table">
            <a:tbl>
              <a:tblPr firstRow="1" bandRow="1">
                <a:tableStyleId>{2D5ABB26-0587-4C30-8999-92F81FD0307C}</a:tableStyleId>
              </a:tblPr>
              <a:tblGrid>
                <a:gridCol w="1080966">
                  <a:extLst>
                    <a:ext uri="{9D8B030D-6E8A-4147-A177-3AD203B41FA5}">
                      <a16:colId xmlns="" xmlns:a16="http://schemas.microsoft.com/office/drawing/2014/main" val="20000"/>
                    </a:ext>
                  </a:extLst>
                </a:gridCol>
                <a:gridCol w="1080966">
                  <a:extLst>
                    <a:ext uri="{9D8B030D-6E8A-4147-A177-3AD203B41FA5}">
                      <a16:colId xmlns="" xmlns:a16="http://schemas.microsoft.com/office/drawing/2014/main" val="20001"/>
                    </a:ext>
                  </a:extLst>
                </a:gridCol>
              </a:tblGrid>
              <a:tr h="893071">
                <a:tc>
                  <a:txBody>
                    <a:bodyPr/>
                    <a:lstStyle/>
                    <a:p>
                      <a:pPr algn="ctr"/>
                      <a:r>
                        <a:rPr lang="af-ZA" sz="3600" b="1" i="0" dirty="0">
                          <a:solidFill>
                            <a:schemeClr val="tx1"/>
                          </a:solidFill>
                        </a:rPr>
                        <a:t>3/2</a:t>
                      </a:r>
                      <a:endParaRPr lang="en-IN" sz="3600" b="1" i="0" dirty="0">
                        <a:solidFill>
                          <a:schemeClr val="tx1"/>
                        </a:solidFill>
                      </a:endParaRPr>
                    </a:p>
                  </a:txBody>
                  <a:tcPr anchor="ctr"/>
                </a:tc>
                <a:tc>
                  <a:txBody>
                    <a:bodyPr/>
                    <a:lstStyle/>
                    <a:p>
                      <a:pPr algn="ctr"/>
                      <a:r>
                        <a:rPr lang="af-ZA" sz="3600" b="1" i="0" dirty="0">
                          <a:solidFill>
                            <a:schemeClr val="tx1"/>
                          </a:solidFill>
                        </a:rPr>
                        <a:t>-1/2</a:t>
                      </a:r>
                      <a:endParaRPr lang="en-IN" sz="3600" b="1" i="0" dirty="0">
                        <a:solidFill>
                          <a:schemeClr val="tx1"/>
                        </a:solidFill>
                      </a:endParaRPr>
                    </a:p>
                  </a:txBody>
                  <a:tcPr anchor="ctr"/>
                </a:tc>
                <a:extLst>
                  <a:ext uri="{0D108BD9-81ED-4DB2-BD59-A6C34878D82A}">
                    <a16:rowId xmlns="" xmlns:a16="http://schemas.microsoft.com/office/drawing/2014/main" val="10000"/>
                  </a:ext>
                </a:extLst>
              </a:tr>
              <a:tr h="893071">
                <a:tc>
                  <a:txBody>
                    <a:bodyPr/>
                    <a:lstStyle/>
                    <a:p>
                      <a:pPr algn="ctr"/>
                      <a:r>
                        <a:rPr lang="af-ZA" sz="3600" b="1" i="0" dirty="0">
                          <a:solidFill>
                            <a:schemeClr val="tx1"/>
                          </a:solidFill>
                        </a:rPr>
                        <a:t>-2</a:t>
                      </a:r>
                      <a:endParaRPr lang="en-IN" sz="3600" b="1" i="0" dirty="0">
                        <a:solidFill>
                          <a:schemeClr val="tx1"/>
                        </a:solidFill>
                      </a:endParaRPr>
                    </a:p>
                  </a:txBody>
                  <a:tcPr anchor="ctr"/>
                </a:tc>
                <a:tc>
                  <a:txBody>
                    <a:bodyPr/>
                    <a:lstStyle/>
                    <a:p>
                      <a:pPr algn="ctr"/>
                      <a:r>
                        <a:rPr lang="af-ZA" sz="3600" b="1" i="0" dirty="0">
                          <a:solidFill>
                            <a:schemeClr val="tx1"/>
                          </a:solidFill>
                        </a:rPr>
                        <a:t>1</a:t>
                      </a:r>
                      <a:endParaRPr lang="en-IN" sz="3600" b="1" i="0" dirty="0">
                        <a:solidFill>
                          <a:schemeClr val="tx1"/>
                        </a:solidFill>
                      </a:endParaRPr>
                    </a:p>
                  </a:txBody>
                  <a:tcPr anchor="ctr"/>
                </a:tc>
                <a:extLst>
                  <a:ext uri="{0D108BD9-81ED-4DB2-BD59-A6C34878D82A}">
                    <a16:rowId xmlns="" xmlns:a16="http://schemas.microsoft.com/office/drawing/2014/main" val="10001"/>
                  </a:ext>
                </a:extLst>
              </a:tr>
            </a:tbl>
          </a:graphicData>
        </a:graphic>
      </p:graphicFrame>
      <p:grpSp>
        <p:nvGrpSpPr>
          <p:cNvPr id="21" name="Group 20"/>
          <p:cNvGrpSpPr/>
          <p:nvPr/>
        </p:nvGrpSpPr>
        <p:grpSpPr>
          <a:xfrm>
            <a:off x="560276" y="1874466"/>
            <a:ext cx="2611315" cy="2110159"/>
            <a:chOff x="4423877" y="3182812"/>
            <a:chExt cx="2611315" cy="2593731"/>
          </a:xfrm>
        </p:grpSpPr>
        <p:sp>
          <p:nvSpPr>
            <p:cNvPr id="22" name="Left Bracket 21"/>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3" name="Right Bracket 22"/>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 name="Multiply 1"/>
          <p:cNvSpPr/>
          <p:nvPr/>
        </p:nvSpPr>
        <p:spPr>
          <a:xfrm>
            <a:off x="3332285" y="2523392"/>
            <a:ext cx="474784" cy="580293"/>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Equal 2"/>
          <p:cNvSpPr/>
          <p:nvPr/>
        </p:nvSpPr>
        <p:spPr>
          <a:xfrm>
            <a:off x="6981091" y="2580541"/>
            <a:ext cx="641839" cy="465993"/>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24" name="Group 23"/>
          <p:cNvGrpSpPr/>
          <p:nvPr/>
        </p:nvGrpSpPr>
        <p:grpSpPr>
          <a:xfrm>
            <a:off x="8446977" y="1834899"/>
            <a:ext cx="2611315" cy="2110159"/>
            <a:chOff x="4423877" y="3182812"/>
            <a:chExt cx="2611315" cy="2593731"/>
          </a:xfrm>
        </p:grpSpPr>
        <p:sp>
          <p:nvSpPr>
            <p:cNvPr id="25" name="Left Bracket 24"/>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6" name="Right Bracket 25"/>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7" name="Table 26"/>
          <p:cNvGraphicFramePr>
            <a:graphicFrameLocks noGrp="1"/>
          </p:cNvGraphicFramePr>
          <p:nvPr>
            <p:extLst>
              <p:ext uri="{D42A27DB-BD31-4B8C-83A1-F6EECF244321}">
                <p14:modId xmlns:p14="http://schemas.microsoft.com/office/powerpoint/2010/main" val="3748944500"/>
              </p:ext>
            </p:extLst>
          </p:nvPr>
        </p:nvGraphicFramePr>
        <p:xfrm>
          <a:off x="8702929" y="1996907"/>
          <a:ext cx="2161932" cy="1786142"/>
        </p:xfrm>
        <a:graphic>
          <a:graphicData uri="http://schemas.openxmlformats.org/drawingml/2006/table">
            <a:tbl>
              <a:tblPr firstRow="1" bandRow="1">
                <a:tableStyleId>{2D5ABB26-0587-4C30-8999-92F81FD0307C}</a:tableStyleId>
              </a:tblPr>
              <a:tblGrid>
                <a:gridCol w="1080966">
                  <a:extLst>
                    <a:ext uri="{9D8B030D-6E8A-4147-A177-3AD203B41FA5}">
                      <a16:colId xmlns="" xmlns:a16="http://schemas.microsoft.com/office/drawing/2014/main" val="20000"/>
                    </a:ext>
                  </a:extLst>
                </a:gridCol>
                <a:gridCol w="1080966">
                  <a:extLst>
                    <a:ext uri="{9D8B030D-6E8A-4147-A177-3AD203B41FA5}">
                      <a16:colId xmlns="" xmlns:a16="http://schemas.microsoft.com/office/drawing/2014/main" val="20001"/>
                    </a:ext>
                  </a:extLst>
                </a:gridCol>
              </a:tblGrid>
              <a:tr h="893071">
                <a:tc>
                  <a:txBody>
                    <a:bodyPr/>
                    <a:lstStyle/>
                    <a:p>
                      <a:pPr algn="ctr"/>
                      <a:r>
                        <a:rPr lang="af-ZA" sz="3600" b="1" i="0" dirty="0">
                          <a:solidFill>
                            <a:schemeClr val="tx1"/>
                          </a:solidFill>
                        </a:rPr>
                        <a:t>1</a:t>
                      </a:r>
                      <a:endParaRPr lang="en-IN" sz="3600" b="1" i="0" dirty="0">
                        <a:solidFill>
                          <a:schemeClr val="tx1"/>
                        </a:solidFill>
                      </a:endParaRPr>
                    </a:p>
                  </a:txBody>
                  <a:tcPr anchor="ctr"/>
                </a:tc>
                <a:tc>
                  <a:txBody>
                    <a:bodyPr/>
                    <a:lstStyle/>
                    <a:p>
                      <a:pPr algn="ctr"/>
                      <a:r>
                        <a:rPr lang="af-ZA" sz="3600" b="1" i="0" dirty="0">
                          <a:solidFill>
                            <a:schemeClr val="tx1"/>
                          </a:solidFill>
                        </a:rPr>
                        <a:t>0</a:t>
                      </a:r>
                      <a:endParaRPr lang="en-IN" sz="3600" b="1" i="0" dirty="0">
                        <a:solidFill>
                          <a:schemeClr val="tx1"/>
                        </a:solidFill>
                      </a:endParaRPr>
                    </a:p>
                  </a:txBody>
                  <a:tcPr anchor="ctr"/>
                </a:tc>
                <a:extLst>
                  <a:ext uri="{0D108BD9-81ED-4DB2-BD59-A6C34878D82A}">
                    <a16:rowId xmlns="" xmlns:a16="http://schemas.microsoft.com/office/drawing/2014/main" val="10000"/>
                  </a:ext>
                </a:extLst>
              </a:tr>
              <a:tr h="893071">
                <a:tc>
                  <a:txBody>
                    <a:bodyPr/>
                    <a:lstStyle/>
                    <a:p>
                      <a:pPr algn="ctr"/>
                      <a:r>
                        <a:rPr lang="af-ZA" sz="3600" b="1" i="0" dirty="0">
                          <a:solidFill>
                            <a:schemeClr val="tx1"/>
                          </a:solidFill>
                        </a:rPr>
                        <a:t>0</a:t>
                      </a:r>
                      <a:endParaRPr lang="en-IN" sz="3600" b="1" i="0" dirty="0">
                        <a:solidFill>
                          <a:schemeClr val="tx1"/>
                        </a:solidFill>
                      </a:endParaRPr>
                    </a:p>
                  </a:txBody>
                  <a:tcPr anchor="ctr"/>
                </a:tc>
                <a:tc>
                  <a:txBody>
                    <a:bodyPr/>
                    <a:lstStyle/>
                    <a:p>
                      <a:pPr algn="ctr"/>
                      <a:r>
                        <a:rPr lang="af-ZA" sz="3600" b="1" i="0" dirty="0">
                          <a:solidFill>
                            <a:schemeClr val="tx1"/>
                          </a:solidFill>
                        </a:rPr>
                        <a:t>1</a:t>
                      </a:r>
                      <a:endParaRPr lang="en-IN" sz="3600" b="1" i="0" dirty="0">
                        <a:solidFill>
                          <a:schemeClr val="tx1"/>
                        </a:solidFill>
                      </a:endParaRPr>
                    </a:p>
                  </a:txBody>
                  <a:tcPr anchor="ctr"/>
                </a:tc>
                <a:extLst>
                  <a:ext uri="{0D108BD9-81ED-4DB2-BD59-A6C34878D82A}">
                    <a16:rowId xmlns="" xmlns:a16="http://schemas.microsoft.com/office/drawing/2014/main" val="10001"/>
                  </a:ext>
                </a:extLst>
              </a:tr>
            </a:tbl>
          </a:graphicData>
        </a:graphic>
      </p:graphicFrame>
    </p:spTree>
    <p:extLst>
      <p:ext uri="{BB962C8B-B14F-4D97-AF65-F5344CB8AC3E}">
        <p14:creationId xmlns:p14="http://schemas.microsoft.com/office/powerpoint/2010/main" val="186182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6" name="Google Shape;507;p4"/>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4" name="TextBox 3"/>
          <p:cNvSpPr txBox="1"/>
          <p:nvPr/>
        </p:nvSpPr>
        <p:spPr>
          <a:xfrm>
            <a:off x="8748346" y="1547454"/>
            <a:ext cx="1828800" cy="369332"/>
          </a:xfrm>
          <a:prstGeom prst="rect">
            <a:avLst/>
          </a:prstGeom>
          <a:noFill/>
        </p:spPr>
        <p:txBody>
          <a:bodyPr wrap="square" rtlCol="0">
            <a:spAutoFit/>
          </a:bodyPr>
          <a:lstStyle/>
          <a:p>
            <a:pPr algn="ctr"/>
            <a:r>
              <a:rPr lang="af-ZA" sz="1800" b="1" dirty="0"/>
              <a:t>Output</a:t>
            </a:r>
            <a:endParaRPr lang="en-IN" sz="1800" b="1" dirty="0"/>
          </a:p>
        </p:txBody>
      </p:sp>
      <p:sp>
        <p:nvSpPr>
          <p:cNvPr id="22" name="Google Shape;507;p4"/>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used the numpy.linalg.inv() method to calculate the inverse of a 2x2 and a 3x3 matrices F and G respectively.</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832" y="1916786"/>
            <a:ext cx="6108507" cy="2483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1672" y="2456229"/>
            <a:ext cx="2532673" cy="1618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304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Rank of a Matrix</a:t>
            </a:r>
          </a:p>
        </p:txBody>
      </p:sp>
      <p:grpSp>
        <p:nvGrpSpPr>
          <p:cNvPr id="3" name="Group 2"/>
          <p:cNvGrpSpPr/>
          <p:nvPr/>
        </p:nvGrpSpPr>
        <p:grpSpPr>
          <a:xfrm>
            <a:off x="2463812" y="1446323"/>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6" name="Table 5"/>
          <p:cNvGraphicFramePr>
            <a:graphicFrameLocks noGrp="1"/>
          </p:cNvGraphicFramePr>
          <p:nvPr>
            <p:extLst>
              <p:ext uri="{D42A27DB-BD31-4B8C-83A1-F6EECF244321}">
                <p14:modId xmlns:p14="http://schemas.microsoft.com/office/powerpoint/2010/main" val="2278043724"/>
              </p:ext>
            </p:extLst>
          </p:nvPr>
        </p:nvGraphicFramePr>
        <p:xfrm>
          <a:off x="2801594" y="1701304"/>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0</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0</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0</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0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8" name="Google Shape;507;p4"/>
          <p:cNvSpPr/>
          <p:nvPr/>
        </p:nvSpPr>
        <p:spPr>
          <a:xfrm>
            <a:off x="7508632" y="1557766"/>
            <a:ext cx="3859822" cy="366486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0" i="0" u="none" strike="noStrike" cap="none" dirty="0">
                <a:solidFill>
                  <a:srgbClr val="000000"/>
                </a:solidFill>
                <a:latin typeface="Calibri"/>
                <a:ea typeface="Calibri"/>
                <a:cs typeface="Calibri"/>
                <a:sym typeface="Calibri"/>
              </a:rPr>
              <a:t>The number of linearly independent columns in a matrix is known as the rank of the matrix. There are several ways we can use to calculate the rank of the matrix. One such method is to reduce th</a:t>
            </a:r>
            <a:r>
              <a:rPr lang="en-US" sz="2000" dirty="0">
                <a:latin typeface="Calibri"/>
                <a:ea typeface="Calibri"/>
                <a:cs typeface="Calibri"/>
                <a:sym typeface="Calibri"/>
              </a:rPr>
              <a:t>e matrix to its row-echelon form. </a:t>
            </a:r>
            <a:endParaRPr sz="2000" b="1" i="0" u="none" strike="noStrike" cap="none" dirty="0">
              <a:solidFill>
                <a:srgbClr val="000000"/>
              </a:solidFill>
              <a:latin typeface="Calibri"/>
              <a:ea typeface="Calibri"/>
              <a:cs typeface="Calibri"/>
              <a:sym typeface="Calibri"/>
            </a:endParaRPr>
          </a:p>
        </p:txBody>
      </p:sp>
      <p:sp>
        <p:nvSpPr>
          <p:cNvPr id="9" name="Equal 8"/>
          <p:cNvSpPr/>
          <p:nvPr/>
        </p:nvSpPr>
        <p:spPr>
          <a:xfrm>
            <a:off x="5292969" y="240469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 name="TextBox 1"/>
          <p:cNvSpPr txBox="1"/>
          <p:nvPr/>
        </p:nvSpPr>
        <p:spPr>
          <a:xfrm>
            <a:off x="679515" y="2420022"/>
            <a:ext cx="1204547" cy="646331"/>
          </a:xfrm>
          <a:prstGeom prst="rect">
            <a:avLst/>
          </a:prstGeom>
          <a:noFill/>
        </p:spPr>
        <p:txBody>
          <a:bodyPr wrap="square" rtlCol="0">
            <a:spAutoFit/>
          </a:bodyPr>
          <a:lstStyle/>
          <a:p>
            <a:r>
              <a:rPr lang="el-GR" sz="3600" b="1" dirty="0"/>
              <a:t>ρ</a:t>
            </a:r>
            <a:r>
              <a:rPr lang="af-ZA" sz="3600" b="1" dirty="0"/>
              <a:t>(A)</a:t>
            </a:r>
            <a:endParaRPr lang="en-IN" sz="3600" b="1" dirty="0"/>
          </a:p>
        </p:txBody>
      </p:sp>
      <p:sp>
        <p:nvSpPr>
          <p:cNvPr id="10" name="Right Arrow 9"/>
          <p:cNvSpPr/>
          <p:nvPr/>
        </p:nvSpPr>
        <p:spPr>
          <a:xfrm>
            <a:off x="1822517" y="2611303"/>
            <a:ext cx="439616" cy="2637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55285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Rank of a Matrix</a:t>
            </a:r>
          </a:p>
        </p:txBody>
      </p:sp>
      <p:grpSp>
        <p:nvGrpSpPr>
          <p:cNvPr id="3" name="Group 2"/>
          <p:cNvGrpSpPr/>
          <p:nvPr/>
        </p:nvGrpSpPr>
        <p:grpSpPr>
          <a:xfrm>
            <a:off x="1690089" y="1433141"/>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6" name="Table 5"/>
          <p:cNvGraphicFramePr>
            <a:graphicFrameLocks noGrp="1"/>
          </p:cNvGraphicFramePr>
          <p:nvPr>
            <p:extLst>
              <p:ext uri="{D42A27DB-BD31-4B8C-83A1-F6EECF244321}">
                <p14:modId xmlns:p14="http://schemas.microsoft.com/office/powerpoint/2010/main" val="3911654737"/>
              </p:ext>
            </p:extLst>
          </p:nvPr>
        </p:nvGraphicFramePr>
        <p:xfrm>
          <a:off x="2027871"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0</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0</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0</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0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Equal 8"/>
          <p:cNvSpPr/>
          <p:nvPr/>
        </p:nvSpPr>
        <p:spPr>
          <a:xfrm>
            <a:off x="5292969" y="240469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Google Shape;507;p4"/>
          <p:cNvSpPr/>
          <p:nvPr/>
        </p:nvSpPr>
        <p:spPr>
          <a:xfrm>
            <a:off x="7508632" y="1090247"/>
            <a:ext cx="3859822" cy="410600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Things to Remember:</a:t>
            </a:r>
          </a:p>
          <a:p>
            <a:pPr marL="0" marR="0" lvl="0" indent="0" algn="ctr" rtl="0">
              <a:spcBef>
                <a:spcPts val="0"/>
              </a:spcBef>
              <a:spcAft>
                <a:spcPts val="0"/>
              </a:spcAft>
              <a:buNone/>
            </a:pPr>
            <a:endParaRPr lang="en-US" sz="2000" dirty="0">
              <a:latin typeface="Calibri"/>
              <a:ea typeface="Calibri"/>
              <a:cs typeface="Calibri"/>
              <a:sym typeface="Calibri"/>
            </a:endParaRPr>
          </a:p>
          <a:p>
            <a:pPr marL="457200" marR="0" lvl="0" indent="-457200" rtl="0">
              <a:spcBef>
                <a:spcPts val="0"/>
              </a:spcBef>
              <a:spcAft>
                <a:spcPts val="0"/>
              </a:spcAft>
              <a:buAutoNum type="arabicPeriod"/>
            </a:pPr>
            <a:r>
              <a:rPr lang="en-US" sz="2000" i="0" u="none" strike="noStrike" cap="none" dirty="0">
                <a:solidFill>
                  <a:srgbClr val="000000"/>
                </a:solidFill>
                <a:latin typeface="Calibri"/>
                <a:ea typeface="Calibri"/>
                <a:cs typeface="Calibri"/>
                <a:sym typeface="Calibri"/>
              </a:rPr>
              <a:t>If the matrix A is of the order mxm, and if the determinant of |A| is not equal to zero, then the rank of the matrix will be m.</a:t>
            </a:r>
          </a:p>
          <a:p>
            <a:pPr marL="457200" marR="0" lvl="0" indent="-457200" rtl="0">
              <a:spcBef>
                <a:spcPts val="0"/>
              </a:spcBef>
              <a:spcAft>
                <a:spcPts val="0"/>
              </a:spcAft>
              <a:buAutoNum type="arabicPeriod"/>
            </a:pPr>
            <a:r>
              <a:rPr lang="en-US" sz="2000" dirty="0">
                <a:latin typeface="Calibri"/>
                <a:ea typeface="Calibri"/>
                <a:cs typeface="Calibri"/>
                <a:sym typeface="Calibri"/>
              </a:rPr>
              <a:t>If the determinant is equal to zero, the rank will be less than m.</a:t>
            </a:r>
            <a:r>
              <a:rPr lang="en-US" sz="2000" b="1" i="0" u="none" strike="noStrike" cap="none" dirty="0">
                <a:solidFill>
                  <a:srgbClr val="000000"/>
                </a:solidFill>
                <a:latin typeface="Calibri"/>
                <a:ea typeface="Calibri"/>
                <a:cs typeface="Calibri"/>
                <a:sym typeface="Calibri"/>
              </a:rPr>
              <a:t> </a:t>
            </a:r>
            <a:endParaRPr sz="2000" b="1" i="0" u="none" strike="noStrike" cap="none"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37667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Rank of a Matrix</a:t>
            </a:r>
          </a:p>
        </p:txBody>
      </p:sp>
      <p:grpSp>
        <p:nvGrpSpPr>
          <p:cNvPr id="3" name="Group 2"/>
          <p:cNvGrpSpPr/>
          <p:nvPr/>
        </p:nvGrpSpPr>
        <p:grpSpPr>
          <a:xfrm>
            <a:off x="1690089" y="1433141"/>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6" name="Table 5"/>
          <p:cNvGraphicFramePr>
            <a:graphicFrameLocks noGrp="1"/>
          </p:cNvGraphicFramePr>
          <p:nvPr>
            <p:extLst>
              <p:ext uri="{D42A27DB-BD31-4B8C-83A1-F6EECF244321}">
                <p14:modId xmlns:p14="http://schemas.microsoft.com/office/powerpoint/2010/main" val="150240205"/>
              </p:ext>
            </p:extLst>
          </p:nvPr>
        </p:nvGraphicFramePr>
        <p:xfrm>
          <a:off x="2027871" y="1688122"/>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0</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0</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0</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0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Equal 8"/>
          <p:cNvSpPr/>
          <p:nvPr/>
        </p:nvSpPr>
        <p:spPr>
          <a:xfrm>
            <a:off x="5292969" y="2404690"/>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Google Shape;507;p4"/>
          <p:cNvSpPr/>
          <p:nvPr/>
        </p:nvSpPr>
        <p:spPr>
          <a:xfrm>
            <a:off x="7508632" y="1090246"/>
            <a:ext cx="3859822" cy="451045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Row Echelon Form</a:t>
            </a:r>
          </a:p>
          <a:p>
            <a:pPr marL="0" marR="0" lvl="0" indent="0" algn="ctr" rtl="0">
              <a:spcBef>
                <a:spcPts val="0"/>
              </a:spcBef>
              <a:spcAft>
                <a:spcPts val="0"/>
              </a:spcAft>
              <a:buNone/>
            </a:pPr>
            <a:endParaRPr lang="en-US" sz="2000" dirty="0">
              <a:latin typeface="Calibri"/>
              <a:ea typeface="Calibri"/>
              <a:cs typeface="Calibri"/>
              <a:sym typeface="Calibri"/>
            </a:endParaRPr>
          </a:p>
          <a:p>
            <a:pPr marL="457200" marR="0" lvl="0" indent="-457200" rtl="0">
              <a:spcBef>
                <a:spcPts val="0"/>
              </a:spcBef>
              <a:spcAft>
                <a:spcPts val="0"/>
              </a:spcAft>
              <a:buAutoNum type="arabicPeriod"/>
            </a:pPr>
            <a:r>
              <a:rPr lang="en-US" sz="2000" dirty="0">
                <a:latin typeface="Calibri"/>
                <a:ea typeface="Calibri"/>
                <a:cs typeface="Calibri"/>
                <a:sym typeface="Calibri"/>
              </a:rPr>
              <a:t>The pivots go from top-left to bottom right. Pivots are the first non-zero element in the row. </a:t>
            </a:r>
          </a:p>
          <a:p>
            <a:pPr marL="457200" marR="0" lvl="0" indent="-457200" rtl="0">
              <a:spcBef>
                <a:spcPts val="0"/>
              </a:spcBef>
              <a:spcAft>
                <a:spcPts val="0"/>
              </a:spcAft>
              <a:buAutoNum type="arabicPeriod"/>
            </a:pPr>
            <a:r>
              <a:rPr lang="en-US" sz="2000" dirty="0">
                <a:latin typeface="Calibri"/>
                <a:ea typeface="Calibri"/>
                <a:cs typeface="Calibri"/>
                <a:sym typeface="Calibri"/>
              </a:rPr>
              <a:t>There must be a zero below the pivots in the row echelon form.</a:t>
            </a:r>
          </a:p>
          <a:p>
            <a:pPr marL="457200" marR="0" lvl="0" indent="-457200" rtl="0">
              <a:spcBef>
                <a:spcPts val="0"/>
              </a:spcBef>
              <a:spcAft>
                <a:spcPts val="0"/>
              </a:spcAft>
              <a:buAutoNum type="arabicPeriod"/>
            </a:pPr>
            <a:r>
              <a:rPr lang="en-US" sz="2000" dirty="0">
                <a:latin typeface="Calibri"/>
                <a:ea typeface="Calibri"/>
                <a:cs typeface="Calibri"/>
                <a:sym typeface="Calibri"/>
              </a:rPr>
              <a:t>The rows will all zero elements must be at the end of the matrix.</a:t>
            </a:r>
          </a:p>
          <a:p>
            <a:pPr marL="0" marR="0" lvl="0" indent="0" rtl="0">
              <a:spcBef>
                <a:spcPts val="0"/>
              </a:spcBef>
              <a:spcAft>
                <a:spcPts val="0"/>
              </a:spcAft>
              <a:buNone/>
            </a:pPr>
            <a:endParaRPr lang="en-US" sz="2000" dirty="0">
              <a:latin typeface="Calibri"/>
              <a:ea typeface="Calibri"/>
              <a:cs typeface="Calibri"/>
              <a:sym typeface="Calibri"/>
            </a:endParaRPr>
          </a:p>
        </p:txBody>
      </p:sp>
    </p:spTree>
    <p:extLst>
      <p:ext uri="{BB962C8B-B14F-4D97-AF65-F5344CB8AC3E}">
        <p14:creationId xmlns:p14="http://schemas.microsoft.com/office/powerpoint/2010/main" val="2722730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Rank of a Matrix</a:t>
            </a:r>
          </a:p>
        </p:txBody>
      </p:sp>
      <p:grpSp>
        <p:nvGrpSpPr>
          <p:cNvPr id="3" name="Group 2"/>
          <p:cNvGrpSpPr/>
          <p:nvPr/>
        </p:nvGrpSpPr>
        <p:grpSpPr>
          <a:xfrm>
            <a:off x="1702735" y="1186957"/>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6" name="Table 5"/>
          <p:cNvGraphicFramePr>
            <a:graphicFrameLocks noGrp="1"/>
          </p:cNvGraphicFramePr>
          <p:nvPr>
            <p:extLst>
              <p:ext uri="{D42A27DB-BD31-4B8C-83A1-F6EECF244321}">
                <p14:modId xmlns:p14="http://schemas.microsoft.com/office/powerpoint/2010/main" val="225244314"/>
              </p:ext>
            </p:extLst>
          </p:nvPr>
        </p:nvGraphicFramePr>
        <p:xfrm>
          <a:off x="2040517" y="1441938"/>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4</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2</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4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4</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Equal 8"/>
          <p:cNvSpPr/>
          <p:nvPr/>
        </p:nvSpPr>
        <p:spPr>
          <a:xfrm>
            <a:off x="5305615" y="2158506"/>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Google Shape;507;p4"/>
          <p:cNvSpPr/>
          <p:nvPr/>
        </p:nvSpPr>
        <p:spPr>
          <a:xfrm>
            <a:off x="1617785" y="4079631"/>
            <a:ext cx="9064869" cy="1899137"/>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We can use the gaussian elimination method where we interchange, multiply and add the rows to reach the row echelon form. Here, we have used the following operation to get the row echolen form.</a:t>
            </a:r>
          </a:p>
          <a:p>
            <a:pPr marL="457200" marR="0" lvl="0" indent="-457200" algn="ctr" rtl="0">
              <a:spcBef>
                <a:spcPts val="0"/>
              </a:spcBef>
              <a:spcAft>
                <a:spcPts val="0"/>
              </a:spcAft>
              <a:buAutoNum type="arabicPeriod"/>
            </a:pPr>
            <a:r>
              <a:rPr lang="af-ZA" sz="2000" dirty="0">
                <a:latin typeface="Calibri"/>
                <a:ea typeface="Calibri"/>
                <a:cs typeface="Calibri"/>
                <a:sym typeface="Calibri"/>
              </a:rPr>
              <a:t>R3 = R3 – 2R1 </a:t>
            </a:r>
          </a:p>
          <a:p>
            <a:pPr marR="0" lvl="0" algn="ctr" rtl="0">
              <a:spcBef>
                <a:spcPts val="0"/>
              </a:spcBef>
              <a:spcAft>
                <a:spcPts val="0"/>
              </a:spcAft>
            </a:pPr>
            <a:r>
              <a:rPr lang="af-ZA" sz="2000" dirty="0">
                <a:latin typeface="Calibri"/>
                <a:ea typeface="Calibri"/>
                <a:cs typeface="Calibri"/>
                <a:sym typeface="Calibri"/>
              </a:rPr>
              <a:t>Since, the non-zero rows are 2, hence the rank of the matrix is </a:t>
            </a:r>
            <a:r>
              <a:rPr lang="af-ZA" sz="2000" b="1" dirty="0">
                <a:latin typeface="Calibri"/>
                <a:ea typeface="Calibri"/>
                <a:cs typeface="Calibri"/>
                <a:sym typeface="Calibri"/>
              </a:rPr>
              <a:t>2</a:t>
            </a:r>
            <a:r>
              <a:rPr lang="af-ZA" sz="2000" dirty="0">
                <a:latin typeface="Calibri"/>
                <a:ea typeface="Calibri"/>
                <a:cs typeface="Calibri"/>
                <a:sym typeface="Calibri"/>
              </a:rPr>
              <a:t>. </a:t>
            </a:r>
          </a:p>
        </p:txBody>
      </p:sp>
      <p:grpSp>
        <p:nvGrpSpPr>
          <p:cNvPr id="11" name="Group 10"/>
          <p:cNvGrpSpPr/>
          <p:nvPr/>
        </p:nvGrpSpPr>
        <p:grpSpPr>
          <a:xfrm>
            <a:off x="7692727" y="1186957"/>
            <a:ext cx="2611315" cy="2593731"/>
            <a:chOff x="4423877" y="3182812"/>
            <a:chExt cx="2611315" cy="2593731"/>
          </a:xfrm>
        </p:grpSpPr>
        <p:sp>
          <p:nvSpPr>
            <p:cNvPr id="12" name="Left Bracket 11"/>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 name="Right Bracket 12"/>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4" name="Table 13"/>
          <p:cNvGraphicFramePr>
            <a:graphicFrameLocks noGrp="1"/>
          </p:cNvGraphicFramePr>
          <p:nvPr>
            <p:extLst>
              <p:ext uri="{D42A27DB-BD31-4B8C-83A1-F6EECF244321}">
                <p14:modId xmlns:p14="http://schemas.microsoft.com/office/powerpoint/2010/main" val="75456713"/>
              </p:ext>
            </p:extLst>
          </p:nvPr>
        </p:nvGraphicFramePr>
        <p:xfrm>
          <a:off x="8030509" y="1441938"/>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1</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4</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0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0</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144988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6" name="Google Shape;507;p4"/>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4" name="TextBox 3"/>
          <p:cNvSpPr txBox="1"/>
          <p:nvPr/>
        </p:nvSpPr>
        <p:spPr>
          <a:xfrm>
            <a:off x="8748346" y="1547454"/>
            <a:ext cx="1828800" cy="369332"/>
          </a:xfrm>
          <a:prstGeom prst="rect">
            <a:avLst/>
          </a:prstGeom>
          <a:noFill/>
        </p:spPr>
        <p:txBody>
          <a:bodyPr wrap="square" rtlCol="0">
            <a:spAutoFit/>
          </a:bodyPr>
          <a:lstStyle/>
          <a:p>
            <a:pPr algn="ctr"/>
            <a:r>
              <a:rPr lang="af-ZA" sz="1800" b="1" dirty="0"/>
              <a:t>Output</a:t>
            </a:r>
            <a:endParaRPr lang="en-IN" sz="1800" b="1" dirty="0"/>
          </a:p>
        </p:txBody>
      </p:sp>
      <p:sp>
        <p:nvSpPr>
          <p:cNvPr id="22" name="Google Shape;507;p4"/>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used the numpy.linalg.matrix_rank() method to calculate the rank of the given matrix. </a:t>
            </a:r>
          </a:p>
        </p:txBody>
      </p:sp>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969" y="2639865"/>
            <a:ext cx="6110221" cy="1121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5654" y="2980884"/>
            <a:ext cx="3314184" cy="520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165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Matrix Factorization</a:t>
            </a:r>
          </a:p>
        </p:txBody>
      </p:sp>
      <p:grpSp>
        <p:nvGrpSpPr>
          <p:cNvPr id="3" name="Group 2"/>
          <p:cNvGrpSpPr/>
          <p:nvPr/>
        </p:nvGrpSpPr>
        <p:grpSpPr>
          <a:xfrm>
            <a:off x="1615314" y="2224453"/>
            <a:ext cx="2611315" cy="2593731"/>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6" name="Table 5"/>
          <p:cNvGraphicFramePr>
            <a:graphicFrameLocks noGrp="1"/>
          </p:cNvGraphicFramePr>
          <p:nvPr>
            <p:extLst>
              <p:ext uri="{D42A27DB-BD31-4B8C-83A1-F6EECF244321}">
                <p14:modId xmlns:p14="http://schemas.microsoft.com/office/powerpoint/2010/main" val="980025395"/>
              </p:ext>
            </p:extLst>
          </p:nvPr>
        </p:nvGraphicFramePr>
        <p:xfrm>
          <a:off x="1953096" y="2479434"/>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8" name="Equal 7"/>
          <p:cNvSpPr/>
          <p:nvPr/>
        </p:nvSpPr>
        <p:spPr>
          <a:xfrm>
            <a:off x="5230840" y="3196002"/>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Google Shape;507;p4"/>
          <p:cNvSpPr/>
          <p:nvPr/>
        </p:nvSpPr>
        <p:spPr>
          <a:xfrm>
            <a:off x="6998677" y="1345223"/>
            <a:ext cx="4739054" cy="451045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Matrix factorization, also known as decomposition is a process where a matrix is reduced to various components/factors that can be used for complex operations. There are various ways to decompose a matrix, let’s take a look at a few ways to perform matrix Factorization.  </a:t>
            </a:r>
          </a:p>
        </p:txBody>
      </p:sp>
    </p:spTree>
    <p:extLst>
      <p:ext uri="{BB962C8B-B14F-4D97-AF65-F5344CB8AC3E}">
        <p14:creationId xmlns:p14="http://schemas.microsoft.com/office/powerpoint/2010/main" val="563230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Matrix Decomposition</a:t>
            </a:r>
          </a:p>
        </p:txBody>
      </p:sp>
      <p:sp>
        <p:nvSpPr>
          <p:cNvPr id="3" name="Google Shape;507;p4"/>
          <p:cNvSpPr/>
          <p:nvPr/>
        </p:nvSpPr>
        <p:spPr>
          <a:xfrm>
            <a:off x="791308" y="4237893"/>
            <a:ext cx="4739054" cy="190792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dirty="0">
                <a:latin typeface="Calibri"/>
                <a:ea typeface="Calibri"/>
                <a:cs typeface="Calibri"/>
                <a:sym typeface="Calibri"/>
              </a:rPr>
              <a:t>Upper Triangle Matrix</a:t>
            </a:r>
          </a:p>
          <a:p>
            <a:pPr marL="0" marR="0" lvl="0" indent="0" algn="ctr" rtl="0">
              <a:spcBef>
                <a:spcPts val="0"/>
              </a:spcBef>
              <a:spcAft>
                <a:spcPts val="0"/>
              </a:spcAft>
              <a:buNone/>
            </a:pPr>
            <a:endParaRPr lang="en-US" sz="2000" b="1" dirty="0">
              <a:latin typeface="Calibri"/>
              <a:ea typeface="Calibri"/>
              <a:cs typeface="Calibri"/>
              <a:sym typeface="Calibri"/>
            </a:endParaRPr>
          </a:p>
          <a:p>
            <a:pPr marL="0" marR="0" lvl="0" indent="0" algn="ctr" rtl="0">
              <a:spcBef>
                <a:spcPts val="0"/>
              </a:spcBef>
              <a:spcAft>
                <a:spcPts val="0"/>
              </a:spcAft>
              <a:buNone/>
            </a:pPr>
            <a:r>
              <a:rPr lang="en-US" sz="2000" b="1" dirty="0">
                <a:latin typeface="Calibri"/>
                <a:ea typeface="Calibri"/>
                <a:cs typeface="Calibri"/>
                <a:sym typeface="Calibri"/>
              </a:rPr>
              <a:t>In the upper triangle matrix all the elements below the diagonal are zero. </a:t>
            </a:r>
          </a:p>
        </p:txBody>
      </p:sp>
      <p:sp>
        <p:nvSpPr>
          <p:cNvPr id="4" name="Google Shape;507;p4"/>
          <p:cNvSpPr/>
          <p:nvPr/>
        </p:nvSpPr>
        <p:spPr>
          <a:xfrm>
            <a:off x="6720461" y="4237892"/>
            <a:ext cx="4739054" cy="190792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dirty="0">
                <a:latin typeface="Calibri"/>
                <a:ea typeface="Calibri"/>
                <a:cs typeface="Calibri"/>
                <a:sym typeface="Calibri"/>
              </a:rPr>
              <a:t>Lower Triangle Matrix</a:t>
            </a:r>
          </a:p>
          <a:p>
            <a:pPr marL="0" marR="0" lvl="0" indent="0" algn="ctr" rtl="0">
              <a:spcBef>
                <a:spcPts val="0"/>
              </a:spcBef>
              <a:spcAft>
                <a:spcPts val="0"/>
              </a:spcAft>
              <a:buNone/>
            </a:pPr>
            <a:endParaRPr lang="en-US" sz="2000" b="1" dirty="0">
              <a:latin typeface="Calibri"/>
              <a:ea typeface="Calibri"/>
              <a:cs typeface="Calibri"/>
              <a:sym typeface="Calibri"/>
            </a:endParaRPr>
          </a:p>
          <a:p>
            <a:pPr marL="0" marR="0" lvl="0" indent="0" algn="ctr" rtl="0">
              <a:spcBef>
                <a:spcPts val="0"/>
              </a:spcBef>
              <a:spcAft>
                <a:spcPts val="0"/>
              </a:spcAft>
              <a:buNone/>
            </a:pPr>
            <a:r>
              <a:rPr lang="en-US" sz="2000" b="1" dirty="0">
                <a:latin typeface="Calibri"/>
                <a:ea typeface="Calibri"/>
                <a:cs typeface="Calibri"/>
                <a:sym typeface="Calibri"/>
              </a:rPr>
              <a:t>In the lower triangle matrix, all the elements above the diagonal are zero. </a:t>
            </a:r>
          </a:p>
        </p:txBody>
      </p:sp>
      <p:grpSp>
        <p:nvGrpSpPr>
          <p:cNvPr id="5" name="Group 4"/>
          <p:cNvGrpSpPr/>
          <p:nvPr/>
        </p:nvGrpSpPr>
        <p:grpSpPr>
          <a:xfrm>
            <a:off x="1615314" y="1222130"/>
            <a:ext cx="2611315" cy="2593731"/>
            <a:chOff x="4423877" y="3182812"/>
            <a:chExt cx="2611315" cy="2593731"/>
          </a:xfrm>
        </p:grpSpPr>
        <p:sp>
          <p:nvSpPr>
            <p:cNvPr id="6" name="Left Bracket 5"/>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8" name="Right Bracket 7"/>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9" name="Table 8"/>
          <p:cNvGraphicFramePr>
            <a:graphicFrameLocks noGrp="1"/>
          </p:cNvGraphicFramePr>
          <p:nvPr>
            <p:extLst>
              <p:ext uri="{D42A27DB-BD31-4B8C-83A1-F6EECF244321}">
                <p14:modId xmlns:p14="http://schemas.microsoft.com/office/powerpoint/2010/main" val="602764640"/>
              </p:ext>
            </p:extLst>
          </p:nvPr>
        </p:nvGraphicFramePr>
        <p:xfrm>
          <a:off x="1953096" y="1477111"/>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2</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9</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7</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0</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0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grpSp>
        <p:nvGrpSpPr>
          <p:cNvPr id="10" name="Group 9"/>
          <p:cNvGrpSpPr/>
          <p:nvPr/>
        </p:nvGrpSpPr>
        <p:grpSpPr>
          <a:xfrm>
            <a:off x="7699591" y="1222129"/>
            <a:ext cx="2611315" cy="2593731"/>
            <a:chOff x="4423877" y="3182812"/>
            <a:chExt cx="2611315" cy="2593731"/>
          </a:xfrm>
        </p:grpSpPr>
        <p:sp>
          <p:nvSpPr>
            <p:cNvPr id="11" name="Left Bracket 10"/>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Right Bracket 11"/>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3" name="Table 12"/>
          <p:cNvGraphicFramePr>
            <a:graphicFrameLocks noGrp="1"/>
          </p:cNvGraphicFramePr>
          <p:nvPr>
            <p:extLst>
              <p:ext uri="{D42A27DB-BD31-4B8C-83A1-F6EECF244321}">
                <p14:modId xmlns:p14="http://schemas.microsoft.com/office/powerpoint/2010/main" val="1535494464"/>
              </p:ext>
            </p:extLst>
          </p:nvPr>
        </p:nvGraphicFramePr>
        <p:xfrm>
          <a:off x="8037373" y="1477110"/>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3600" b="1" dirty="0">
                          <a:solidFill>
                            <a:schemeClr val="tx1"/>
                          </a:solidFill>
                        </a:rPr>
                        <a:t>5</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0</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0</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3600" b="1" dirty="0">
                          <a:solidFill>
                            <a:schemeClr val="tx1"/>
                          </a:solidFill>
                        </a:rPr>
                        <a:t>4</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6</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600" b="1" dirty="0">
                          <a:solidFill>
                            <a:schemeClr val="tx1"/>
                          </a:solidFill>
                        </a:rPr>
                        <a:t>0</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3600" b="1" dirty="0">
                          <a:solidFill>
                            <a:schemeClr val="tx1"/>
                          </a:solidFill>
                        </a:rPr>
                        <a:t>1</a:t>
                      </a:r>
                      <a:endParaRPr lang="en-IN" sz="36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3 </a:t>
                      </a:r>
                      <a:endParaRPr lang="en-IN" sz="36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3600" b="1" dirty="0">
                          <a:solidFill>
                            <a:schemeClr val="tx1"/>
                          </a:solidFill>
                        </a:rPr>
                        <a:t>8</a:t>
                      </a:r>
                      <a:endParaRPr lang="en-IN" sz="36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2" name="Flowchart: Alternate Process 1"/>
          <p:cNvSpPr/>
          <p:nvPr/>
        </p:nvSpPr>
        <p:spPr>
          <a:xfrm rot="18827775">
            <a:off x="2751389" y="1302561"/>
            <a:ext cx="477255" cy="2432866"/>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Flowchart: Alternate Process 13"/>
          <p:cNvSpPr/>
          <p:nvPr/>
        </p:nvSpPr>
        <p:spPr>
          <a:xfrm rot="18827775">
            <a:off x="8815609" y="1302561"/>
            <a:ext cx="477255" cy="2432866"/>
          </a:xfrm>
          <a:prstGeom prst="flowChartAlternateProcess">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ight Triangle 14"/>
          <p:cNvSpPr/>
          <p:nvPr/>
        </p:nvSpPr>
        <p:spPr>
          <a:xfrm>
            <a:off x="2107683" y="2083777"/>
            <a:ext cx="1453202" cy="1380391"/>
          </a:xfrm>
          <a:prstGeom prst="rtTriangl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ight Triangle 15"/>
          <p:cNvSpPr/>
          <p:nvPr/>
        </p:nvSpPr>
        <p:spPr>
          <a:xfrm rot="10800000">
            <a:off x="8470843" y="1504863"/>
            <a:ext cx="1453202" cy="1380391"/>
          </a:xfrm>
          <a:prstGeom prst="rtTriangl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98130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LU Decomposition</a:t>
            </a:r>
          </a:p>
        </p:txBody>
      </p:sp>
      <p:sp>
        <p:nvSpPr>
          <p:cNvPr id="17" name="Google Shape;507;p4"/>
          <p:cNvSpPr/>
          <p:nvPr/>
        </p:nvSpPr>
        <p:spPr>
          <a:xfrm>
            <a:off x="433331" y="1345224"/>
            <a:ext cx="11304400" cy="2255226"/>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LU decomposition is the method in which the matrix A is decomposed in the following manner:</a:t>
            </a:r>
          </a:p>
          <a:p>
            <a:pPr marL="0" marR="0" lvl="0" indent="0" algn="ctr" rtl="0">
              <a:spcBef>
                <a:spcPts val="0"/>
              </a:spcBef>
              <a:spcAft>
                <a:spcPts val="0"/>
              </a:spcAft>
              <a:buNone/>
            </a:pPr>
            <a:r>
              <a:rPr lang="en-US" sz="2800" b="1" dirty="0">
                <a:latin typeface="Calibri"/>
                <a:ea typeface="Calibri"/>
                <a:cs typeface="Calibri"/>
                <a:sym typeface="Calibri"/>
              </a:rPr>
              <a:t>A = L.U</a:t>
            </a:r>
          </a:p>
          <a:p>
            <a:pPr marL="0" marR="0" lvl="0" indent="0" algn="ctr" rtl="0">
              <a:spcBef>
                <a:spcPts val="0"/>
              </a:spcBef>
              <a:spcAft>
                <a:spcPts val="0"/>
              </a:spcAft>
              <a:buNone/>
            </a:pPr>
            <a:r>
              <a:rPr lang="en-US" sz="2000" dirty="0">
                <a:latin typeface="Calibri"/>
                <a:ea typeface="Calibri"/>
                <a:cs typeface="Calibri"/>
                <a:sym typeface="Calibri"/>
              </a:rPr>
              <a:t>Where L is the lower triangle matrix and U is an Upper triangle matrix. </a:t>
            </a:r>
          </a:p>
          <a:p>
            <a:pPr marL="0" marR="0" lvl="0" indent="0" algn="ctr" rtl="0">
              <a:spcBef>
                <a:spcPts val="0"/>
              </a:spcBef>
              <a:spcAft>
                <a:spcPts val="0"/>
              </a:spcAft>
              <a:buNone/>
            </a:pPr>
            <a:endParaRPr lang="en-US" sz="2000" dirty="0">
              <a:latin typeface="Calibri"/>
              <a:ea typeface="Calibri"/>
              <a:cs typeface="Calibri"/>
              <a:sym typeface="Calibri"/>
            </a:endParaRPr>
          </a:p>
        </p:txBody>
      </p:sp>
      <p:grpSp>
        <p:nvGrpSpPr>
          <p:cNvPr id="18" name="Group 17"/>
          <p:cNvGrpSpPr/>
          <p:nvPr/>
        </p:nvGrpSpPr>
        <p:grpSpPr>
          <a:xfrm>
            <a:off x="1234774" y="3894992"/>
            <a:ext cx="2611315" cy="2083778"/>
            <a:chOff x="4423877" y="3182812"/>
            <a:chExt cx="2611315" cy="2593731"/>
          </a:xfrm>
        </p:grpSpPr>
        <p:sp>
          <p:nvSpPr>
            <p:cNvPr id="19" name="Left Bracket 18"/>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0" name="Right Bracket 19"/>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1" name="Table 20"/>
          <p:cNvGraphicFramePr>
            <a:graphicFrameLocks noGrp="1"/>
          </p:cNvGraphicFramePr>
          <p:nvPr>
            <p:extLst>
              <p:ext uri="{D42A27DB-BD31-4B8C-83A1-F6EECF244321}">
                <p14:modId xmlns:p14="http://schemas.microsoft.com/office/powerpoint/2010/main" val="2326904134"/>
              </p:ext>
            </p:extLst>
          </p:nvPr>
        </p:nvGraphicFramePr>
        <p:xfrm>
          <a:off x="1572556" y="3940664"/>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2000" b="1" dirty="0">
                          <a:solidFill>
                            <a:schemeClr val="tx1"/>
                          </a:solidFill>
                        </a:rPr>
                        <a:t>a11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a12</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a13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2000" b="1" dirty="0">
                          <a:solidFill>
                            <a:schemeClr val="tx1"/>
                          </a:solidFill>
                        </a:rPr>
                        <a:t>a21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a22</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a23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2000" b="1" dirty="0">
                          <a:solidFill>
                            <a:schemeClr val="tx1"/>
                          </a:solidFill>
                        </a:rPr>
                        <a:t>a31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b="1" dirty="0">
                          <a:solidFill>
                            <a:schemeClr val="tx1"/>
                          </a:solidFill>
                        </a:rPr>
                        <a:t>a32 </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b="1" dirty="0">
                          <a:solidFill>
                            <a:schemeClr val="tx1"/>
                          </a:solidFill>
                        </a:rPr>
                        <a:t>a33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22" name="Equal 21"/>
          <p:cNvSpPr/>
          <p:nvPr/>
        </p:nvSpPr>
        <p:spPr>
          <a:xfrm>
            <a:off x="3964747" y="4611565"/>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23" name="Group 22"/>
          <p:cNvGrpSpPr/>
          <p:nvPr/>
        </p:nvGrpSpPr>
        <p:grpSpPr>
          <a:xfrm>
            <a:off x="5261651" y="3894992"/>
            <a:ext cx="2611315" cy="2083778"/>
            <a:chOff x="4423877" y="3182812"/>
            <a:chExt cx="2611315" cy="2593731"/>
          </a:xfrm>
        </p:grpSpPr>
        <p:sp>
          <p:nvSpPr>
            <p:cNvPr id="24" name="Left Bracket 2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5" name="Right Bracket 2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6" name="Table 25"/>
          <p:cNvGraphicFramePr>
            <a:graphicFrameLocks noGrp="1"/>
          </p:cNvGraphicFramePr>
          <p:nvPr>
            <p:extLst>
              <p:ext uri="{D42A27DB-BD31-4B8C-83A1-F6EECF244321}">
                <p14:modId xmlns:p14="http://schemas.microsoft.com/office/powerpoint/2010/main" val="3226066569"/>
              </p:ext>
            </p:extLst>
          </p:nvPr>
        </p:nvGraphicFramePr>
        <p:xfrm>
          <a:off x="5599433" y="3940664"/>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2000" b="1" dirty="0">
                          <a:solidFill>
                            <a:schemeClr val="tx1"/>
                          </a:solidFill>
                        </a:rPr>
                        <a:t>L11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0</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0</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2000" b="1" dirty="0">
                          <a:solidFill>
                            <a:schemeClr val="tx1"/>
                          </a:solidFill>
                        </a:rPr>
                        <a:t>L21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L22</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0</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2000" b="1" dirty="0">
                          <a:solidFill>
                            <a:schemeClr val="tx1"/>
                          </a:solidFill>
                        </a:rPr>
                        <a:t>L31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b="1" dirty="0">
                          <a:solidFill>
                            <a:schemeClr val="tx1"/>
                          </a:solidFill>
                        </a:rPr>
                        <a:t>L32 </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b="1" dirty="0">
                          <a:solidFill>
                            <a:schemeClr val="tx1"/>
                          </a:solidFill>
                        </a:rPr>
                        <a:t>L33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grpSp>
        <p:nvGrpSpPr>
          <p:cNvPr id="27" name="Group 26"/>
          <p:cNvGrpSpPr/>
          <p:nvPr/>
        </p:nvGrpSpPr>
        <p:grpSpPr>
          <a:xfrm>
            <a:off x="8576351" y="3894992"/>
            <a:ext cx="2611315" cy="2083778"/>
            <a:chOff x="4423877" y="3182812"/>
            <a:chExt cx="2611315" cy="2593731"/>
          </a:xfrm>
        </p:grpSpPr>
        <p:sp>
          <p:nvSpPr>
            <p:cNvPr id="28" name="Left Bracket 27"/>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9" name="Right Bracket 28"/>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30" name="Table 29"/>
          <p:cNvGraphicFramePr>
            <a:graphicFrameLocks noGrp="1"/>
          </p:cNvGraphicFramePr>
          <p:nvPr>
            <p:extLst>
              <p:ext uri="{D42A27DB-BD31-4B8C-83A1-F6EECF244321}">
                <p14:modId xmlns:p14="http://schemas.microsoft.com/office/powerpoint/2010/main" val="936104385"/>
              </p:ext>
            </p:extLst>
          </p:nvPr>
        </p:nvGraphicFramePr>
        <p:xfrm>
          <a:off x="8914133" y="3940664"/>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2000" b="1" dirty="0">
                          <a:solidFill>
                            <a:schemeClr val="tx1"/>
                          </a:solidFill>
                        </a:rPr>
                        <a:t>U11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U12</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U13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2000" b="1" dirty="0">
                          <a:solidFill>
                            <a:schemeClr val="tx1"/>
                          </a:solidFill>
                        </a:rPr>
                        <a:t>0</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af-ZA" sz="2000" b="1" dirty="0">
                          <a:solidFill>
                            <a:schemeClr val="tx1"/>
                          </a:solidFill>
                        </a:rPr>
                        <a:t>U22</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U23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2000" b="1" dirty="0">
                          <a:solidFill>
                            <a:schemeClr val="tx1"/>
                          </a:solidFill>
                        </a:rPr>
                        <a:t>0</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b="1" dirty="0">
                          <a:solidFill>
                            <a:schemeClr val="tx1"/>
                          </a:solidFill>
                        </a:rPr>
                        <a:t>0</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b="1" dirty="0">
                          <a:solidFill>
                            <a:schemeClr val="tx1"/>
                          </a:solidFill>
                        </a:rPr>
                        <a:t>U33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31" name="Multiply 30"/>
          <p:cNvSpPr/>
          <p:nvPr/>
        </p:nvSpPr>
        <p:spPr>
          <a:xfrm>
            <a:off x="7972153" y="4593980"/>
            <a:ext cx="505013" cy="68580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51088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343945" y="1411654"/>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6" name="Google Shape;507;p4"/>
          <p:cNvSpPr/>
          <p:nvPr/>
        </p:nvSpPr>
        <p:spPr>
          <a:xfrm>
            <a:off x="7192108" y="1266093"/>
            <a:ext cx="4739054" cy="3859822"/>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4" name="TextBox 3"/>
          <p:cNvSpPr txBox="1"/>
          <p:nvPr/>
        </p:nvSpPr>
        <p:spPr>
          <a:xfrm>
            <a:off x="8748346" y="1547454"/>
            <a:ext cx="1828800" cy="369332"/>
          </a:xfrm>
          <a:prstGeom prst="rect">
            <a:avLst/>
          </a:prstGeom>
          <a:noFill/>
        </p:spPr>
        <p:txBody>
          <a:bodyPr wrap="square" rtlCol="0">
            <a:spAutoFit/>
          </a:bodyPr>
          <a:lstStyle/>
          <a:p>
            <a:pPr algn="ctr"/>
            <a:r>
              <a:rPr lang="af-ZA" sz="1800" b="1" dirty="0"/>
              <a:t>Output</a:t>
            </a:r>
            <a:endParaRPr lang="en-IN" sz="1800" b="1" dirty="0"/>
          </a:p>
        </p:txBody>
      </p:sp>
      <p:sp>
        <p:nvSpPr>
          <p:cNvPr id="22" name="Google Shape;507;p4"/>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used the </a:t>
            </a:r>
            <a:r>
              <a:rPr lang="af-ZA" sz="2000" b="1" dirty="0">
                <a:latin typeface="Calibri"/>
                <a:ea typeface="Calibri"/>
                <a:cs typeface="Calibri"/>
                <a:sym typeface="Calibri"/>
              </a:rPr>
              <a:t>lu</a:t>
            </a:r>
            <a:r>
              <a:rPr lang="af-ZA" sz="2000" dirty="0">
                <a:latin typeface="Calibri"/>
                <a:ea typeface="Calibri"/>
                <a:cs typeface="Calibri"/>
                <a:sym typeface="Calibri"/>
              </a:rPr>
              <a:t> module from </a:t>
            </a:r>
            <a:r>
              <a:rPr lang="af-ZA" sz="2000" b="1" dirty="0">
                <a:latin typeface="Calibri"/>
                <a:ea typeface="Calibri"/>
                <a:cs typeface="Calibri"/>
                <a:sym typeface="Calibri"/>
              </a:rPr>
              <a:t>scipy.linalg. </a:t>
            </a:r>
            <a:r>
              <a:rPr lang="af-ZA" sz="2000" dirty="0">
                <a:latin typeface="Calibri"/>
                <a:ea typeface="Calibri"/>
                <a:cs typeface="Calibri"/>
                <a:sym typeface="Calibri"/>
              </a:rPr>
              <a:t>Where P is for partial pivoting for stable calculations. </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842" y="1684251"/>
            <a:ext cx="5860581" cy="283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2475" y="1916786"/>
            <a:ext cx="4025950" cy="2823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7897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dirty="0">
                <a:solidFill>
                  <a:srgbClr val="604878"/>
                </a:solidFill>
                <a:latin typeface="Raleway Light"/>
                <a:ea typeface="Raleway Light"/>
                <a:cs typeface="Raleway Light"/>
                <a:sym typeface="Raleway Light"/>
              </a:rPr>
              <a:t>QR</a:t>
            </a:r>
            <a:r>
              <a:rPr lang="en-US" sz="3200" b="1" i="0" u="none" strike="noStrike" cap="none" dirty="0">
                <a:solidFill>
                  <a:srgbClr val="604878"/>
                </a:solidFill>
                <a:latin typeface="Raleway Light"/>
                <a:ea typeface="Raleway Light"/>
                <a:cs typeface="Raleway Light"/>
                <a:sym typeface="Raleway Light"/>
              </a:rPr>
              <a:t> Decomposition</a:t>
            </a:r>
          </a:p>
        </p:txBody>
      </p:sp>
      <p:sp>
        <p:nvSpPr>
          <p:cNvPr id="3" name="Google Shape;507;p4"/>
          <p:cNvSpPr/>
          <p:nvPr/>
        </p:nvSpPr>
        <p:spPr>
          <a:xfrm>
            <a:off x="433331" y="1345224"/>
            <a:ext cx="11304400" cy="2255226"/>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QR decomposition deals with the matrices that have dimensions in the form of </a:t>
            </a:r>
            <a:r>
              <a:rPr lang="en-US" sz="2000" b="1" dirty="0">
                <a:latin typeface="Calibri"/>
                <a:ea typeface="Calibri"/>
                <a:cs typeface="Calibri"/>
                <a:sym typeface="Calibri"/>
              </a:rPr>
              <a:t>mxn</a:t>
            </a:r>
            <a:r>
              <a:rPr lang="en-US" sz="2000" dirty="0">
                <a:latin typeface="Calibri"/>
                <a:ea typeface="Calibri"/>
                <a:cs typeface="Calibri"/>
                <a:sym typeface="Calibri"/>
              </a:rPr>
              <a:t>. QR decomposition is the method in which the matrix A is decomposed in the following manner:</a:t>
            </a:r>
          </a:p>
          <a:p>
            <a:pPr marL="0" marR="0" lvl="0" indent="0" algn="ctr" rtl="0">
              <a:spcBef>
                <a:spcPts val="0"/>
              </a:spcBef>
              <a:spcAft>
                <a:spcPts val="0"/>
              </a:spcAft>
              <a:buNone/>
            </a:pPr>
            <a:r>
              <a:rPr lang="en-US" sz="2800" b="1" dirty="0">
                <a:latin typeface="Calibri"/>
                <a:ea typeface="Calibri"/>
                <a:cs typeface="Calibri"/>
                <a:sym typeface="Calibri"/>
              </a:rPr>
              <a:t>A = Q.R</a:t>
            </a:r>
          </a:p>
          <a:p>
            <a:pPr marL="0" marR="0" lvl="0" indent="0" algn="ctr" rtl="0">
              <a:spcBef>
                <a:spcPts val="0"/>
              </a:spcBef>
              <a:spcAft>
                <a:spcPts val="0"/>
              </a:spcAft>
              <a:buNone/>
            </a:pPr>
            <a:r>
              <a:rPr lang="en-US" sz="2000" dirty="0">
                <a:latin typeface="Calibri"/>
                <a:ea typeface="Calibri"/>
                <a:cs typeface="Calibri"/>
                <a:sym typeface="Calibri"/>
              </a:rPr>
              <a:t>Where Q is a matrix with dimensions mxm and R is an upper triangle matrix with dimensions mxn.</a:t>
            </a:r>
          </a:p>
        </p:txBody>
      </p:sp>
      <p:grpSp>
        <p:nvGrpSpPr>
          <p:cNvPr id="28" name="Group 27"/>
          <p:cNvGrpSpPr/>
          <p:nvPr/>
        </p:nvGrpSpPr>
        <p:grpSpPr>
          <a:xfrm>
            <a:off x="1234774" y="4151922"/>
            <a:ext cx="1820007" cy="2083778"/>
            <a:chOff x="4423877" y="3182812"/>
            <a:chExt cx="1820007" cy="2593731"/>
          </a:xfrm>
        </p:grpSpPr>
        <p:sp>
          <p:nvSpPr>
            <p:cNvPr id="29" name="Left Bracket 28"/>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0" name="Right Bracket 29"/>
            <p:cNvSpPr/>
            <p:nvPr/>
          </p:nvSpPr>
          <p:spPr>
            <a:xfrm>
              <a:off x="5857023"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32" name="Equal 31"/>
          <p:cNvSpPr/>
          <p:nvPr/>
        </p:nvSpPr>
        <p:spPr>
          <a:xfrm>
            <a:off x="3386924" y="4611565"/>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33" name="Group 32"/>
          <p:cNvGrpSpPr/>
          <p:nvPr/>
        </p:nvGrpSpPr>
        <p:grpSpPr>
          <a:xfrm>
            <a:off x="4951780" y="4151922"/>
            <a:ext cx="2611315" cy="2083778"/>
            <a:chOff x="4423877" y="3182812"/>
            <a:chExt cx="2611315" cy="2593731"/>
          </a:xfrm>
        </p:grpSpPr>
        <p:sp>
          <p:nvSpPr>
            <p:cNvPr id="34" name="Left Bracket 3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5" name="Right Bracket 3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36" name="Table 35"/>
          <p:cNvGraphicFramePr>
            <a:graphicFrameLocks noGrp="1"/>
          </p:cNvGraphicFramePr>
          <p:nvPr>
            <p:extLst>
              <p:ext uri="{D42A27DB-BD31-4B8C-83A1-F6EECF244321}">
                <p14:modId xmlns:p14="http://schemas.microsoft.com/office/powerpoint/2010/main" val="837390706"/>
              </p:ext>
            </p:extLst>
          </p:nvPr>
        </p:nvGraphicFramePr>
        <p:xfrm>
          <a:off x="5289562" y="4197594"/>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2000" b="1" dirty="0">
                          <a:solidFill>
                            <a:schemeClr val="tx1"/>
                          </a:solidFill>
                        </a:rPr>
                        <a:t>Q11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Q12</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Q13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2000" b="1" dirty="0">
                          <a:solidFill>
                            <a:schemeClr val="tx1"/>
                          </a:solidFill>
                        </a:rPr>
                        <a:t>Q21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Q22</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Q23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2000" b="1" dirty="0">
                          <a:solidFill>
                            <a:schemeClr val="tx1"/>
                          </a:solidFill>
                        </a:rPr>
                        <a:t>Q31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b="1" dirty="0">
                          <a:solidFill>
                            <a:schemeClr val="tx1"/>
                          </a:solidFill>
                        </a:rPr>
                        <a:t>Q32 </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b="1" dirty="0">
                          <a:solidFill>
                            <a:schemeClr val="tx1"/>
                          </a:solidFill>
                        </a:rPr>
                        <a:t>Q33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40" name="Multiply 39"/>
          <p:cNvSpPr/>
          <p:nvPr/>
        </p:nvSpPr>
        <p:spPr>
          <a:xfrm>
            <a:off x="7972153" y="4593980"/>
            <a:ext cx="505013" cy="68580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 name="Table 1"/>
          <p:cNvGraphicFramePr>
            <a:graphicFrameLocks noGrp="1"/>
          </p:cNvGraphicFramePr>
          <p:nvPr>
            <p:extLst>
              <p:ext uri="{D42A27DB-BD31-4B8C-83A1-F6EECF244321}">
                <p14:modId xmlns:p14="http://schemas.microsoft.com/office/powerpoint/2010/main" val="1933442000"/>
              </p:ext>
            </p:extLst>
          </p:nvPr>
        </p:nvGraphicFramePr>
        <p:xfrm>
          <a:off x="1517103" y="4320295"/>
          <a:ext cx="1256324" cy="1747032"/>
        </p:xfrm>
        <a:graphic>
          <a:graphicData uri="http://schemas.openxmlformats.org/drawingml/2006/table">
            <a:tbl>
              <a:tblPr firstRow="1" bandRow="1">
                <a:tableStyleId>{2D5ABB26-0587-4C30-8999-92F81FD0307C}</a:tableStyleId>
              </a:tblPr>
              <a:tblGrid>
                <a:gridCol w="628162">
                  <a:extLst>
                    <a:ext uri="{9D8B030D-6E8A-4147-A177-3AD203B41FA5}">
                      <a16:colId xmlns="" xmlns:a16="http://schemas.microsoft.com/office/drawing/2014/main" val="20000"/>
                    </a:ext>
                  </a:extLst>
                </a:gridCol>
                <a:gridCol w="628162">
                  <a:extLst>
                    <a:ext uri="{9D8B030D-6E8A-4147-A177-3AD203B41FA5}">
                      <a16:colId xmlns="" xmlns:a16="http://schemas.microsoft.com/office/drawing/2014/main" val="20001"/>
                    </a:ext>
                  </a:extLst>
                </a:gridCol>
              </a:tblGrid>
              <a:tr h="582344">
                <a:tc>
                  <a:txBody>
                    <a:bodyPr/>
                    <a:lstStyle/>
                    <a:p>
                      <a:pPr algn="ctr"/>
                      <a:r>
                        <a:rPr lang="af-ZA" sz="2000" b="1" dirty="0">
                          <a:solidFill>
                            <a:schemeClr val="tx1"/>
                          </a:solidFill>
                        </a:rPr>
                        <a:t>a11</a:t>
                      </a:r>
                      <a:endParaRPr lang="en-IN" sz="2000" b="1" dirty="0">
                        <a:solidFill>
                          <a:schemeClr val="tx1"/>
                        </a:solidFill>
                      </a:endParaRPr>
                    </a:p>
                  </a:txBody>
                  <a:tcPr anchor="ctr"/>
                </a:tc>
                <a:tc>
                  <a:txBody>
                    <a:bodyPr/>
                    <a:lstStyle/>
                    <a:p>
                      <a:pPr algn="ctr"/>
                      <a:r>
                        <a:rPr lang="af-ZA" sz="2000" b="1" dirty="0">
                          <a:solidFill>
                            <a:schemeClr val="tx1"/>
                          </a:solidFill>
                        </a:rPr>
                        <a:t>a21</a:t>
                      </a:r>
                      <a:endParaRPr lang="en-IN" sz="2000" b="1" dirty="0">
                        <a:solidFill>
                          <a:schemeClr val="tx1"/>
                        </a:solidFill>
                      </a:endParaRPr>
                    </a:p>
                  </a:txBody>
                  <a:tcPr anchor="ctr"/>
                </a:tc>
                <a:extLst>
                  <a:ext uri="{0D108BD9-81ED-4DB2-BD59-A6C34878D82A}">
                    <a16:rowId xmlns="" xmlns:a16="http://schemas.microsoft.com/office/drawing/2014/main" val="10000"/>
                  </a:ext>
                </a:extLst>
              </a:tr>
              <a:tr h="582344">
                <a:tc>
                  <a:txBody>
                    <a:bodyPr/>
                    <a:lstStyle/>
                    <a:p>
                      <a:pPr algn="ctr"/>
                      <a:r>
                        <a:rPr lang="af-ZA" sz="2000" b="1" dirty="0">
                          <a:solidFill>
                            <a:schemeClr val="tx1"/>
                          </a:solidFill>
                        </a:rPr>
                        <a:t>a21</a:t>
                      </a:r>
                      <a:endParaRPr lang="en-IN" sz="2000" b="1" dirty="0">
                        <a:solidFill>
                          <a:schemeClr val="tx1"/>
                        </a:solidFill>
                      </a:endParaRPr>
                    </a:p>
                  </a:txBody>
                  <a:tcPr anchor="ctr"/>
                </a:tc>
                <a:tc>
                  <a:txBody>
                    <a:bodyPr/>
                    <a:lstStyle/>
                    <a:p>
                      <a:pPr algn="ctr"/>
                      <a:r>
                        <a:rPr lang="af-ZA" sz="2000" b="1" dirty="0">
                          <a:solidFill>
                            <a:schemeClr val="tx1"/>
                          </a:solidFill>
                        </a:rPr>
                        <a:t>a22</a:t>
                      </a:r>
                      <a:endParaRPr lang="en-IN" sz="2000" b="1" dirty="0">
                        <a:solidFill>
                          <a:schemeClr val="tx1"/>
                        </a:solidFill>
                      </a:endParaRPr>
                    </a:p>
                  </a:txBody>
                  <a:tcPr anchor="ctr"/>
                </a:tc>
                <a:extLst>
                  <a:ext uri="{0D108BD9-81ED-4DB2-BD59-A6C34878D82A}">
                    <a16:rowId xmlns="" xmlns:a16="http://schemas.microsoft.com/office/drawing/2014/main" val="10001"/>
                  </a:ext>
                </a:extLst>
              </a:tr>
              <a:tr h="582344">
                <a:tc>
                  <a:txBody>
                    <a:bodyPr/>
                    <a:lstStyle/>
                    <a:p>
                      <a:pPr algn="ctr"/>
                      <a:r>
                        <a:rPr lang="af-ZA" sz="2000" b="1" dirty="0">
                          <a:solidFill>
                            <a:schemeClr val="tx1"/>
                          </a:solidFill>
                        </a:rPr>
                        <a:t>a31</a:t>
                      </a:r>
                      <a:endParaRPr lang="en-IN" sz="2000" b="1" dirty="0">
                        <a:solidFill>
                          <a:schemeClr val="tx1"/>
                        </a:solidFill>
                      </a:endParaRPr>
                    </a:p>
                  </a:txBody>
                  <a:tcPr anchor="ctr"/>
                </a:tc>
                <a:tc>
                  <a:txBody>
                    <a:bodyPr/>
                    <a:lstStyle/>
                    <a:p>
                      <a:pPr algn="ctr"/>
                      <a:r>
                        <a:rPr lang="af-ZA" sz="2000" b="1" dirty="0">
                          <a:solidFill>
                            <a:schemeClr val="tx1"/>
                          </a:solidFill>
                        </a:rPr>
                        <a:t>a32</a:t>
                      </a:r>
                      <a:endParaRPr lang="en-IN" sz="2000" b="1" dirty="0">
                        <a:solidFill>
                          <a:schemeClr val="tx1"/>
                        </a:solidFill>
                      </a:endParaRPr>
                    </a:p>
                  </a:txBody>
                  <a:tcPr anchor="ctr"/>
                </a:tc>
                <a:extLst>
                  <a:ext uri="{0D108BD9-81ED-4DB2-BD59-A6C34878D82A}">
                    <a16:rowId xmlns="" xmlns:a16="http://schemas.microsoft.com/office/drawing/2014/main" val="10002"/>
                  </a:ext>
                </a:extLst>
              </a:tr>
            </a:tbl>
          </a:graphicData>
        </a:graphic>
      </p:graphicFrame>
      <p:grpSp>
        <p:nvGrpSpPr>
          <p:cNvPr id="41" name="Group 40"/>
          <p:cNvGrpSpPr/>
          <p:nvPr/>
        </p:nvGrpSpPr>
        <p:grpSpPr>
          <a:xfrm>
            <a:off x="9089988" y="4151922"/>
            <a:ext cx="1820007" cy="2083778"/>
            <a:chOff x="4423877" y="3182812"/>
            <a:chExt cx="1820007" cy="2593731"/>
          </a:xfrm>
        </p:grpSpPr>
        <p:sp>
          <p:nvSpPr>
            <p:cNvPr id="42" name="Left Bracket 41"/>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3" name="Right Bracket 42"/>
            <p:cNvSpPr/>
            <p:nvPr/>
          </p:nvSpPr>
          <p:spPr>
            <a:xfrm>
              <a:off x="5857023"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44" name="Table 43"/>
          <p:cNvGraphicFramePr>
            <a:graphicFrameLocks noGrp="1"/>
          </p:cNvGraphicFramePr>
          <p:nvPr>
            <p:extLst>
              <p:ext uri="{D42A27DB-BD31-4B8C-83A1-F6EECF244321}">
                <p14:modId xmlns:p14="http://schemas.microsoft.com/office/powerpoint/2010/main" val="1609888818"/>
              </p:ext>
            </p:extLst>
          </p:nvPr>
        </p:nvGraphicFramePr>
        <p:xfrm>
          <a:off x="9372317" y="4320295"/>
          <a:ext cx="1256324" cy="1747032"/>
        </p:xfrm>
        <a:graphic>
          <a:graphicData uri="http://schemas.openxmlformats.org/drawingml/2006/table">
            <a:tbl>
              <a:tblPr firstRow="1" bandRow="1">
                <a:tableStyleId>{2D5ABB26-0587-4C30-8999-92F81FD0307C}</a:tableStyleId>
              </a:tblPr>
              <a:tblGrid>
                <a:gridCol w="628162">
                  <a:extLst>
                    <a:ext uri="{9D8B030D-6E8A-4147-A177-3AD203B41FA5}">
                      <a16:colId xmlns="" xmlns:a16="http://schemas.microsoft.com/office/drawing/2014/main" val="20000"/>
                    </a:ext>
                  </a:extLst>
                </a:gridCol>
                <a:gridCol w="628162">
                  <a:extLst>
                    <a:ext uri="{9D8B030D-6E8A-4147-A177-3AD203B41FA5}">
                      <a16:colId xmlns="" xmlns:a16="http://schemas.microsoft.com/office/drawing/2014/main" val="20001"/>
                    </a:ext>
                  </a:extLst>
                </a:gridCol>
              </a:tblGrid>
              <a:tr h="582344">
                <a:tc>
                  <a:txBody>
                    <a:bodyPr/>
                    <a:lstStyle/>
                    <a:p>
                      <a:pPr algn="ctr"/>
                      <a:r>
                        <a:rPr lang="af-ZA" sz="2000" b="1" dirty="0">
                          <a:solidFill>
                            <a:schemeClr val="tx1"/>
                          </a:solidFill>
                        </a:rPr>
                        <a:t>r11</a:t>
                      </a:r>
                      <a:endParaRPr lang="en-IN" sz="2000" b="1" dirty="0">
                        <a:solidFill>
                          <a:schemeClr val="tx1"/>
                        </a:solidFill>
                      </a:endParaRPr>
                    </a:p>
                  </a:txBody>
                  <a:tcPr anchor="ctr"/>
                </a:tc>
                <a:tc>
                  <a:txBody>
                    <a:bodyPr/>
                    <a:lstStyle/>
                    <a:p>
                      <a:pPr algn="ctr"/>
                      <a:r>
                        <a:rPr lang="af-ZA" sz="2000" b="1" dirty="0">
                          <a:solidFill>
                            <a:schemeClr val="tx1"/>
                          </a:solidFill>
                        </a:rPr>
                        <a:t>r12</a:t>
                      </a:r>
                      <a:endParaRPr lang="en-IN" sz="2000" b="1" dirty="0">
                        <a:solidFill>
                          <a:schemeClr val="tx1"/>
                        </a:solidFill>
                      </a:endParaRPr>
                    </a:p>
                  </a:txBody>
                  <a:tcPr anchor="ctr"/>
                </a:tc>
                <a:extLst>
                  <a:ext uri="{0D108BD9-81ED-4DB2-BD59-A6C34878D82A}">
                    <a16:rowId xmlns="" xmlns:a16="http://schemas.microsoft.com/office/drawing/2014/main" val="10000"/>
                  </a:ext>
                </a:extLst>
              </a:tr>
              <a:tr h="582344">
                <a:tc>
                  <a:txBody>
                    <a:bodyPr/>
                    <a:lstStyle/>
                    <a:p>
                      <a:pPr algn="ctr"/>
                      <a:r>
                        <a:rPr lang="af-ZA" sz="2000" b="1" dirty="0">
                          <a:solidFill>
                            <a:schemeClr val="tx1"/>
                          </a:solidFill>
                        </a:rPr>
                        <a:t>0</a:t>
                      </a:r>
                      <a:endParaRPr lang="en-IN" sz="2000" b="1" dirty="0">
                        <a:solidFill>
                          <a:schemeClr val="tx1"/>
                        </a:solidFill>
                      </a:endParaRPr>
                    </a:p>
                  </a:txBody>
                  <a:tcPr anchor="ctr"/>
                </a:tc>
                <a:tc>
                  <a:txBody>
                    <a:bodyPr/>
                    <a:lstStyle/>
                    <a:p>
                      <a:pPr algn="ctr"/>
                      <a:r>
                        <a:rPr lang="af-ZA" sz="2000" b="1" dirty="0">
                          <a:solidFill>
                            <a:schemeClr val="tx1"/>
                          </a:solidFill>
                        </a:rPr>
                        <a:t>r22</a:t>
                      </a:r>
                      <a:endParaRPr lang="en-IN" sz="2000" b="1" dirty="0">
                        <a:solidFill>
                          <a:schemeClr val="tx1"/>
                        </a:solidFill>
                      </a:endParaRPr>
                    </a:p>
                  </a:txBody>
                  <a:tcPr anchor="ctr"/>
                </a:tc>
                <a:extLst>
                  <a:ext uri="{0D108BD9-81ED-4DB2-BD59-A6C34878D82A}">
                    <a16:rowId xmlns="" xmlns:a16="http://schemas.microsoft.com/office/drawing/2014/main" val="10001"/>
                  </a:ext>
                </a:extLst>
              </a:tr>
              <a:tr h="582344">
                <a:tc>
                  <a:txBody>
                    <a:bodyPr/>
                    <a:lstStyle/>
                    <a:p>
                      <a:pPr algn="ctr"/>
                      <a:r>
                        <a:rPr lang="af-ZA" sz="2000" b="1" dirty="0">
                          <a:solidFill>
                            <a:schemeClr val="tx1"/>
                          </a:solidFill>
                        </a:rPr>
                        <a:t>0</a:t>
                      </a:r>
                      <a:endParaRPr lang="en-IN" sz="2000" b="1" dirty="0">
                        <a:solidFill>
                          <a:schemeClr val="tx1"/>
                        </a:solidFill>
                      </a:endParaRPr>
                    </a:p>
                  </a:txBody>
                  <a:tcPr anchor="ctr"/>
                </a:tc>
                <a:tc>
                  <a:txBody>
                    <a:bodyPr/>
                    <a:lstStyle/>
                    <a:p>
                      <a:pPr algn="ctr"/>
                      <a:r>
                        <a:rPr lang="af-ZA" sz="2000" b="1" dirty="0">
                          <a:solidFill>
                            <a:schemeClr val="tx1"/>
                          </a:solidFill>
                        </a:rPr>
                        <a:t>0</a:t>
                      </a:r>
                      <a:endParaRPr lang="en-IN" sz="2000" b="1" dirty="0">
                        <a:solidFill>
                          <a:schemeClr val="tx1"/>
                        </a:solidFill>
                      </a:endParaRPr>
                    </a:p>
                  </a:txBody>
                  <a:tcPr anchor="ctr"/>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2218977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9"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0" name="Google Shape;507;p4"/>
          <p:cNvSpPr/>
          <p:nvPr/>
        </p:nvSpPr>
        <p:spPr>
          <a:xfrm>
            <a:off x="343945" y="1411654"/>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1" name="Google Shape;507;p4"/>
          <p:cNvSpPr/>
          <p:nvPr/>
        </p:nvSpPr>
        <p:spPr>
          <a:xfrm>
            <a:off x="7192108" y="1266093"/>
            <a:ext cx="4739054" cy="3859822"/>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2" name="TextBox 11"/>
          <p:cNvSpPr txBox="1"/>
          <p:nvPr/>
        </p:nvSpPr>
        <p:spPr>
          <a:xfrm>
            <a:off x="8748346" y="1547454"/>
            <a:ext cx="1828800" cy="369332"/>
          </a:xfrm>
          <a:prstGeom prst="rect">
            <a:avLst/>
          </a:prstGeom>
          <a:noFill/>
        </p:spPr>
        <p:txBody>
          <a:bodyPr wrap="square" rtlCol="0">
            <a:spAutoFit/>
          </a:bodyPr>
          <a:lstStyle/>
          <a:p>
            <a:pPr algn="ctr"/>
            <a:r>
              <a:rPr lang="af-ZA" sz="1800" b="1" dirty="0"/>
              <a:t>Output</a:t>
            </a:r>
            <a:endParaRPr lang="en-IN" sz="1800" b="1" dirty="0"/>
          </a:p>
        </p:txBody>
      </p:sp>
      <p:sp>
        <p:nvSpPr>
          <p:cNvPr id="14" name="Google Shape;507;p4"/>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used the </a:t>
            </a:r>
            <a:r>
              <a:rPr lang="af-ZA" sz="2000" b="1" dirty="0">
                <a:latin typeface="Calibri"/>
                <a:ea typeface="Calibri"/>
                <a:cs typeface="Calibri"/>
                <a:sym typeface="Calibri"/>
              </a:rPr>
              <a:t>qr</a:t>
            </a:r>
            <a:r>
              <a:rPr lang="af-ZA" sz="2000" dirty="0">
                <a:latin typeface="Calibri"/>
                <a:ea typeface="Calibri"/>
                <a:cs typeface="Calibri"/>
                <a:sym typeface="Calibri"/>
              </a:rPr>
              <a:t> module from </a:t>
            </a:r>
            <a:r>
              <a:rPr lang="af-ZA" sz="2000" b="1" dirty="0">
                <a:latin typeface="Calibri"/>
                <a:ea typeface="Calibri"/>
                <a:cs typeface="Calibri"/>
                <a:sym typeface="Calibri"/>
              </a:rPr>
              <a:t>numpy.linalg. </a:t>
            </a:r>
            <a:r>
              <a:rPr lang="af-ZA" sz="2000" dirty="0">
                <a:latin typeface="Calibri"/>
                <a:ea typeface="Calibri"/>
                <a:cs typeface="Calibri"/>
                <a:sym typeface="Calibri"/>
              </a:rPr>
              <a:t>Where there is another parameter </a:t>
            </a:r>
            <a:r>
              <a:rPr lang="af-ZA" sz="2000" b="1" dirty="0">
                <a:latin typeface="Calibri"/>
                <a:ea typeface="Calibri"/>
                <a:cs typeface="Calibri"/>
                <a:sym typeface="Calibri"/>
              </a:rPr>
              <a:t>mode, </a:t>
            </a:r>
            <a:r>
              <a:rPr lang="af-ZA" sz="2000" dirty="0">
                <a:latin typeface="Calibri"/>
                <a:ea typeface="Calibri"/>
                <a:cs typeface="Calibri"/>
                <a:sym typeface="Calibri"/>
              </a:rPr>
              <a:t>which is optional.</a:t>
            </a: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344" y="1619430"/>
            <a:ext cx="5590320" cy="3066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7441" y="2098502"/>
            <a:ext cx="3808388" cy="243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1873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dirty="0">
                <a:solidFill>
                  <a:srgbClr val="604878"/>
                </a:solidFill>
                <a:latin typeface="Raleway Light"/>
                <a:ea typeface="Raleway Light"/>
                <a:cs typeface="Raleway Light"/>
                <a:sym typeface="Raleway Light"/>
              </a:rPr>
              <a:t>Cholesky</a:t>
            </a:r>
            <a:r>
              <a:rPr lang="en-US" sz="3200" b="1" i="0" u="none" strike="noStrike" cap="none" dirty="0">
                <a:solidFill>
                  <a:srgbClr val="604878"/>
                </a:solidFill>
                <a:latin typeface="Raleway Light"/>
                <a:ea typeface="Raleway Light"/>
                <a:cs typeface="Raleway Light"/>
                <a:sym typeface="Raleway Light"/>
              </a:rPr>
              <a:t> Decomposition</a:t>
            </a:r>
          </a:p>
        </p:txBody>
      </p:sp>
      <p:sp>
        <p:nvSpPr>
          <p:cNvPr id="3" name="Google Shape;507;p4"/>
          <p:cNvSpPr/>
          <p:nvPr/>
        </p:nvSpPr>
        <p:spPr>
          <a:xfrm>
            <a:off x="433331" y="1345224"/>
            <a:ext cx="11304400" cy="2255226"/>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Cholesky decomposition method deals with the square symmetrical matrices that have positive Eigen values. The matrix A is decomposed in the following manner:</a:t>
            </a:r>
          </a:p>
          <a:p>
            <a:pPr marL="0" marR="0" lvl="0" indent="0" algn="ctr" rtl="0">
              <a:spcBef>
                <a:spcPts val="0"/>
              </a:spcBef>
              <a:spcAft>
                <a:spcPts val="0"/>
              </a:spcAft>
              <a:buNone/>
            </a:pPr>
            <a:r>
              <a:rPr lang="en-US" sz="2800" b="1" dirty="0">
                <a:latin typeface="Calibri"/>
                <a:ea typeface="Calibri"/>
                <a:cs typeface="Calibri"/>
                <a:sym typeface="Calibri"/>
              </a:rPr>
              <a:t>A = L.A</a:t>
            </a:r>
            <a:r>
              <a:rPr lang="en-US" sz="2800" b="1" baseline="30000" dirty="0">
                <a:latin typeface="Calibri"/>
                <a:ea typeface="Calibri"/>
                <a:cs typeface="Calibri"/>
                <a:sym typeface="Calibri"/>
              </a:rPr>
              <a:t>T</a:t>
            </a:r>
          </a:p>
          <a:p>
            <a:pPr marL="0" marR="0" lvl="0" indent="0" algn="ctr" rtl="0">
              <a:spcBef>
                <a:spcPts val="0"/>
              </a:spcBef>
              <a:spcAft>
                <a:spcPts val="0"/>
              </a:spcAft>
              <a:buNone/>
            </a:pPr>
            <a:r>
              <a:rPr lang="en-US" sz="2000" dirty="0">
                <a:latin typeface="Calibri"/>
                <a:ea typeface="Calibri"/>
                <a:cs typeface="Calibri"/>
                <a:sym typeface="Calibri"/>
              </a:rPr>
              <a:t>Where L is the lower triangle matrix and is multiplied with the transpose of the matrix A. </a:t>
            </a:r>
          </a:p>
          <a:p>
            <a:pPr marL="0" marR="0" lvl="0" indent="0" algn="ctr" rtl="0">
              <a:spcBef>
                <a:spcPts val="0"/>
              </a:spcBef>
              <a:spcAft>
                <a:spcPts val="0"/>
              </a:spcAft>
              <a:buNone/>
            </a:pPr>
            <a:endParaRPr lang="en-US" sz="2000" dirty="0">
              <a:latin typeface="Calibri"/>
              <a:ea typeface="Calibri"/>
              <a:cs typeface="Calibri"/>
              <a:sym typeface="Calibri"/>
            </a:endParaRPr>
          </a:p>
        </p:txBody>
      </p:sp>
      <p:grpSp>
        <p:nvGrpSpPr>
          <p:cNvPr id="4" name="Group 3"/>
          <p:cNvGrpSpPr/>
          <p:nvPr/>
        </p:nvGrpSpPr>
        <p:grpSpPr>
          <a:xfrm>
            <a:off x="1234774" y="3894992"/>
            <a:ext cx="2611315" cy="2083778"/>
            <a:chOff x="4423877" y="3182812"/>
            <a:chExt cx="2611315" cy="2593731"/>
          </a:xfrm>
        </p:grpSpPr>
        <p:sp>
          <p:nvSpPr>
            <p:cNvPr id="5" name="Left Bracket 4"/>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 name="Right Bracket 5"/>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8" name="Table 7"/>
          <p:cNvGraphicFramePr>
            <a:graphicFrameLocks noGrp="1"/>
          </p:cNvGraphicFramePr>
          <p:nvPr>
            <p:extLst>
              <p:ext uri="{D42A27DB-BD31-4B8C-83A1-F6EECF244321}">
                <p14:modId xmlns:p14="http://schemas.microsoft.com/office/powerpoint/2010/main" val="820393163"/>
              </p:ext>
            </p:extLst>
          </p:nvPr>
        </p:nvGraphicFramePr>
        <p:xfrm>
          <a:off x="1572556" y="3940664"/>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2000" b="1" dirty="0">
                          <a:solidFill>
                            <a:schemeClr val="tx1"/>
                          </a:solidFill>
                        </a:rPr>
                        <a:t>a11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a12</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a13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2000" b="1" dirty="0">
                          <a:solidFill>
                            <a:schemeClr val="tx1"/>
                          </a:solidFill>
                        </a:rPr>
                        <a:t>a21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a22</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a23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2000" b="1" dirty="0">
                          <a:solidFill>
                            <a:schemeClr val="tx1"/>
                          </a:solidFill>
                        </a:rPr>
                        <a:t>a31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b="1" dirty="0">
                          <a:solidFill>
                            <a:schemeClr val="tx1"/>
                          </a:solidFill>
                        </a:rPr>
                        <a:t>a32 </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b="1" dirty="0">
                          <a:solidFill>
                            <a:schemeClr val="tx1"/>
                          </a:solidFill>
                        </a:rPr>
                        <a:t>a33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9" name="Equal 8"/>
          <p:cNvSpPr/>
          <p:nvPr/>
        </p:nvSpPr>
        <p:spPr>
          <a:xfrm>
            <a:off x="3964747" y="4611565"/>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10" name="Group 9"/>
          <p:cNvGrpSpPr/>
          <p:nvPr/>
        </p:nvGrpSpPr>
        <p:grpSpPr>
          <a:xfrm>
            <a:off x="5261651" y="3894992"/>
            <a:ext cx="2611315" cy="2083778"/>
            <a:chOff x="4423877" y="3182812"/>
            <a:chExt cx="2611315" cy="2593731"/>
          </a:xfrm>
        </p:grpSpPr>
        <p:sp>
          <p:nvSpPr>
            <p:cNvPr id="11" name="Left Bracket 10"/>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Right Bracket 11"/>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3" name="Table 12"/>
          <p:cNvGraphicFramePr>
            <a:graphicFrameLocks noGrp="1"/>
          </p:cNvGraphicFramePr>
          <p:nvPr>
            <p:extLst>
              <p:ext uri="{D42A27DB-BD31-4B8C-83A1-F6EECF244321}">
                <p14:modId xmlns:p14="http://schemas.microsoft.com/office/powerpoint/2010/main" val="1051136272"/>
              </p:ext>
            </p:extLst>
          </p:nvPr>
        </p:nvGraphicFramePr>
        <p:xfrm>
          <a:off x="5599433" y="3940664"/>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2000" b="1" dirty="0">
                          <a:solidFill>
                            <a:schemeClr val="tx1"/>
                          </a:solidFill>
                        </a:rPr>
                        <a:t>L11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0</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0</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2000" b="1" dirty="0">
                          <a:solidFill>
                            <a:schemeClr val="tx1"/>
                          </a:solidFill>
                        </a:rPr>
                        <a:t>L21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L22</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0</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2000" b="1" dirty="0">
                          <a:solidFill>
                            <a:schemeClr val="tx1"/>
                          </a:solidFill>
                        </a:rPr>
                        <a:t>L31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b="1" dirty="0">
                          <a:solidFill>
                            <a:schemeClr val="tx1"/>
                          </a:solidFill>
                        </a:rPr>
                        <a:t>L32 </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b="1" dirty="0">
                          <a:solidFill>
                            <a:schemeClr val="tx1"/>
                          </a:solidFill>
                        </a:rPr>
                        <a:t>L33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18" name="Multiply 17"/>
          <p:cNvSpPr/>
          <p:nvPr/>
        </p:nvSpPr>
        <p:spPr>
          <a:xfrm>
            <a:off x="7972153" y="4593980"/>
            <a:ext cx="505013" cy="68580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9" name="Group 18"/>
          <p:cNvGrpSpPr/>
          <p:nvPr/>
        </p:nvGrpSpPr>
        <p:grpSpPr>
          <a:xfrm>
            <a:off x="8917110" y="3899388"/>
            <a:ext cx="2611315" cy="2083778"/>
            <a:chOff x="4423877" y="3182812"/>
            <a:chExt cx="2611315" cy="2593731"/>
          </a:xfrm>
        </p:grpSpPr>
        <p:sp>
          <p:nvSpPr>
            <p:cNvPr id="20" name="Left Bracket 19"/>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1" name="Right Bracket 20"/>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2" name="Table 21"/>
          <p:cNvGraphicFramePr>
            <a:graphicFrameLocks noGrp="1"/>
          </p:cNvGraphicFramePr>
          <p:nvPr>
            <p:extLst>
              <p:ext uri="{D42A27DB-BD31-4B8C-83A1-F6EECF244321}">
                <p14:modId xmlns:p14="http://schemas.microsoft.com/office/powerpoint/2010/main" val="4264455519"/>
              </p:ext>
            </p:extLst>
          </p:nvPr>
        </p:nvGraphicFramePr>
        <p:xfrm>
          <a:off x="9254892" y="3945060"/>
          <a:ext cx="1995852" cy="2057400"/>
        </p:xfrm>
        <a:graphic>
          <a:graphicData uri="http://schemas.openxmlformats.org/drawingml/2006/table">
            <a:tbl>
              <a:tblPr firstRow="1" bandRow="1">
                <a:effectLst/>
                <a:tableStyleId>{5C22544A-7EE6-4342-B048-85BDC9FD1C3A}</a:tableStyleId>
              </a:tblPr>
              <a:tblGrid>
                <a:gridCol w="665284">
                  <a:extLst>
                    <a:ext uri="{9D8B030D-6E8A-4147-A177-3AD203B41FA5}">
                      <a16:colId xmlns="" xmlns:a16="http://schemas.microsoft.com/office/drawing/2014/main" val="20000"/>
                    </a:ext>
                  </a:extLst>
                </a:gridCol>
                <a:gridCol w="665284">
                  <a:extLst>
                    <a:ext uri="{9D8B030D-6E8A-4147-A177-3AD203B41FA5}">
                      <a16:colId xmlns="" xmlns:a16="http://schemas.microsoft.com/office/drawing/2014/main" val="20001"/>
                    </a:ext>
                  </a:extLst>
                </a:gridCol>
                <a:gridCol w="665284">
                  <a:extLst>
                    <a:ext uri="{9D8B030D-6E8A-4147-A177-3AD203B41FA5}">
                      <a16:colId xmlns="" xmlns:a16="http://schemas.microsoft.com/office/drawing/2014/main" val="20002"/>
                    </a:ext>
                  </a:extLst>
                </a:gridCol>
              </a:tblGrid>
              <a:tr h="685800">
                <a:tc>
                  <a:txBody>
                    <a:bodyPr/>
                    <a:lstStyle/>
                    <a:p>
                      <a:pPr algn="ctr"/>
                      <a:r>
                        <a:rPr lang="en-GB" sz="2000" b="1" dirty="0">
                          <a:solidFill>
                            <a:schemeClr val="tx1"/>
                          </a:solidFill>
                        </a:rPr>
                        <a:t>a11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a12</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a13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685800">
                <a:tc>
                  <a:txBody>
                    <a:bodyPr/>
                    <a:lstStyle/>
                    <a:p>
                      <a:pPr algn="ctr"/>
                      <a:r>
                        <a:rPr lang="en-GB" sz="2000" b="1" dirty="0">
                          <a:solidFill>
                            <a:schemeClr val="tx1"/>
                          </a:solidFill>
                        </a:rPr>
                        <a:t>a21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a22</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2000" b="1" dirty="0">
                          <a:solidFill>
                            <a:schemeClr val="tx1"/>
                          </a:solidFill>
                        </a:rPr>
                        <a:t>a23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685800">
                <a:tc>
                  <a:txBody>
                    <a:bodyPr/>
                    <a:lstStyle/>
                    <a:p>
                      <a:pPr algn="ctr"/>
                      <a:r>
                        <a:rPr lang="en-GB" sz="2000" b="1" dirty="0">
                          <a:solidFill>
                            <a:schemeClr val="tx1"/>
                          </a:solidFill>
                        </a:rPr>
                        <a:t>a31</a:t>
                      </a:r>
                      <a:endParaRPr lang="en-IN" sz="2000" b="1" dirty="0">
                        <a:solidFill>
                          <a:schemeClr val="tx1"/>
                        </a:solidFill>
                      </a:endParaRP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b="1" dirty="0">
                          <a:solidFill>
                            <a:schemeClr val="tx1"/>
                          </a:solidFill>
                        </a:rPr>
                        <a:t>a32 </a:t>
                      </a:r>
                      <a:endParaRPr lang="en-IN" sz="20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sz="2000" b="1" dirty="0">
                          <a:solidFill>
                            <a:schemeClr val="tx1"/>
                          </a:solidFill>
                        </a:rPr>
                        <a:t>a33</a:t>
                      </a:r>
                      <a:endParaRPr lang="en-IN" sz="2000" b="1"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23" name="TextBox 22"/>
          <p:cNvSpPr txBox="1"/>
          <p:nvPr/>
        </p:nvSpPr>
        <p:spPr>
          <a:xfrm>
            <a:off x="11421208" y="3644412"/>
            <a:ext cx="633046" cy="584775"/>
          </a:xfrm>
          <a:prstGeom prst="rect">
            <a:avLst/>
          </a:prstGeom>
          <a:noFill/>
        </p:spPr>
        <p:txBody>
          <a:bodyPr wrap="square" rtlCol="0">
            <a:spAutoFit/>
          </a:bodyPr>
          <a:lstStyle/>
          <a:p>
            <a:r>
              <a:rPr lang="af-ZA" sz="3200" b="1" dirty="0"/>
              <a:t>T</a:t>
            </a:r>
            <a:endParaRPr lang="en-IN" sz="3200" b="1" dirty="0"/>
          </a:p>
        </p:txBody>
      </p:sp>
    </p:spTree>
    <p:extLst>
      <p:ext uri="{BB962C8B-B14F-4D97-AF65-F5344CB8AC3E}">
        <p14:creationId xmlns:p14="http://schemas.microsoft.com/office/powerpoint/2010/main" val="691312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6" name="Google Shape;507;p4"/>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4" name="TextBox 3"/>
          <p:cNvSpPr txBox="1"/>
          <p:nvPr/>
        </p:nvSpPr>
        <p:spPr>
          <a:xfrm>
            <a:off x="8748346" y="1547454"/>
            <a:ext cx="1828800" cy="369332"/>
          </a:xfrm>
          <a:prstGeom prst="rect">
            <a:avLst/>
          </a:prstGeom>
          <a:noFill/>
        </p:spPr>
        <p:txBody>
          <a:bodyPr wrap="square" rtlCol="0">
            <a:spAutoFit/>
          </a:bodyPr>
          <a:lstStyle/>
          <a:p>
            <a:pPr algn="ctr"/>
            <a:r>
              <a:rPr lang="af-ZA" sz="1800" b="1" dirty="0"/>
              <a:t>Output</a:t>
            </a:r>
            <a:endParaRPr lang="en-IN" sz="1800" b="1" dirty="0"/>
          </a:p>
        </p:txBody>
      </p:sp>
      <p:sp>
        <p:nvSpPr>
          <p:cNvPr id="22" name="Google Shape;507;p4"/>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used the cholesky module from numpy.linalg. Also, we have to make sure the matrix is positive definite matrix in order to get the efficient results. </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1444" y="1602108"/>
            <a:ext cx="4629272" cy="3196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6352" y="2598185"/>
            <a:ext cx="3216300" cy="1204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962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Shape 498"/>
        <p:cNvGrpSpPr/>
        <p:nvPr/>
      </p:nvGrpSpPr>
      <p:grpSpPr>
        <a:xfrm>
          <a:off x="0" y="0"/>
          <a:ext cx="0" cy="0"/>
          <a:chOff x="0" y="0"/>
          <a:chExt cx="0" cy="0"/>
        </a:xfrm>
      </p:grpSpPr>
      <p:sp>
        <p:nvSpPr>
          <p:cNvPr id="499" name="Google Shape;499;p3"/>
          <p:cNvSpPr txBox="1">
            <a:spLocks noGrp="1"/>
          </p:cNvSpPr>
          <p:nvPr>
            <p:ph type="body" idx="1"/>
          </p:nvPr>
        </p:nvSpPr>
        <p:spPr>
          <a:xfrm>
            <a:off x="1863627" y="2559666"/>
            <a:ext cx="8312980" cy="769275"/>
          </a:xfrm>
          <a:prstGeom prst="rect">
            <a:avLst/>
          </a:prstGeom>
          <a:noFill/>
          <a:ln>
            <a:noFill/>
          </a:ln>
        </p:spPr>
        <p:txBody>
          <a:bodyPr spcFirstLastPara="1" wrap="square" lIns="0" tIns="45700" rIns="91425" bIns="45700" anchor="ctr" anchorCtr="0">
            <a:noAutofit/>
          </a:bodyPr>
          <a:lstStyle/>
          <a:p>
            <a:pPr marL="0" lvl="0" indent="0" algn="ctr" rtl="0">
              <a:lnSpc>
                <a:spcPct val="90000"/>
              </a:lnSpc>
              <a:spcBef>
                <a:spcPts val="0"/>
              </a:spcBef>
              <a:spcAft>
                <a:spcPts val="0"/>
              </a:spcAft>
              <a:buClr>
                <a:srgbClr val="7F7F7F"/>
              </a:buClr>
              <a:buSzPts val="5300"/>
              <a:buNone/>
            </a:pPr>
            <a:r>
              <a:rPr lang="en-US" dirty="0"/>
              <a:t>Eigen Values And Eigen Vectors</a:t>
            </a:r>
            <a:endParaRPr dirty="0"/>
          </a:p>
        </p:txBody>
      </p:sp>
    </p:spTree>
    <p:extLst>
      <p:ext uri="{BB962C8B-B14F-4D97-AF65-F5344CB8AC3E}">
        <p14:creationId xmlns:p14="http://schemas.microsoft.com/office/powerpoint/2010/main" val="3120158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Characteristic Polynomial</a:t>
            </a:r>
          </a:p>
        </p:txBody>
      </p:sp>
      <p:sp>
        <p:nvSpPr>
          <p:cNvPr id="3" name="Google Shape;507;p4"/>
          <p:cNvSpPr/>
          <p:nvPr/>
        </p:nvSpPr>
        <p:spPr>
          <a:xfrm>
            <a:off x="1072663" y="1345224"/>
            <a:ext cx="9944100" cy="152106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A characteristic polynomial is used to derive the Eigen values of a given matrix. The characteristic polynomial of a matrix A is denoted by the function given below.</a:t>
            </a:r>
          </a:p>
        </p:txBody>
      </p:sp>
      <p:sp>
        <p:nvSpPr>
          <p:cNvPr id="5" name="Google Shape;507;p4"/>
          <p:cNvSpPr/>
          <p:nvPr/>
        </p:nvSpPr>
        <p:spPr>
          <a:xfrm>
            <a:off x="1072663" y="4776910"/>
            <a:ext cx="9944100" cy="152106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The  characteristic polynomial of the square matrix A is given by the function f(</a:t>
            </a:r>
            <a:r>
              <a:rPr lang="el-GR" sz="2000" dirty="0">
                <a:latin typeface="Calibri"/>
                <a:ea typeface="Calibri"/>
                <a:cs typeface="Calibri"/>
                <a:sym typeface="Calibri"/>
              </a:rPr>
              <a:t>λ</a:t>
            </a:r>
            <a:r>
              <a:rPr lang="af-ZA" sz="2000" dirty="0">
                <a:latin typeface="Calibri"/>
                <a:ea typeface="Calibri"/>
                <a:cs typeface="Calibri"/>
                <a:sym typeface="Calibri"/>
              </a:rPr>
              <a:t>), and the I is the identity matrix. The whole objective of using the characteristic polynomial is to find the Eigen values of the given matrix. </a:t>
            </a:r>
            <a:endParaRPr lang="en-US" sz="2000" dirty="0">
              <a:latin typeface="Calibri"/>
              <a:ea typeface="Calibri"/>
              <a:cs typeface="Calibri"/>
              <a:sym typeface="Calibri"/>
            </a:endParaRPr>
          </a:p>
        </p:txBody>
      </p:sp>
      <p:grpSp>
        <p:nvGrpSpPr>
          <p:cNvPr id="4" name="Group 3"/>
          <p:cNvGrpSpPr/>
          <p:nvPr/>
        </p:nvGrpSpPr>
        <p:grpSpPr>
          <a:xfrm>
            <a:off x="2613461" y="3050932"/>
            <a:ext cx="6724511" cy="1594094"/>
            <a:chOff x="2613461" y="3050932"/>
            <a:chExt cx="6724511" cy="1594094"/>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3461" y="3050932"/>
              <a:ext cx="6724511" cy="159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lowchart: Alternate Process 1"/>
            <p:cNvSpPr/>
            <p:nvPr/>
          </p:nvSpPr>
          <p:spPr>
            <a:xfrm>
              <a:off x="7825154" y="3754315"/>
              <a:ext cx="193431" cy="378070"/>
            </a:xfrm>
            <a:prstGeom prst="flowChartAlternateProces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659831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Eigen Value </a:t>
            </a:r>
          </a:p>
        </p:txBody>
      </p:sp>
      <p:sp>
        <p:nvSpPr>
          <p:cNvPr id="3" name="Google Shape;507;p4"/>
          <p:cNvSpPr/>
          <p:nvPr/>
        </p:nvSpPr>
        <p:spPr>
          <a:xfrm>
            <a:off x="1072663" y="1345224"/>
            <a:ext cx="9944100" cy="152106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Eigen values are the roots of the characteristic polynomial of the matrix A. Let’s understand this with a simple example.</a:t>
            </a:r>
          </a:p>
        </p:txBody>
      </p:sp>
      <p:grpSp>
        <p:nvGrpSpPr>
          <p:cNvPr id="4" name="Group 3"/>
          <p:cNvGrpSpPr/>
          <p:nvPr/>
        </p:nvGrpSpPr>
        <p:grpSpPr>
          <a:xfrm>
            <a:off x="1509846" y="3793878"/>
            <a:ext cx="2611315" cy="2110159"/>
            <a:chOff x="4423877" y="3182812"/>
            <a:chExt cx="2611315" cy="2593731"/>
          </a:xfrm>
        </p:grpSpPr>
        <p:sp>
          <p:nvSpPr>
            <p:cNvPr id="5" name="Left Bracket 4"/>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 name="Right Bracket 5"/>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8" name="Table 7"/>
          <p:cNvGraphicFramePr>
            <a:graphicFrameLocks noGrp="1"/>
          </p:cNvGraphicFramePr>
          <p:nvPr>
            <p:extLst>
              <p:ext uri="{D42A27DB-BD31-4B8C-83A1-F6EECF244321}">
                <p14:modId xmlns:p14="http://schemas.microsoft.com/office/powerpoint/2010/main" val="2288626279"/>
              </p:ext>
            </p:extLst>
          </p:nvPr>
        </p:nvGraphicFramePr>
        <p:xfrm>
          <a:off x="1765798" y="3955886"/>
          <a:ext cx="2161932" cy="1786142"/>
        </p:xfrm>
        <a:graphic>
          <a:graphicData uri="http://schemas.openxmlformats.org/drawingml/2006/table">
            <a:tbl>
              <a:tblPr firstRow="1" bandRow="1">
                <a:tableStyleId>{2D5ABB26-0587-4C30-8999-92F81FD0307C}</a:tableStyleId>
              </a:tblPr>
              <a:tblGrid>
                <a:gridCol w="1080966">
                  <a:extLst>
                    <a:ext uri="{9D8B030D-6E8A-4147-A177-3AD203B41FA5}">
                      <a16:colId xmlns="" xmlns:a16="http://schemas.microsoft.com/office/drawing/2014/main" val="20000"/>
                    </a:ext>
                  </a:extLst>
                </a:gridCol>
                <a:gridCol w="1080966">
                  <a:extLst>
                    <a:ext uri="{9D8B030D-6E8A-4147-A177-3AD203B41FA5}">
                      <a16:colId xmlns="" xmlns:a16="http://schemas.microsoft.com/office/drawing/2014/main" val="20001"/>
                    </a:ext>
                  </a:extLst>
                </a:gridCol>
              </a:tblGrid>
              <a:tr h="893071">
                <a:tc>
                  <a:txBody>
                    <a:bodyPr/>
                    <a:lstStyle/>
                    <a:p>
                      <a:pPr algn="ctr"/>
                      <a:r>
                        <a:rPr lang="af-ZA" sz="3600" b="1" i="0" dirty="0">
                          <a:solidFill>
                            <a:schemeClr val="tx1"/>
                          </a:solidFill>
                        </a:rPr>
                        <a:t>2</a:t>
                      </a:r>
                      <a:endParaRPr lang="en-IN" sz="3600" b="1" i="0" dirty="0">
                        <a:solidFill>
                          <a:schemeClr val="tx1"/>
                        </a:solidFill>
                      </a:endParaRPr>
                    </a:p>
                  </a:txBody>
                  <a:tcPr anchor="ctr"/>
                </a:tc>
                <a:tc>
                  <a:txBody>
                    <a:bodyPr/>
                    <a:lstStyle/>
                    <a:p>
                      <a:pPr algn="ctr"/>
                      <a:r>
                        <a:rPr lang="af-ZA" sz="3600" b="1" i="0" dirty="0">
                          <a:solidFill>
                            <a:schemeClr val="tx1"/>
                          </a:solidFill>
                        </a:rPr>
                        <a:t>1</a:t>
                      </a:r>
                      <a:endParaRPr lang="en-IN" sz="3600" b="1" i="0" dirty="0">
                        <a:solidFill>
                          <a:schemeClr val="tx1"/>
                        </a:solidFill>
                      </a:endParaRPr>
                    </a:p>
                  </a:txBody>
                  <a:tcPr anchor="ctr"/>
                </a:tc>
                <a:extLst>
                  <a:ext uri="{0D108BD9-81ED-4DB2-BD59-A6C34878D82A}">
                    <a16:rowId xmlns="" xmlns:a16="http://schemas.microsoft.com/office/drawing/2014/main" val="10000"/>
                  </a:ext>
                </a:extLst>
              </a:tr>
              <a:tr h="893071">
                <a:tc>
                  <a:txBody>
                    <a:bodyPr/>
                    <a:lstStyle/>
                    <a:p>
                      <a:pPr algn="ctr"/>
                      <a:r>
                        <a:rPr lang="af-ZA" sz="3600" b="1" i="0" dirty="0">
                          <a:solidFill>
                            <a:schemeClr val="tx1"/>
                          </a:solidFill>
                        </a:rPr>
                        <a:t>4</a:t>
                      </a:r>
                      <a:endParaRPr lang="en-IN" sz="3600" b="1" i="0" dirty="0">
                        <a:solidFill>
                          <a:schemeClr val="tx1"/>
                        </a:solidFill>
                      </a:endParaRPr>
                    </a:p>
                  </a:txBody>
                  <a:tcPr anchor="ctr"/>
                </a:tc>
                <a:tc>
                  <a:txBody>
                    <a:bodyPr/>
                    <a:lstStyle/>
                    <a:p>
                      <a:pPr algn="ctr"/>
                      <a:r>
                        <a:rPr lang="af-ZA" sz="3600" b="1" i="0" dirty="0">
                          <a:solidFill>
                            <a:schemeClr val="tx1"/>
                          </a:solidFill>
                        </a:rPr>
                        <a:t>3</a:t>
                      </a:r>
                      <a:endParaRPr lang="en-IN" sz="3600" b="1" i="0" dirty="0">
                        <a:solidFill>
                          <a:schemeClr val="tx1"/>
                        </a:solidFill>
                      </a:endParaRPr>
                    </a:p>
                  </a:txBody>
                  <a:tcPr anchor="ctr"/>
                </a:tc>
                <a:extLst>
                  <a:ext uri="{0D108BD9-81ED-4DB2-BD59-A6C34878D82A}">
                    <a16:rowId xmlns="" xmlns:a16="http://schemas.microsoft.com/office/drawing/2014/main" val="10001"/>
                  </a:ext>
                </a:extLst>
              </a:tr>
            </a:tbl>
          </a:graphicData>
        </a:graphic>
      </p:graphicFrame>
      <p:sp>
        <p:nvSpPr>
          <p:cNvPr id="9" name="Google Shape;507;p4"/>
          <p:cNvSpPr/>
          <p:nvPr/>
        </p:nvSpPr>
        <p:spPr>
          <a:xfrm>
            <a:off x="6277709" y="3894992"/>
            <a:ext cx="4739054" cy="190792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To calculate the Eigen values of the given matrix, we will first compute the characteristic polynomial and then derive the Eigen values by finding the roots of the Characteristic polynomial.</a:t>
            </a:r>
          </a:p>
        </p:txBody>
      </p:sp>
    </p:spTree>
    <p:extLst>
      <p:ext uri="{BB962C8B-B14F-4D97-AF65-F5344CB8AC3E}">
        <p14:creationId xmlns:p14="http://schemas.microsoft.com/office/powerpoint/2010/main" val="810978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Eigen Value </a:t>
            </a:r>
          </a:p>
        </p:txBody>
      </p:sp>
      <p:grpSp>
        <p:nvGrpSpPr>
          <p:cNvPr id="4" name="Group 3"/>
          <p:cNvGrpSpPr/>
          <p:nvPr/>
        </p:nvGrpSpPr>
        <p:grpSpPr>
          <a:xfrm>
            <a:off x="1270022" y="1340824"/>
            <a:ext cx="2611315" cy="2110159"/>
            <a:chOff x="4423877" y="3182812"/>
            <a:chExt cx="2611315" cy="2593731"/>
          </a:xfrm>
        </p:grpSpPr>
        <p:sp>
          <p:nvSpPr>
            <p:cNvPr id="5" name="Left Bracket 4"/>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 name="Right Bracket 5"/>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8" name="Table 7"/>
          <p:cNvGraphicFramePr>
            <a:graphicFrameLocks noGrp="1"/>
          </p:cNvGraphicFramePr>
          <p:nvPr>
            <p:extLst>
              <p:ext uri="{D42A27DB-BD31-4B8C-83A1-F6EECF244321}">
                <p14:modId xmlns:p14="http://schemas.microsoft.com/office/powerpoint/2010/main" val="1850924723"/>
              </p:ext>
            </p:extLst>
          </p:nvPr>
        </p:nvGraphicFramePr>
        <p:xfrm>
          <a:off x="1525974" y="1502832"/>
          <a:ext cx="2161932" cy="1786142"/>
        </p:xfrm>
        <a:graphic>
          <a:graphicData uri="http://schemas.openxmlformats.org/drawingml/2006/table">
            <a:tbl>
              <a:tblPr firstRow="1" bandRow="1">
                <a:tableStyleId>{2D5ABB26-0587-4C30-8999-92F81FD0307C}</a:tableStyleId>
              </a:tblPr>
              <a:tblGrid>
                <a:gridCol w="1080966">
                  <a:extLst>
                    <a:ext uri="{9D8B030D-6E8A-4147-A177-3AD203B41FA5}">
                      <a16:colId xmlns="" xmlns:a16="http://schemas.microsoft.com/office/drawing/2014/main" val="20000"/>
                    </a:ext>
                  </a:extLst>
                </a:gridCol>
                <a:gridCol w="1080966">
                  <a:extLst>
                    <a:ext uri="{9D8B030D-6E8A-4147-A177-3AD203B41FA5}">
                      <a16:colId xmlns="" xmlns:a16="http://schemas.microsoft.com/office/drawing/2014/main" val="20001"/>
                    </a:ext>
                  </a:extLst>
                </a:gridCol>
              </a:tblGrid>
              <a:tr h="893071">
                <a:tc>
                  <a:txBody>
                    <a:bodyPr/>
                    <a:lstStyle/>
                    <a:p>
                      <a:pPr algn="ctr"/>
                      <a:r>
                        <a:rPr lang="af-ZA" sz="3600" b="1" i="0" dirty="0">
                          <a:solidFill>
                            <a:schemeClr val="tx1"/>
                          </a:solidFill>
                        </a:rPr>
                        <a:t>5</a:t>
                      </a:r>
                      <a:endParaRPr lang="en-IN" sz="3600" b="1" i="0" dirty="0">
                        <a:solidFill>
                          <a:schemeClr val="tx1"/>
                        </a:solidFill>
                      </a:endParaRPr>
                    </a:p>
                  </a:txBody>
                  <a:tcPr anchor="ctr"/>
                </a:tc>
                <a:tc>
                  <a:txBody>
                    <a:bodyPr/>
                    <a:lstStyle/>
                    <a:p>
                      <a:pPr algn="ctr"/>
                      <a:r>
                        <a:rPr lang="af-ZA" sz="3600" b="1" i="0" dirty="0">
                          <a:solidFill>
                            <a:schemeClr val="tx1"/>
                          </a:solidFill>
                        </a:rPr>
                        <a:t>2</a:t>
                      </a:r>
                      <a:endParaRPr lang="en-IN" sz="3600" b="1" i="0" dirty="0">
                        <a:solidFill>
                          <a:schemeClr val="tx1"/>
                        </a:solidFill>
                      </a:endParaRPr>
                    </a:p>
                  </a:txBody>
                  <a:tcPr anchor="ctr"/>
                </a:tc>
                <a:extLst>
                  <a:ext uri="{0D108BD9-81ED-4DB2-BD59-A6C34878D82A}">
                    <a16:rowId xmlns="" xmlns:a16="http://schemas.microsoft.com/office/drawing/2014/main" val="10000"/>
                  </a:ext>
                </a:extLst>
              </a:tr>
              <a:tr h="893071">
                <a:tc>
                  <a:txBody>
                    <a:bodyPr/>
                    <a:lstStyle/>
                    <a:p>
                      <a:pPr algn="ctr"/>
                      <a:r>
                        <a:rPr lang="af-ZA" sz="3600" b="1" i="0" dirty="0">
                          <a:solidFill>
                            <a:schemeClr val="tx1"/>
                          </a:solidFill>
                        </a:rPr>
                        <a:t>2</a:t>
                      </a:r>
                      <a:endParaRPr lang="en-IN" sz="3600" b="1" i="0" dirty="0">
                        <a:solidFill>
                          <a:schemeClr val="tx1"/>
                        </a:solidFill>
                      </a:endParaRPr>
                    </a:p>
                  </a:txBody>
                  <a:tcPr anchor="ctr"/>
                </a:tc>
                <a:tc>
                  <a:txBody>
                    <a:bodyPr/>
                    <a:lstStyle/>
                    <a:p>
                      <a:pPr algn="ctr"/>
                      <a:r>
                        <a:rPr lang="af-ZA" sz="3600" b="1" i="0" dirty="0">
                          <a:solidFill>
                            <a:schemeClr val="tx1"/>
                          </a:solidFill>
                        </a:rPr>
                        <a:t>1</a:t>
                      </a:r>
                      <a:endParaRPr lang="en-IN" sz="3600" b="1" i="0" dirty="0">
                        <a:solidFill>
                          <a:schemeClr val="tx1"/>
                        </a:solidFill>
                      </a:endParaRPr>
                    </a:p>
                  </a:txBody>
                  <a:tcPr anchor="ctr"/>
                </a:tc>
                <a:extLst>
                  <a:ext uri="{0D108BD9-81ED-4DB2-BD59-A6C34878D82A}">
                    <a16:rowId xmlns="" xmlns:a16="http://schemas.microsoft.com/office/drawing/2014/main" val="10001"/>
                  </a:ext>
                </a:extLst>
              </a:tr>
            </a:tbl>
          </a:graphicData>
        </a:graphic>
      </p:graphicFrame>
      <p:sp>
        <p:nvSpPr>
          <p:cNvPr id="9" name="Google Shape;507;p4"/>
          <p:cNvSpPr/>
          <p:nvPr/>
        </p:nvSpPr>
        <p:spPr>
          <a:xfrm>
            <a:off x="5249009" y="1226524"/>
            <a:ext cx="5697414" cy="291465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To find the characteristic polynomial, we will calculate the determinant of (A - </a:t>
            </a:r>
            <a:r>
              <a:rPr lang="el-GR" sz="2000" dirty="0">
                <a:latin typeface="Calibri"/>
                <a:ea typeface="Calibri"/>
                <a:cs typeface="Calibri"/>
                <a:sym typeface="Calibri"/>
              </a:rPr>
              <a:t>λ</a:t>
            </a:r>
            <a:r>
              <a:rPr lang="af-ZA" sz="2000" dirty="0">
                <a:latin typeface="Calibri"/>
                <a:ea typeface="Calibri"/>
                <a:cs typeface="Calibri"/>
                <a:sym typeface="Calibri"/>
              </a:rPr>
              <a:t>I</a:t>
            </a:r>
            <a:r>
              <a:rPr lang="af-ZA" sz="2000" baseline="-25000" dirty="0">
                <a:latin typeface="Calibri"/>
                <a:ea typeface="Calibri"/>
                <a:cs typeface="Calibri"/>
                <a:sym typeface="Calibri"/>
              </a:rPr>
              <a:t>n</a:t>
            </a:r>
            <a:r>
              <a:rPr lang="en-US" sz="2000" dirty="0">
                <a:latin typeface="Calibri"/>
                <a:ea typeface="Calibri"/>
                <a:cs typeface="Calibri"/>
                <a:sym typeface="Calibri"/>
              </a:rPr>
              <a:t> ).</a:t>
            </a:r>
          </a:p>
          <a:p>
            <a:pPr marL="0" marR="0" lvl="0" indent="0" algn="ctr" rtl="0">
              <a:spcBef>
                <a:spcPts val="0"/>
              </a:spcBef>
              <a:spcAft>
                <a:spcPts val="0"/>
              </a:spcAft>
              <a:buNone/>
            </a:pPr>
            <a:endParaRPr lang="en-US" sz="2000" dirty="0">
              <a:latin typeface="Calibri"/>
              <a:ea typeface="Calibri"/>
              <a:cs typeface="Calibri"/>
              <a:sym typeface="Calibri"/>
            </a:endParaRPr>
          </a:p>
          <a:p>
            <a:pPr marL="0" marR="0" lvl="0" indent="0" algn="ctr" rtl="0">
              <a:spcBef>
                <a:spcPts val="0"/>
              </a:spcBef>
              <a:spcAft>
                <a:spcPts val="0"/>
              </a:spcAft>
              <a:buNone/>
            </a:pPr>
            <a:r>
              <a:rPr lang="en-US" sz="2000" dirty="0">
                <a:latin typeface="Calibri"/>
                <a:ea typeface="Calibri"/>
                <a:cs typeface="Calibri"/>
                <a:sym typeface="Calibri"/>
              </a:rPr>
              <a:t>The computation will get the resultant characteristic polynomial as:</a:t>
            </a:r>
          </a:p>
          <a:p>
            <a:pPr marL="0" marR="0" lvl="0" indent="0" algn="ctr" rtl="0">
              <a:spcBef>
                <a:spcPts val="0"/>
              </a:spcBef>
              <a:spcAft>
                <a:spcPts val="0"/>
              </a:spcAft>
              <a:buNone/>
            </a:pPr>
            <a:endParaRPr lang="en-US" sz="2000" dirty="0">
              <a:latin typeface="Calibri"/>
              <a:ea typeface="Calibri"/>
              <a:cs typeface="Calibri"/>
              <a:sym typeface="Calibri"/>
            </a:endParaRPr>
          </a:p>
          <a:p>
            <a:pPr lvl="0" algn="ctr"/>
            <a:r>
              <a:rPr lang="af-ZA" sz="3600" dirty="0">
                <a:latin typeface="Calibri"/>
                <a:ea typeface="Calibri"/>
                <a:cs typeface="Calibri"/>
                <a:sym typeface="Calibri"/>
              </a:rPr>
              <a:t>f(</a:t>
            </a:r>
            <a:r>
              <a:rPr lang="el-GR" sz="3600" dirty="0">
                <a:latin typeface="Calibri"/>
                <a:ea typeface="Calibri"/>
                <a:cs typeface="Calibri"/>
                <a:sym typeface="Calibri"/>
              </a:rPr>
              <a:t>λ </a:t>
            </a:r>
            <a:r>
              <a:rPr lang="af-ZA" sz="3600" dirty="0">
                <a:latin typeface="Calibri"/>
                <a:ea typeface="Calibri"/>
                <a:cs typeface="Calibri"/>
                <a:sym typeface="Calibri"/>
              </a:rPr>
              <a:t>) = </a:t>
            </a:r>
            <a:r>
              <a:rPr lang="el-GR" sz="3600" dirty="0">
                <a:latin typeface="Calibri"/>
                <a:ea typeface="Calibri"/>
                <a:cs typeface="Calibri"/>
                <a:sym typeface="Calibri"/>
              </a:rPr>
              <a:t>λ</a:t>
            </a:r>
            <a:r>
              <a:rPr lang="af-ZA" sz="3600" baseline="30000" dirty="0">
                <a:latin typeface="Calibri"/>
                <a:ea typeface="Calibri"/>
                <a:cs typeface="Calibri"/>
                <a:sym typeface="Calibri"/>
              </a:rPr>
              <a:t>2</a:t>
            </a:r>
            <a:r>
              <a:rPr lang="af-ZA" sz="3600" dirty="0">
                <a:latin typeface="Calibri"/>
                <a:ea typeface="Calibri"/>
                <a:cs typeface="Calibri"/>
                <a:sym typeface="Calibri"/>
              </a:rPr>
              <a:t> - 6</a:t>
            </a:r>
            <a:r>
              <a:rPr lang="el-GR" sz="3600" dirty="0">
                <a:latin typeface="Calibri"/>
                <a:ea typeface="Calibri"/>
                <a:cs typeface="Calibri"/>
                <a:sym typeface="Calibri"/>
              </a:rPr>
              <a:t> λ</a:t>
            </a:r>
            <a:r>
              <a:rPr lang="af-ZA" sz="3600" dirty="0">
                <a:latin typeface="Calibri"/>
                <a:ea typeface="Calibri"/>
                <a:cs typeface="Calibri"/>
                <a:sym typeface="Calibri"/>
              </a:rPr>
              <a:t> +1</a:t>
            </a:r>
            <a:endParaRPr lang="en-US" sz="3600" dirty="0">
              <a:latin typeface="Calibri"/>
              <a:ea typeface="Calibri"/>
              <a:cs typeface="Calibri"/>
              <a:sym typeface="Calibri"/>
            </a:endParaRPr>
          </a:p>
        </p:txBody>
      </p:sp>
      <p:sp>
        <p:nvSpPr>
          <p:cNvPr id="10" name="Google Shape;507;p4"/>
          <p:cNvSpPr/>
          <p:nvPr/>
        </p:nvSpPr>
        <p:spPr>
          <a:xfrm>
            <a:off x="1072663" y="4776910"/>
            <a:ext cx="9944100" cy="152106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Now, to find the eigen values, we will calculate the roots of the characteristic polynomial.</a:t>
            </a:r>
            <a:endParaRPr lang="en-US" sz="2000" dirty="0">
              <a:latin typeface="Calibri"/>
              <a:ea typeface="Calibri"/>
              <a:cs typeface="Calibri"/>
              <a:sym typeface="Calibri"/>
            </a:endParaRPr>
          </a:p>
        </p:txBody>
      </p:sp>
    </p:spTree>
    <p:extLst>
      <p:ext uri="{BB962C8B-B14F-4D97-AF65-F5344CB8AC3E}">
        <p14:creationId xmlns:p14="http://schemas.microsoft.com/office/powerpoint/2010/main" val="1218406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Eigen Values</a:t>
            </a:r>
          </a:p>
        </p:txBody>
      </p:sp>
      <p:grpSp>
        <p:nvGrpSpPr>
          <p:cNvPr id="3" name="Group 2"/>
          <p:cNvGrpSpPr/>
          <p:nvPr/>
        </p:nvGrpSpPr>
        <p:grpSpPr>
          <a:xfrm>
            <a:off x="1270022" y="1340824"/>
            <a:ext cx="2611315" cy="2110159"/>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6" name="Table 5"/>
          <p:cNvGraphicFramePr>
            <a:graphicFrameLocks noGrp="1"/>
          </p:cNvGraphicFramePr>
          <p:nvPr>
            <p:extLst>
              <p:ext uri="{D42A27DB-BD31-4B8C-83A1-F6EECF244321}">
                <p14:modId xmlns:p14="http://schemas.microsoft.com/office/powerpoint/2010/main" val="3167366738"/>
              </p:ext>
            </p:extLst>
          </p:nvPr>
        </p:nvGraphicFramePr>
        <p:xfrm>
          <a:off x="1525974" y="1502832"/>
          <a:ext cx="2161932" cy="1786142"/>
        </p:xfrm>
        <a:graphic>
          <a:graphicData uri="http://schemas.openxmlformats.org/drawingml/2006/table">
            <a:tbl>
              <a:tblPr firstRow="1" bandRow="1">
                <a:tableStyleId>{2D5ABB26-0587-4C30-8999-92F81FD0307C}</a:tableStyleId>
              </a:tblPr>
              <a:tblGrid>
                <a:gridCol w="1080966">
                  <a:extLst>
                    <a:ext uri="{9D8B030D-6E8A-4147-A177-3AD203B41FA5}">
                      <a16:colId xmlns="" xmlns:a16="http://schemas.microsoft.com/office/drawing/2014/main" val="20000"/>
                    </a:ext>
                  </a:extLst>
                </a:gridCol>
                <a:gridCol w="1080966">
                  <a:extLst>
                    <a:ext uri="{9D8B030D-6E8A-4147-A177-3AD203B41FA5}">
                      <a16:colId xmlns="" xmlns:a16="http://schemas.microsoft.com/office/drawing/2014/main" val="20001"/>
                    </a:ext>
                  </a:extLst>
                </a:gridCol>
              </a:tblGrid>
              <a:tr h="893071">
                <a:tc>
                  <a:txBody>
                    <a:bodyPr/>
                    <a:lstStyle/>
                    <a:p>
                      <a:pPr algn="ctr"/>
                      <a:r>
                        <a:rPr lang="af-ZA" sz="3600" b="1" i="0" dirty="0">
                          <a:solidFill>
                            <a:schemeClr val="tx1"/>
                          </a:solidFill>
                        </a:rPr>
                        <a:t>5</a:t>
                      </a:r>
                      <a:endParaRPr lang="en-IN" sz="3600" b="1" i="0" dirty="0">
                        <a:solidFill>
                          <a:schemeClr val="tx1"/>
                        </a:solidFill>
                      </a:endParaRPr>
                    </a:p>
                  </a:txBody>
                  <a:tcPr anchor="ctr"/>
                </a:tc>
                <a:tc>
                  <a:txBody>
                    <a:bodyPr/>
                    <a:lstStyle/>
                    <a:p>
                      <a:pPr algn="ctr"/>
                      <a:r>
                        <a:rPr lang="af-ZA" sz="3600" b="1" i="0" dirty="0">
                          <a:solidFill>
                            <a:schemeClr val="tx1"/>
                          </a:solidFill>
                        </a:rPr>
                        <a:t>2</a:t>
                      </a:r>
                      <a:endParaRPr lang="en-IN" sz="3600" b="1" i="0" dirty="0">
                        <a:solidFill>
                          <a:schemeClr val="tx1"/>
                        </a:solidFill>
                      </a:endParaRPr>
                    </a:p>
                  </a:txBody>
                  <a:tcPr anchor="ctr"/>
                </a:tc>
                <a:extLst>
                  <a:ext uri="{0D108BD9-81ED-4DB2-BD59-A6C34878D82A}">
                    <a16:rowId xmlns="" xmlns:a16="http://schemas.microsoft.com/office/drawing/2014/main" val="10000"/>
                  </a:ext>
                </a:extLst>
              </a:tr>
              <a:tr h="893071">
                <a:tc>
                  <a:txBody>
                    <a:bodyPr/>
                    <a:lstStyle/>
                    <a:p>
                      <a:pPr algn="ctr"/>
                      <a:r>
                        <a:rPr lang="af-ZA" sz="3600" b="1" i="0" dirty="0">
                          <a:solidFill>
                            <a:schemeClr val="tx1"/>
                          </a:solidFill>
                        </a:rPr>
                        <a:t>2</a:t>
                      </a:r>
                      <a:endParaRPr lang="en-IN" sz="3600" b="1" i="0" dirty="0">
                        <a:solidFill>
                          <a:schemeClr val="tx1"/>
                        </a:solidFill>
                      </a:endParaRPr>
                    </a:p>
                  </a:txBody>
                  <a:tcPr anchor="ctr"/>
                </a:tc>
                <a:tc>
                  <a:txBody>
                    <a:bodyPr/>
                    <a:lstStyle/>
                    <a:p>
                      <a:pPr algn="ctr"/>
                      <a:r>
                        <a:rPr lang="af-ZA" sz="3600" b="1" i="0" dirty="0">
                          <a:solidFill>
                            <a:schemeClr val="tx1"/>
                          </a:solidFill>
                        </a:rPr>
                        <a:t>1</a:t>
                      </a:r>
                      <a:endParaRPr lang="en-IN" sz="3600" b="1" i="0" dirty="0">
                        <a:solidFill>
                          <a:schemeClr val="tx1"/>
                        </a:solidFill>
                      </a:endParaRPr>
                    </a:p>
                  </a:txBody>
                  <a:tcPr anchor="ctr"/>
                </a:tc>
                <a:extLst>
                  <a:ext uri="{0D108BD9-81ED-4DB2-BD59-A6C34878D82A}">
                    <a16:rowId xmlns="" xmlns:a16="http://schemas.microsoft.com/office/drawing/2014/main" val="10001"/>
                  </a:ext>
                </a:extLst>
              </a:tr>
            </a:tbl>
          </a:graphicData>
        </a:graphic>
      </p:graphicFrame>
      <p:sp>
        <p:nvSpPr>
          <p:cNvPr id="8" name="Google Shape;507;p4"/>
          <p:cNvSpPr/>
          <p:nvPr/>
        </p:nvSpPr>
        <p:spPr>
          <a:xfrm>
            <a:off x="5090748" y="1226524"/>
            <a:ext cx="6279416" cy="291465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lvl="0" algn="ctr"/>
            <a:r>
              <a:rPr lang="af-ZA" sz="3600" dirty="0">
                <a:latin typeface="Calibri"/>
                <a:ea typeface="Calibri"/>
                <a:cs typeface="Calibri"/>
                <a:sym typeface="Calibri"/>
              </a:rPr>
              <a:t>f(</a:t>
            </a:r>
            <a:r>
              <a:rPr lang="el-GR" sz="3600" dirty="0">
                <a:latin typeface="Calibri"/>
                <a:ea typeface="Calibri"/>
                <a:cs typeface="Calibri"/>
                <a:sym typeface="Calibri"/>
              </a:rPr>
              <a:t>λ </a:t>
            </a:r>
            <a:r>
              <a:rPr lang="af-ZA" sz="3600" dirty="0">
                <a:latin typeface="Calibri"/>
                <a:ea typeface="Calibri"/>
                <a:cs typeface="Calibri"/>
                <a:sym typeface="Calibri"/>
              </a:rPr>
              <a:t>) = </a:t>
            </a:r>
            <a:r>
              <a:rPr lang="el-GR" sz="3600" dirty="0">
                <a:latin typeface="Calibri"/>
                <a:ea typeface="Calibri"/>
                <a:cs typeface="Calibri"/>
                <a:sym typeface="Calibri"/>
              </a:rPr>
              <a:t>λ</a:t>
            </a:r>
            <a:r>
              <a:rPr lang="af-ZA" sz="3600" baseline="30000" dirty="0">
                <a:latin typeface="Calibri"/>
                <a:ea typeface="Calibri"/>
                <a:cs typeface="Calibri"/>
                <a:sym typeface="Calibri"/>
              </a:rPr>
              <a:t>2</a:t>
            </a:r>
            <a:r>
              <a:rPr lang="af-ZA" sz="3600" dirty="0">
                <a:latin typeface="Calibri"/>
                <a:ea typeface="Calibri"/>
                <a:cs typeface="Calibri"/>
                <a:sym typeface="Calibri"/>
              </a:rPr>
              <a:t> - 6</a:t>
            </a:r>
            <a:r>
              <a:rPr lang="el-GR" sz="3600" dirty="0">
                <a:latin typeface="Calibri"/>
                <a:ea typeface="Calibri"/>
                <a:cs typeface="Calibri"/>
                <a:sym typeface="Calibri"/>
              </a:rPr>
              <a:t> λ</a:t>
            </a:r>
            <a:r>
              <a:rPr lang="af-ZA" sz="3600" dirty="0">
                <a:latin typeface="Calibri"/>
                <a:ea typeface="Calibri"/>
                <a:cs typeface="Calibri"/>
                <a:sym typeface="Calibri"/>
              </a:rPr>
              <a:t> +1</a:t>
            </a:r>
          </a:p>
          <a:p>
            <a:pPr algn="ctr"/>
            <a:r>
              <a:rPr lang="af-ZA" sz="3600" dirty="0">
                <a:latin typeface="Calibri"/>
                <a:ea typeface="Calibri"/>
                <a:cs typeface="Calibri"/>
                <a:sym typeface="Calibri"/>
              </a:rPr>
              <a:t>-&gt; </a:t>
            </a:r>
            <a:r>
              <a:rPr lang="el-GR" sz="3600" dirty="0">
                <a:latin typeface="Calibri"/>
                <a:ea typeface="Calibri"/>
                <a:cs typeface="Calibri"/>
                <a:sym typeface="Calibri"/>
              </a:rPr>
              <a:t>λ</a:t>
            </a:r>
            <a:r>
              <a:rPr lang="af-ZA" sz="3600" baseline="30000" dirty="0">
                <a:latin typeface="Calibri"/>
                <a:ea typeface="Calibri"/>
                <a:cs typeface="Calibri"/>
                <a:sym typeface="Calibri"/>
              </a:rPr>
              <a:t>2</a:t>
            </a:r>
            <a:r>
              <a:rPr lang="af-ZA" sz="3600" dirty="0">
                <a:latin typeface="Calibri"/>
                <a:ea typeface="Calibri"/>
                <a:cs typeface="Calibri"/>
                <a:sym typeface="Calibri"/>
              </a:rPr>
              <a:t> - 6</a:t>
            </a:r>
            <a:r>
              <a:rPr lang="el-GR" sz="3600" dirty="0">
                <a:latin typeface="Calibri"/>
                <a:ea typeface="Calibri"/>
                <a:cs typeface="Calibri"/>
                <a:sym typeface="Calibri"/>
              </a:rPr>
              <a:t> λ</a:t>
            </a:r>
            <a:r>
              <a:rPr lang="af-ZA" sz="3600" dirty="0">
                <a:latin typeface="Calibri"/>
                <a:ea typeface="Calibri"/>
                <a:cs typeface="Calibri"/>
                <a:sym typeface="Calibri"/>
              </a:rPr>
              <a:t> +1</a:t>
            </a:r>
            <a:r>
              <a:rPr lang="en-US" sz="3600" dirty="0">
                <a:latin typeface="Calibri"/>
                <a:ea typeface="Calibri"/>
                <a:cs typeface="Calibri"/>
                <a:sym typeface="Calibri"/>
              </a:rPr>
              <a:t> = 0</a:t>
            </a:r>
          </a:p>
          <a:p>
            <a:pPr algn="ctr"/>
            <a:r>
              <a:rPr lang="af-ZA" sz="2000" dirty="0">
                <a:latin typeface="Calibri"/>
                <a:ea typeface="Calibri"/>
                <a:cs typeface="Calibri"/>
                <a:sym typeface="Calibri"/>
              </a:rPr>
              <a:t>Using the quadratic formula, we can get the roots of the equation as </a:t>
            </a:r>
            <a:r>
              <a:rPr lang="af-ZA" sz="2000" b="1" dirty="0">
                <a:latin typeface="Calibri"/>
                <a:ea typeface="Calibri"/>
                <a:cs typeface="Calibri"/>
                <a:sym typeface="Calibri"/>
              </a:rPr>
              <a:t>3 + 2</a:t>
            </a:r>
            <a:r>
              <a:rPr lang="en-IN" sz="2000" b="1" dirty="0"/>
              <a:t>√2 and </a:t>
            </a:r>
            <a:r>
              <a:rPr lang="af-ZA" sz="2000" b="1" dirty="0">
                <a:latin typeface="Calibri"/>
                <a:ea typeface="Calibri"/>
                <a:cs typeface="Calibri"/>
                <a:sym typeface="Calibri"/>
              </a:rPr>
              <a:t>3 - 2</a:t>
            </a:r>
            <a:r>
              <a:rPr lang="en-IN" sz="2000" b="1" dirty="0"/>
              <a:t>√2</a:t>
            </a:r>
            <a:r>
              <a:rPr lang="en-IN" sz="2000" dirty="0"/>
              <a:t>.  </a:t>
            </a:r>
            <a:endParaRPr lang="af-ZA" sz="2000" dirty="0">
              <a:latin typeface="Calibri"/>
              <a:ea typeface="Calibri"/>
              <a:cs typeface="Calibri"/>
              <a:sym typeface="Calibri"/>
            </a:endParaRPr>
          </a:p>
        </p:txBody>
      </p:sp>
      <p:sp>
        <p:nvSpPr>
          <p:cNvPr id="9" name="Google Shape;507;p4"/>
          <p:cNvSpPr/>
          <p:nvPr/>
        </p:nvSpPr>
        <p:spPr>
          <a:xfrm>
            <a:off x="1072663" y="4776910"/>
            <a:ext cx="9944100" cy="152106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lvl="0" algn="ctr"/>
            <a:r>
              <a:rPr lang="af-ZA" sz="2000" dirty="0">
                <a:latin typeface="Calibri"/>
                <a:ea typeface="Calibri"/>
                <a:cs typeface="Calibri"/>
                <a:sym typeface="Calibri"/>
              </a:rPr>
              <a:t>Therefore, the Eigen values for the given matrix are </a:t>
            </a:r>
            <a:r>
              <a:rPr lang="af-ZA" sz="2000" b="1" dirty="0">
                <a:latin typeface="Calibri"/>
                <a:ea typeface="Calibri"/>
                <a:cs typeface="Calibri"/>
                <a:sym typeface="Calibri"/>
              </a:rPr>
              <a:t>3 + 2</a:t>
            </a:r>
            <a:r>
              <a:rPr lang="en-IN" sz="2000" b="1" dirty="0"/>
              <a:t>√2 and </a:t>
            </a:r>
            <a:r>
              <a:rPr lang="af-ZA" sz="2000" b="1" dirty="0">
                <a:latin typeface="Calibri"/>
                <a:ea typeface="Calibri"/>
                <a:cs typeface="Calibri"/>
                <a:sym typeface="Calibri"/>
              </a:rPr>
              <a:t>3 - 2</a:t>
            </a:r>
            <a:r>
              <a:rPr lang="en-IN" sz="2000" b="1" dirty="0"/>
              <a:t>√2</a:t>
            </a:r>
            <a:r>
              <a:rPr lang="af-ZA" sz="2000" dirty="0">
                <a:latin typeface="Calibri"/>
                <a:ea typeface="Calibri"/>
                <a:cs typeface="Calibri"/>
                <a:sym typeface="Calibri"/>
              </a:rPr>
              <a:t> </a:t>
            </a:r>
            <a:endParaRPr lang="en-US" sz="2000" dirty="0">
              <a:latin typeface="Calibri"/>
              <a:ea typeface="Calibri"/>
              <a:cs typeface="Calibri"/>
              <a:sym typeface="Calibri"/>
            </a:endParaRPr>
          </a:p>
        </p:txBody>
      </p:sp>
    </p:spTree>
    <p:extLst>
      <p:ext uri="{BB962C8B-B14F-4D97-AF65-F5344CB8AC3E}">
        <p14:creationId xmlns:p14="http://schemas.microsoft.com/office/powerpoint/2010/main" val="527722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168671"/>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Eigen </a:t>
            </a:r>
            <a:r>
              <a:rPr lang="en-US" sz="3200" b="1" dirty="0">
                <a:solidFill>
                  <a:srgbClr val="604878"/>
                </a:solidFill>
                <a:latin typeface="Raleway Light"/>
                <a:ea typeface="Raleway Light"/>
                <a:cs typeface="Raleway Light"/>
                <a:sym typeface="Raleway Light"/>
              </a:rPr>
              <a:t>Vectors </a:t>
            </a:r>
            <a:endParaRPr lang="en-US" sz="3200" b="1" i="0" u="none" strike="noStrike" cap="none" dirty="0">
              <a:solidFill>
                <a:srgbClr val="604878"/>
              </a:solidFill>
              <a:latin typeface="Raleway Light"/>
              <a:ea typeface="Raleway Light"/>
              <a:cs typeface="Raleway Light"/>
              <a:sym typeface="Raleway Light"/>
            </a:endParaRPr>
          </a:p>
        </p:txBody>
      </p:sp>
      <p:grpSp>
        <p:nvGrpSpPr>
          <p:cNvPr id="3" name="Group 2"/>
          <p:cNvGrpSpPr/>
          <p:nvPr/>
        </p:nvGrpSpPr>
        <p:grpSpPr>
          <a:xfrm>
            <a:off x="1270022" y="1340824"/>
            <a:ext cx="2611315" cy="2110159"/>
            <a:chOff x="4423877" y="3182812"/>
            <a:chExt cx="2611315" cy="2593731"/>
          </a:xfrm>
        </p:grpSpPr>
        <p:sp>
          <p:nvSpPr>
            <p:cNvPr id="4" name="Left Bracket 3"/>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ket 4"/>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6" name="Table 5"/>
          <p:cNvGraphicFramePr>
            <a:graphicFrameLocks noGrp="1"/>
          </p:cNvGraphicFramePr>
          <p:nvPr>
            <p:extLst>
              <p:ext uri="{D42A27DB-BD31-4B8C-83A1-F6EECF244321}">
                <p14:modId xmlns:p14="http://schemas.microsoft.com/office/powerpoint/2010/main" val="395779166"/>
              </p:ext>
            </p:extLst>
          </p:nvPr>
        </p:nvGraphicFramePr>
        <p:xfrm>
          <a:off x="1525974" y="1502832"/>
          <a:ext cx="2161932" cy="1786142"/>
        </p:xfrm>
        <a:graphic>
          <a:graphicData uri="http://schemas.openxmlformats.org/drawingml/2006/table">
            <a:tbl>
              <a:tblPr firstRow="1" bandRow="1">
                <a:tableStyleId>{2D5ABB26-0587-4C30-8999-92F81FD0307C}</a:tableStyleId>
              </a:tblPr>
              <a:tblGrid>
                <a:gridCol w="1080966">
                  <a:extLst>
                    <a:ext uri="{9D8B030D-6E8A-4147-A177-3AD203B41FA5}">
                      <a16:colId xmlns="" xmlns:a16="http://schemas.microsoft.com/office/drawing/2014/main" val="20000"/>
                    </a:ext>
                  </a:extLst>
                </a:gridCol>
                <a:gridCol w="1080966">
                  <a:extLst>
                    <a:ext uri="{9D8B030D-6E8A-4147-A177-3AD203B41FA5}">
                      <a16:colId xmlns="" xmlns:a16="http://schemas.microsoft.com/office/drawing/2014/main" val="20001"/>
                    </a:ext>
                  </a:extLst>
                </a:gridCol>
              </a:tblGrid>
              <a:tr h="893071">
                <a:tc>
                  <a:txBody>
                    <a:bodyPr/>
                    <a:lstStyle/>
                    <a:p>
                      <a:pPr algn="ctr"/>
                      <a:r>
                        <a:rPr lang="af-ZA" sz="3600" b="1" i="0" dirty="0">
                          <a:solidFill>
                            <a:schemeClr val="tx1"/>
                          </a:solidFill>
                        </a:rPr>
                        <a:t>5</a:t>
                      </a:r>
                      <a:endParaRPr lang="en-IN" sz="3600" b="1" i="0" dirty="0">
                        <a:solidFill>
                          <a:schemeClr val="tx1"/>
                        </a:solidFill>
                      </a:endParaRPr>
                    </a:p>
                  </a:txBody>
                  <a:tcPr anchor="ctr"/>
                </a:tc>
                <a:tc>
                  <a:txBody>
                    <a:bodyPr/>
                    <a:lstStyle/>
                    <a:p>
                      <a:pPr algn="ctr"/>
                      <a:r>
                        <a:rPr lang="af-ZA" sz="3600" b="1" i="0" dirty="0">
                          <a:solidFill>
                            <a:schemeClr val="tx1"/>
                          </a:solidFill>
                        </a:rPr>
                        <a:t>2</a:t>
                      </a:r>
                      <a:endParaRPr lang="en-IN" sz="3600" b="1" i="0" dirty="0">
                        <a:solidFill>
                          <a:schemeClr val="tx1"/>
                        </a:solidFill>
                      </a:endParaRPr>
                    </a:p>
                  </a:txBody>
                  <a:tcPr anchor="ctr"/>
                </a:tc>
                <a:extLst>
                  <a:ext uri="{0D108BD9-81ED-4DB2-BD59-A6C34878D82A}">
                    <a16:rowId xmlns="" xmlns:a16="http://schemas.microsoft.com/office/drawing/2014/main" val="10000"/>
                  </a:ext>
                </a:extLst>
              </a:tr>
              <a:tr h="893071">
                <a:tc>
                  <a:txBody>
                    <a:bodyPr/>
                    <a:lstStyle/>
                    <a:p>
                      <a:pPr algn="ctr"/>
                      <a:r>
                        <a:rPr lang="af-ZA" sz="3600" b="1" i="0" dirty="0">
                          <a:solidFill>
                            <a:schemeClr val="tx1"/>
                          </a:solidFill>
                        </a:rPr>
                        <a:t>2</a:t>
                      </a:r>
                      <a:endParaRPr lang="en-IN" sz="3600" b="1" i="0" dirty="0">
                        <a:solidFill>
                          <a:schemeClr val="tx1"/>
                        </a:solidFill>
                      </a:endParaRPr>
                    </a:p>
                  </a:txBody>
                  <a:tcPr anchor="ctr"/>
                </a:tc>
                <a:tc>
                  <a:txBody>
                    <a:bodyPr/>
                    <a:lstStyle/>
                    <a:p>
                      <a:pPr algn="ctr"/>
                      <a:r>
                        <a:rPr lang="af-ZA" sz="3600" b="1" i="0" dirty="0">
                          <a:solidFill>
                            <a:schemeClr val="tx1"/>
                          </a:solidFill>
                        </a:rPr>
                        <a:t>1</a:t>
                      </a:r>
                      <a:endParaRPr lang="en-IN" sz="3600" b="1" i="0" dirty="0">
                        <a:solidFill>
                          <a:schemeClr val="tx1"/>
                        </a:solidFill>
                      </a:endParaRPr>
                    </a:p>
                  </a:txBody>
                  <a:tcPr anchor="ctr"/>
                </a:tc>
                <a:extLst>
                  <a:ext uri="{0D108BD9-81ED-4DB2-BD59-A6C34878D82A}">
                    <a16:rowId xmlns="" xmlns:a16="http://schemas.microsoft.com/office/drawing/2014/main" val="10001"/>
                  </a:ext>
                </a:extLst>
              </a:tr>
            </a:tbl>
          </a:graphicData>
        </a:graphic>
      </p:graphicFrame>
      <p:sp>
        <p:nvSpPr>
          <p:cNvPr id="8" name="Google Shape;507;p4"/>
          <p:cNvSpPr/>
          <p:nvPr/>
        </p:nvSpPr>
        <p:spPr>
          <a:xfrm>
            <a:off x="5090748" y="1226525"/>
            <a:ext cx="6279416" cy="1921122"/>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lvl="0"/>
            <a:r>
              <a:rPr lang="af-ZA" sz="2000" dirty="0">
                <a:latin typeface="Calibri"/>
                <a:ea typeface="Calibri"/>
                <a:cs typeface="Calibri"/>
                <a:sym typeface="Calibri"/>
              </a:rPr>
              <a:t>Now to calculate the Eigen vectors, we will do the following:</a:t>
            </a:r>
          </a:p>
          <a:p>
            <a:pPr lvl="0"/>
            <a:r>
              <a:rPr lang="af-ZA" sz="2000" dirty="0">
                <a:latin typeface="Calibri"/>
                <a:ea typeface="Calibri"/>
                <a:cs typeface="Calibri"/>
                <a:sym typeface="Calibri"/>
              </a:rPr>
              <a:t>1. We will use the equation, </a:t>
            </a:r>
            <a:r>
              <a:rPr lang="af-ZA" sz="2000" b="1" dirty="0">
                <a:latin typeface="Calibri"/>
                <a:ea typeface="Calibri"/>
                <a:cs typeface="Calibri"/>
                <a:sym typeface="Calibri"/>
              </a:rPr>
              <a:t>Av = </a:t>
            </a:r>
            <a:r>
              <a:rPr lang="el-GR" sz="2000" b="1" dirty="0">
                <a:latin typeface="Calibri"/>
                <a:ea typeface="Calibri"/>
                <a:cs typeface="Calibri"/>
                <a:sym typeface="Calibri"/>
              </a:rPr>
              <a:t>λ</a:t>
            </a:r>
            <a:r>
              <a:rPr lang="af-ZA" sz="2000" b="1" dirty="0">
                <a:latin typeface="Calibri"/>
                <a:ea typeface="Calibri"/>
                <a:cs typeface="Calibri"/>
                <a:sym typeface="Calibri"/>
              </a:rPr>
              <a:t>v </a:t>
            </a:r>
            <a:r>
              <a:rPr lang="af-ZA" sz="2000" dirty="0">
                <a:latin typeface="Calibri"/>
                <a:ea typeface="Calibri"/>
                <a:cs typeface="Calibri"/>
                <a:sym typeface="Calibri"/>
              </a:rPr>
              <a:t>where v is the eigen vector. </a:t>
            </a:r>
            <a:endParaRPr lang="af-ZA" sz="1200" dirty="0">
              <a:latin typeface="Calibri"/>
              <a:ea typeface="Calibri"/>
              <a:cs typeface="Calibri"/>
              <a:sym typeface="Calibri"/>
            </a:endParaRPr>
          </a:p>
        </p:txBody>
      </p:sp>
      <p:grpSp>
        <p:nvGrpSpPr>
          <p:cNvPr id="10" name="Group 9"/>
          <p:cNvGrpSpPr/>
          <p:nvPr/>
        </p:nvGrpSpPr>
        <p:grpSpPr>
          <a:xfrm>
            <a:off x="883161" y="3867148"/>
            <a:ext cx="2611315" cy="2110159"/>
            <a:chOff x="4423877" y="3182812"/>
            <a:chExt cx="2611315" cy="2593731"/>
          </a:xfrm>
        </p:grpSpPr>
        <p:sp>
          <p:nvSpPr>
            <p:cNvPr id="11" name="Left Bracket 10"/>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Right Bracket 11"/>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3" name="Table 12"/>
          <p:cNvGraphicFramePr>
            <a:graphicFrameLocks noGrp="1"/>
          </p:cNvGraphicFramePr>
          <p:nvPr>
            <p:extLst>
              <p:ext uri="{D42A27DB-BD31-4B8C-83A1-F6EECF244321}">
                <p14:modId xmlns:p14="http://schemas.microsoft.com/office/powerpoint/2010/main" val="2433907620"/>
              </p:ext>
            </p:extLst>
          </p:nvPr>
        </p:nvGraphicFramePr>
        <p:xfrm>
          <a:off x="1139113" y="4029156"/>
          <a:ext cx="2161932" cy="1786142"/>
        </p:xfrm>
        <a:graphic>
          <a:graphicData uri="http://schemas.openxmlformats.org/drawingml/2006/table">
            <a:tbl>
              <a:tblPr firstRow="1" bandRow="1">
                <a:tableStyleId>{2D5ABB26-0587-4C30-8999-92F81FD0307C}</a:tableStyleId>
              </a:tblPr>
              <a:tblGrid>
                <a:gridCol w="1080966">
                  <a:extLst>
                    <a:ext uri="{9D8B030D-6E8A-4147-A177-3AD203B41FA5}">
                      <a16:colId xmlns="" xmlns:a16="http://schemas.microsoft.com/office/drawing/2014/main" val="20000"/>
                    </a:ext>
                  </a:extLst>
                </a:gridCol>
                <a:gridCol w="1080966">
                  <a:extLst>
                    <a:ext uri="{9D8B030D-6E8A-4147-A177-3AD203B41FA5}">
                      <a16:colId xmlns="" xmlns:a16="http://schemas.microsoft.com/office/drawing/2014/main" val="20001"/>
                    </a:ext>
                  </a:extLst>
                </a:gridCol>
              </a:tblGrid>
              <a:tr h="893071">
                <a:tc>
                  <a:txBody>
                    <a:bodyPr/>
                    <a:lstStyle/>
                    <a:p>
                      <a:pPr algn="ctr"/>
                      <a:r>
                        <a:rPr lang="af-ZA" sz="3600" b="1" i="0" dirty="0">
                          <a:solidFill>
                            <a:schemeClr val="tx1"/>
                          </a:solidFill>
                        </a:rPr>
                        <a:t>5</a:t>
                      </a:r>
                      <a:endParaRPr lang="en-IN" sz="3600" b="1" i="0" dirty="0">
                        <a:solidFill>
                          <a:schemeClr val="tx1"/>
                        </a:solidFill>
                      </a:endParaRPr>
                    </a:p>
                  </a:txBody>
                  <a:tcPr anchor="ctr"/>
                </a:tc>
                <a:tc>
                  <a:txBody>
                    <a:bodyPr/>
                    <a:lstStyle/>
                    <a:p>
                      <a:pPr algn="ctr"/>
                      <a:r>
                        <a:rPr lang="af-ZA" sz="3600" b="1" i="0" dirty="0">
                          <a:solidFill>
                            <a:schemeClr val="tx1"/>
                          </a:solidFill>
                        </a:rPr>
                        <a:t>2</a:t>
                      </a:r>
                      <a:endParaRPr lang="en-IN" sz="3600" b="1" i="0" dirty="0">
                        <a:solidFill>
                          <a:schemeClr val="tx1"/>
                        </a:solidFill>
                      </a:endParaRPr>
                    </a:p>
                  </a:txBody>
                  <a:tcPr anchor="ctr"/>
                </a:tc>
                <a:extLst>
                  <a:ext uri="{0D108BD9-81ED-4DB2-BD59-A6C34878D82A}">
                    <a16:rowId xmlns="" xmlns:a16="http://schemas.microsoft.com/office/drawing/2014/main" val="10000"/>
                  </a:ext>
                </a:extLst>
              </a:tr>
              <a:tr h="893071">
                <a:tc>
                  <a:txBody>
                    <a:bodyPr/>
                    <a:lstStyle/>
                    <a:p>
                      <a:pPr algn="ctr"/>
                      <a:r>
                        <a:rPr lang="af-ZA" sz="3600" b="1" i="0" dirty="0">
                          <a:solidFill>
                            <a:schemeClr val="tx1"/>
                          </a:solidFill>
                        </a:rPr>
                        <a:t>2</a:t>
                      </a:r>
                      <a:endParaRPr lang="en-IN" sz="3600" b="1" i="0" dirty="0">
                        <a:solidFill>
                          <a:schemeClr val="tx1"/>
                        </a:solidFill>
                      </a:endParaRPr>
                    </a:p>
                  </a:txBody>
                  <a:tcPr anchor="ctr"/>
                </a:tc>
                <a:tc>
                  <a:txBody>
                    <a:bodyPr/>
                    <a:lstStyle/>
                    <a:p>
                      <a:pPr algn="ctr"/>
                      <a:r>
                        <a:rPr lang="af-ZA" sz="3600" b="1" i="0" dirty="0">
                          <a:solidFill>
                            <a:schemeClr val="tx1"/>
                          </a:solidFill>
                        </a:rPr>
                        <a:t>1</a:t>
                      </a:r>
                      <a:endParaRPr lang="en-IN" sz="3600" b="1" i="0" dirty="0">
                        <a:solidFill>
                          <a:schemeClr val="tx1"/>
                        </a:solidFill>
                      </a:endParaRPr>
                    </a:p>
                  </a:txBody>
                  <a:tcPr anchor="ctr"/>
                </a:tc>
                <a:extLst>
                  <a:ext uri="{0D108BD9-81ED-4DB2-BD59-A6C34878D82A}">
                    <a16:rowId xmlns="" xmlns:a16="http://schemas.microsoft.com/office/drawing/2014/main" val="10001"/>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081164696"/>
              </p:ext>
            </p:extLst>
          </p:nvPr>
        </p:nvGraphicFramePr>
        <p:xfrm>
          <a:off x="4300417" y="4042345"/>
          <a:ext cx="790331" cy="1759764"/>
        </p:xfrm>
        <a:graphic>
          <a:graphicData uri="http://schemas.openxmlformats.org/drawingml/2006/table">
            <a:tbl>
              <a:tblPr firstRow="1" bandRow="1">
                <a:tableStyleId>{2D5ABB26-0587-4C30-8999-92F81FD0307C}</a:tableStyleId>
              </a:tblPr>
              <a:tblGrid>
                <a:gridCol w="790331">
                  <a:extLst>
                    <a:ext uri="{9D8B030D-6E8A-4147-A177-3AD203B41FA5}">
                      <a16:colId xmlns="" xmlns:a16="http://schemas.microsoft.com/office/drawing/2014/main" val="20000"/>
                    </a:ext>
                  </a:extLst>
                </a:gridCol>
              </a:tblGrid>
              <a:tr h="879882">
                <a:tc>
                  <a:txBody>
                    <a:bodyPr/>
                    <a:lstStyle/>
                    <a:p>
                      <a:pPr algn="ctr"/>
                      <a:r>
                        <a:rPr lang="af-ZA" sz="3600" b="1" dirty="0"/>
                        <a:t>X</a:t>
                      </a:r>
                      <a:endParaRPr lang="en-IN" sz="3600" b="1" dirty="0"/>
                    </a:p>
                  </a:txBody>
                  <a:tcPr anchor="ctr"/>
                </a:tc>
                <a:extLst>
                  <a:ext uri="{0D108BD9-81ED-4DB2-BD59-A6C34878D82A}">
                    <a16:rowId xmlns="" xmlns:a16="http://schemas.microsoft.com/office/drawing/2014/main" val="10000"/>
                  </a:ext>
                </a:extLst>
              </a:tr>
              <a:tr h="879882">
                <a:tc>
                  <a:txBody>
                    <a:bodyPr/>
                    <a:lstStyle/>
                    <a:p>
                      <a:pPr algn="ctr"/>
                      <a:r>
                        <a:rPr lang="af-ZA" sz="3600" b="1" dirty="0"/>
                        <a:t>Y</a:t>
                      </a:r>
                      <a:endParaRPr lang="en-IN" sz="3600" b="1" dirty="0"/>
                    </a:p>
                  </a:txBody>
                  <a:tcPr anchor="ctr"/>
                </a:tc>
                <a:extLst>
                  <a:ext uri="{0D108BD9-81ED-4DB2-BD59-A6C34878D82A}">
                    <a16:rowId xmlns="" xmlns:a16="http://schemas.microsoft.com/office/drawing/2014/main" val="10001"/>
                  </a:ext>
                </a:extLst>
              </a:tr>
            </a:tbl>
          </a:graphicData>
        </a:graphic>
      </p:graphicFrame>
      <p:grpSp>
        <p:nvGrpSpPr>
          <p:cNvPr id="18" name="Group 17"/>
          <p:cNvGrpSpPr/>
          <p:nvPr/>
        </p:nvGrpSpPr>
        <p:grpSpPr>
          <a:xfrm>
            <a:off x="4109937" y="3867148"/>
            <a:ext cx="1257300" cy="2110159"/>
            <a:chOff x="4652477" y="3182812"/>
            <a:chExt cx="1257300" cy="2593731"/>
          </a:xfrm>
        </p:grpSpPr>
        <p:sp>
          <p:nvSpPr>
            <p:cNvPr id="19" name="Left Bracket 18"/>
            <p:cNvSpPr/>
            <p:nvPr/>
          </p:nvSpPr>
          <p:spPr>
            <a:xfrm>
              <a:off x="46524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0" name="Right Bracket 19"/>
            <p:cNvSpPr/>
            <p:nvPr/>
          </p:nvSpPr>
          <p:spPr>
            <a:xfrm>
              <a:off x="5522916"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1" name="Table 20"/>
          <p:cNvGraphicFramePr>
            <a:graphicFrameLocks noGrp="1"/>
          </p:cNvGraphicFramePr>
          <p:nvPr>
            <p:extLst>
              <p:ext uri="{D42A27DB-BD31-4B8C-83A1-F6EECF244321}">
                <p14:modId xmlns:p14="http://schemas.microsoft.com/office/powerpoint/2010/main" val="2038882961"/>
              </p:ext>
            </p:extLst>
          </p:nvPr>
        </p:nvGraphicFramePr>
        <p:xfrm>
          <a:off x="8529517" y="4042344"/>
          <a:ext cx="790331" cy="1759764"/>
        </p:xfrm>
        <a:graphic>
          <a:graphicData uri="http://schemas.openxmlformats.org/drawingml/2006/table">
            <a:tbl>
              <a:tblPr firstRow="1" bandRow="1">
                <a:tableStyleId>{2D5ABB26-0587-4C30-8999-92F81FD0307C}</a:tableStyleId>
              </a:tblPr>
              <a:tblGrid>
                <a:gridCol w="790331">
                  <a:extLst>
                    <a:ext uri="{9D8B030D-6E8A-4147-A177-3AD203B41FA5}">
                      <a16:colId xmlns="" xmlns:a16="http://schemas.microsoft.com/office/drawing/2014/main" val="20000"/>
                    </a:ext>
                  </a:extLst>
                </a:gridCol>
              </a:tblGrid>
              <a:tr h="879882">
                <a:tc>
                  <a:txBody>
                    <a:bodyPr/>
                    <a:lstStyle/>
                    <a:p>
                      <a:pPr algn="ctr"/>
                      <a:r>
                        <a:rPr lang="af-ZA" sz="3600" b="1" dirty="0"/>
                        <a:t>X</a:t>
                      </a:r>
                      <a:endParaRPr lang="en-IN" sz="3600" b="1" dirty="0"/>
                    </a:p>
                  </a:txBody>
                  <a:tcPr anchor="ctr"/>
                </a:tc>
                <a:extLst>
                  <a:ext uri="{0D108BD9-81ED-4DB2-BD59-A6C34878D82A}">
                    <a16:rowId xmlns="" xmlns:a16="http://schemas.microsoft.com/office/drawing/2014/main" val="10000"/>
                  </a:ext>
                </a:extLst>
              </a:tr>
              <a:tr h="879882">
                <a:tc>
                  <a:txBody>
                    <a:bodyPr/>
                    <a:lstStyle/>
                    <a:p>
                      <a:pPr algn="ctr"/>
                      <a:r>
                        <a:rPr lang="af-ZA" sz="3600" b="1" dirty="0"/>
                        <a:t>Y</a:t>
                      </a:r>
                      <a:endParaRPr lang="en-IN" sz="3600" b="1" dirty="0"/>
                    </a:p>
                  </a:txBody>
                  <a:tcPr anchor="ctr"/>
                </a:tc>
                <a:extLst>
                  <a:ext uri="{0D108BD9-81ED-4DB2-BD59-A6C34878D82A}">
                    <a16:rowId xmlns="" xmlns:a16="http://schemas.microsoft.com/office/drawing/2014/main" val="10001"/>
                  </a:ext>
                </a:extLst>
              </a:tr>
            </a:tbl>
          </a:graphicData>
        </a:graphic>
      </p:graphicFrame>
      <p:grpSp>
        <p:nvGrpSpPr>
          <p:cNvPr id="22" name="Group 21"/>
          <p:cNvGrpSpPr/>
          <p:nvPr/>
        </p:nvGrpSpPr>
        <p:grpSpPr>
          <a:xfrm>
            <a:off x="8339037" y="3867147"/>
            <a:ext cx="1257300" cy="2110159"/>
            <a:chOff x="4652477" y="3182812"/>
            <a:chExt cx="1257300" cy="2593731"/>
          </a:xfrm>
        </p:grpSpPr>
        <p:sp>
          <p:nvSpPr>
            <p:cNvPr id="23" name="Left Bracket 22"/>
            <p:cNvSpPr/>
            <p:nvPr/>
          </p:nvSpPr>
          <p:spPr>
            <a:xfrm>
              <a:off x="46524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4" name="Right Bracket 23"/>
            <p:cNvSpPr/>
            <p:nvPr/>
          </p:nvSpPr>
          <p:spPr>
            <a:xfrm>
              <a:off x="5522916"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5" name="Equal 24"/>
          <p:cNvSpPr/>
          <p:nvPr/>
        </p:nvSpPr>
        <p:spPr>
          <a:xfrm>
            <a:off x="5652870" y="4532434"/>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6" name="TextBox 25"/>
          <p:cNvSpPr txBox="1"/>
          <p:nvPr/>
        </p:nvSpPr>
        <p:spPr>
          <a:xfrm>
            <a:off x="7473461" y="4536734"/>
            <a:ext cx="865576" cy="646331"/>
          </a:xfrm>
          <a:prstGeom prst="rect">
            <a:avLst/>
          </a:prstGeom>
          <a:noFill/>
        </p:spPr>
        <p:txBody>
          <a:bodyPr wrap="square" rtlCol="0">
            <a:spAutoFit/>
          </a:bodyPr>
          <a:lstStyle/>
          <a:p>
            <a:r>
              <a:rPr lang="el-GR" sz="3600" b="1" dirty="0">
                <a:latin typeface="Calibri"/>
                <a:ea typeface="Calibri"/>
                <a:cs typeface="Calibri"/>
                <a:sym typeface="Calibri"/>
              </a:rPr>
              <a:t>λ</a:t>
            </a:r>
            <a:r>
              <a:rPr lang="af-ZA" sz="3600" b="1" dirty="0">
                <a:latin typeface="Calibri"/>
                <a:ea typeface="Calibri"/>
                <a:cs typeface="Calibri"/>
                <a:sym typeface="Calibri"/>
              </a:rPr>
              <a:t>  .</a:t>
            </a:r>
            <a:endParaRPr lang="en-IN" sz="3600" dirty="0"/>
          </a:p>
        </p:txBody>
      </p:sp>
    </p:spTree>
    <p:extLst>
      <p:ext uri="{BB962C8B-B14F-4D97-AF65-F5344CB8AC3E}">
        <p14:creationId xmlns:p14="http://schemas.microsoft.com/office/powerpoint/2010/main" val="4252117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168671"/>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Eigen </a:t>
            </a:r>
            <a:r>
              <a:rPr lang="en-US" sz="3200" b="1" dirty="0">
                <a:solidFill>
                  <a:srgbClr val="604878"/>
                </a:solidFill>
                <a:latin typeface="Raleway Light"/>
                <a:ea typeface="Raleway Light"/>
                <a:cs typeface="Raleway Light"/>
                <a:sym typeface="Raleway Light"/>
              </a:rPr>
              <a:t>Vectors </a:t>
            </a:r>
            <a:endParaRPr lang="en-US" sz="3200" b="1" i="0" u="none" strike="noStrike" cap="none" dirty="0">
              <a:solidFill>
                <a:srgbClr val="604878"/>
              </a:solidFill>
              <a:latin typeface="Raleway Light"/>
              <a:ea typeface="Raleway Light"/>
              <a:cs typeface="Raleway Light"/>
              <a:sym typeface="Raleway Light"/>
            </a:endParaRPr>
          </a:p>
        </p:txBody>
      </p:sp>
      <p:grpSp>
        <p:nvGrpSpPr>
          <p:cNvPr id="10" name="Group 9"/>
          <p:cNvGrpSpPr/>
          <p:nvPr/>
        </p:nvGrpSpPr>
        <p:grpSpPr>
          <a:xfrm>
            <a:off x="1656884" y="1308587"/>
            <a:ext cx="2611315" cy="2110159"/>
            <a:chOff x="4423877" y="3182812"/>
            <a:chExt cx="2611315" cy="2593731"/>
          </a:xfrm>
        </p:grpSpPr>
        <p:sp>
          <p:nvSpPr>
            <p:cNvPr id="11" name="Left Bracket 10"/>
            <p:cNvSpPr/>
            <p:nvPr/>
          </p:nvSpPr>
          <p:spPr>
            <a:xfrm>
              <a:off x="44238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Right Bracket 11"/>
            <p:cNvSpPr/>
            <p:nvPr/>
          </p:nvSpPr>
          <p:spPr>
            <a:xfrm>
              <a:off x="6648331"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13" name="Table 12"/>
          <p:cNvGraphicFramePr>
            <a:graphicFrameLocks noGrp="1"/>
          </p:cNvGraphicFramePr>
          <p:nvPr>
            <p:extLst>
              <p:ext uri="{D42A27DB-BD31-4B8C-83A1-F6EECF244321}">
                <p14:modId xmlns:p14="http://schemas.microsoft.com/office/powerpoint/2010/main" val="1395795822"/>
              </p:ext>
            </p:extLst>
          </p:nvPr>
        </p:nvGraphicFramePr>
        <p:xfrm>
          <a:off x="1912836" y="1470595"/>
          <a:ext cx="2161932" cy="1786142"/>
        </p:xfrm>
        <a:graphic>
          <a:graphicData uri="http://schemas.openxmlformats.org/drawingml/2006/table">
            <a:tbl>
              <a:tblPr firstRow="1" bandRow="1">
                <a:tableStyleId>{2D5ABB26-0587-4C30-8999-92F81FD0307C}</a:tableStyleId>
              </a:tblPr>
              <a:tblGrid>
                <a:gridCol w="1080966">
                  <a:extLst>
                    <a:ext uri="{9D8B030D-6E8A-4147-A177-3AD203B41FA5}">
                      <a16:colId xmlns="" xmlns:a16="http://schemas.microsoft.com/office/drawing/2014/main" val="20000"/>
                    </a:ext>
                  </a:extLst>
                </a:gridCol>
                <a:gridCol w="1080966">
                  <a:extLst>
                    <a:ext uri="{9D8B030D-6E8A-4147-A177-3AD203B41FA5}">
                      <a16:colId xmlns="" xmlns:a16="http://schemas.microsoft.com/office/drawing/2014/main" val="20001"/>
                    </a:ext>
                  </a:extLst>
                </a:gridCol>
              </a:tblGrid>
              <a:tr h="893071">
                <a:tc>
                  <a:txBody>
                    <a:bodyPr/>
                    <a:lstStyle/>
                    <a:p>
                      <a:pPr algn="ctr"/>
                      <a:r>
                        <a:rPr lang="af-ZA" sz="3600" b="1" i="0" dirty="0">
                          <a:solidFill>
                            <a:schemeClr val="tx1"/>
                          </a:solidFill>
                        </a:rPr>
                        <a:t>5</a:t>
                      </a:r>
                      <a:endParaRPr lang="en-IN" sz="3600" b="1" i="0" dirty="0">
                        <a:solidFill>
                          <a:schemeClr val="tx1"/>
                        </a:solidFill>
                      </a:endParaRPr>
                    </a:p>
                  </a:txBody>
                  <a:tcPr anchor="ctr"/>
                </a:tc>
                <a:tc>
                  <a:txBody>
                    <a:bodyPr/>
                    <a:lstStyle/>
                    <a:p>
                      <a:pPr algn="ctr"/>
                      <a:r>
                        <a:rPr lang="af-ZA" sz="3600" b="1" i="0" dirty="0">
                          <a:solidFill>
                            <a:schemeClr val="tx1"/>
                          </a:solidFill>
                        </a:rPr>
                        <a:t>2</a:t>
                      </a:r>
                      <a:endParaRPr lang="en-IN" sz="3600" b="1" i="0" dirty="0">
                        <a:solidFill>
                          <a:schemeClr val="tx1"/>
                        </a:solidFill>
                      </a:endParaRPr>
                    </a:p>
                  </a:txBody>
                  <a:tcPr anchor="ctr"/>
                </a:tc>
                <a:extLst>
                  <a:ext uri="{0D108BD9-81ED-4DB2-BD59-A6C34878D82A}">
                    <a16:rowId xmlns="" xmlns:a16="http://schemas.microsoft.com/office/drawing/2014/main" val="10000"/>
                  </a:ext>
                </a:extLst>
              </a:tr>
              <a:tr h="893071">
                <a:tc>
                  <a:txBody>
                    <a:bodyPr/>
                    <a:lstStyle/>
                    <a:p>
                      <a:pPr algn="ctr"/>
                      <a:r>
                        <a:rPr lang="af-ZA" sz="3600" b="1" i="0" dirty="0">
                          <a:solidFill>
                            <a:schemeClr val="tx1"/>
                          </a:solidFill>
                        </a:rPr>
                        <a:t>2</a:t>
                      </a:r>
                      <a:endParaRPr lang="en-IN" sz="3600" b="1" i="0" dirty="0">
                        <a:solidFill>
                          <a:schemeClr val="tx1"/>
                        </a:solidFill>
                      </a:endParaRPr>
                    </a:p>
                  </a:txBody>
                  <a:tcPr anchor="ctr"/>
                </a:tc>
                <a:tc>
                  <a:txBody>
                    <a:bodyPr/>
                    <a:lstStyle/>
                    <a:p>
                      <a:pPr algn="ctr"/>
                      <a:r>
                        <a:rPr lang="af-ZA" sz="3600" b="1" i="0" dirty="0">
                          <a:solidFill>
                            <a:schemeClr val="tx1"/>
                          </a:solidFill>
                        </a:rPr>
                        <a:t>1</a:t>
                      </a:r>
                      <a:endParaRPr lang="en-IN" sz="3600" b="1" i="0" dirty="0">
                        <a:solidFill>
                          <a:schemeClr val="tx1"/>
                        </a:solidFill>
                      </a:endParaRPr>
                    </a:p>
                  </a:txBody>
                  <a:tcPr anchor="ctr"/>
                </a:tc>
                <a:extLst>
                  <a:ext uri="{0D108BD9-81ED-4DB2-BD59-A6C34878D82A}">
                    <a16:rowId xmlns="" xmlns:a16="http://schemas.microsoft.com/office/drawing/2014/main" val="10001"/>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361731887"/>
              </p:ext>
            </p:extLst>
          </p:nvPr>
        </p:nvGraphicFramePr>
        <p:xfrm>
          <a:off x="5074140" y="1483784"/>
          <a:ext cx="790331" cy="1759764"/>
        </p:xfrm>
        <a:graphic>
          <a:graphicData uri="http://schemas.openxmlformats.org/drawingml/2006/table">
            <a:tbl>
              <a:tblPr firstRow="1" bandRow="1">
                <a:tableStyleId>{2D5ABB26-0587-4C30-8999-92F81FD0307C}</a:tableStyleId>
              </a:tblPr>
              <a:tblGrid>
                <a:gridCol w="790331">
                  <a:extLst>
                    <a:ext uri="{9D8B030D-6E8A-4147-A177-3AD203B41FA5}">
                      <a16:colId xmlns="" xmlns:a16="http://schemas.microsoft.com/office/drawing/2014/main" val="20000"/>
                    </a:ext>
                  </a:extLst>
                </a:gridCol>
              </a:tblGrid>
              <a:tr h="879882">
                <a:tc>
                  <a:txBody>
                    <a:bodyPr/>
                    <a:lstStyle/>
                    <a:p>
                      <a:pPr algn="ctr"/>
                      <a:r>
                        <a:rPr lang="af-ZA" sz="3600" b="1" dirty="0"/>
                        <a:t>X</a:t>
                      </a:r>
                      <a:endParaRPr lang="en-IN" sz="3600" b="1" dirty="0"/>
                    </a:p>
                  </a:txBody>
                  <a:tcPr anchor="ctr"/>
                </a:tc>
                <a:extLst>
                  <a:ext uri="{0D108BD9-81ED-4DB2-BD59-A6C34878D82A}">
                    <a16:rowId xmlns="" xmlns:a16="http://schemas.microsoft.com/office/drawing/2014/main" val="10000"/>
                  </a:ext>
                </a:extLst>
              </a:tr>
              <a:tr h="879882">
                <a:tc>
                  <a:txBody>
                    <a:bodyPr/>
                    <a:lstStyle/>
                    <a:p>
                      <a:pPr algn="ctr"/>
                      <a:r>
                        <a:rPr lang="af-ZA" sz="3600" b="1" dirty="0"/>
                        <a:t>Y</a:t>
                      </a:r>
                      <a:endParaRPr lang="en-IN" sz="3600" b="1" dirty="0"/>
                    </a:p>
                  </a:txBody>
                  <a:tcPr anchor="ctr"/>
                </a:tc>
                <a:extLst>
                  <a:ext uri="{0D108BD9-81ED-4DB2-BD59-A6C34878D82A}">
                    <a16:rowId xmlns="" xmlns:a16="http://schemas.microsoft.com/office/drawing/2014/main" val="10001"/>
                  </a:ext>
                </a:extLst>
              </a:tr>
            </a:tbl>
          </a:graphicData>
        </a:graphic>
      </p:graphicFrame>
      <p:grpSp>
        <p:nvGrpSpPr>
          <p:cNvPr id="18" name="Group 17"/>
          <p:cNvGrpSpPr/>
          <p:nvPr/>
        </p:nvGrpSpPr>
        <p:grpSpPr>
          <a:xfrm>
            <a:off x="4883660" y="1308587"/>
            <a:ext cx="1257300" cy="2110159"/>
            <a:chOff x="4652477" y="3182812"/>
            <a:chExt cx="1257300" cy="2593731"/>
          </a:xfrm>
        </p:grpSpPr>
        <p:sp>
          <p:nvSpPr>
            <p:cNvPr id="19" name="Left Bracket 18"/>
            <p:cNvSpPr/>
            <p:nvPr/>
          </p:nvSpPr>
          <p:spPr>
            <a:xfrm>
              <a:off x="46524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0" name="Right Bracket 19"/>
            <p:cNvSpPr/>
            <p:nvPr/>
          </p:nvSpPr>
          <p:spPr>
            <a:xfrm>
              <a:off x="5522916"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aphicFrame>
        <p:nvGraphicFramePr>
          <p:cNvPr id="21" name="Table 20"/>
          <p:cNvGraphicFramePr>
            <a:graphicFrameLocks noGrp="1"/>
          </p:cNvGraphicFramePr>
          <p:nvPr>
            <p:extLst>
              <p:ext uri="{D42A27DB-BD31-4B8C-83A1-F6EECF244321}">
                <p14:modId xmlns:p14="http://schemas.microsoft.com/office/powerpoint/2010/main" val="3063093200"/>
              </p:ext>
            </p:extLst>
          </p:nvPr>
        </p:nvGraphicFramePr>
        <p:xfrm>
          <a:off x="9303240" y="1483783"/>
          <a:ext cx="790331" cy="1759764"/>
        </p:xfrm>
        <a:graphic>
          <a:graphicData uri="http://schemas.openxmlformats.org/drawingml/2006/table">
            <a:tbl>
              <a:tblPr firstRow="1" bandRow="1">
                <a:tableStyleId>{2D5ABB26-0587-4C30-8999-92F81FD0307C}</a:tableStyleId>
              </a:tblPr>
              <a:tblGrid>
                <a:gridCol w="790331">
                  <a:extLst>
                    <a:ext uri="{9D8B030D-6E8A-4147-A177-3AD203B41FA5}">
                      <a16:colId xmlns="" xmlns:a16="http://schemas.microsoft.com/office/drawing/2014/main" val="20000"/>
                    </a:ext>
                  </a:extLst>
                </a:gridCol>
              </a:tblGrid>
              <a:tr h="879882">
                <a:tc>
                  <a:txBody>
                    <a:bodyPr/>
                    <a:lstStyle/>
                    <a:p>
                      <a:pPr algn="ctr"/>
                      <a:r>
                        <a:rPr lang="af-ZA" sz="3600" b="1" dirty="0"/>
                        <a:t>X</a:t>
                      </a:r>
                      <a:endParaRPr lang="en-IN" sz="3600" b="1" dirty="0"/>
                    </a:p>
                  </a:txBody>
                  <a:tcPr anchor="ctr"/>
                </a:tc>
                <a:extLst>
                  <a:ext uri="{0D108BD9-81ED-4DB2-BD59-A6C34878D82A}">
                    <a16:rowId xmlns="" xmlns:a16="http://schemas.microsoft.com/office/drawing/2014/main" val="10000"/>
                  </a:ext>
                </a:extLst>
              </a:tr>
              <a:tr h="879882">
                <a:tc>
                  <a:txBody>
                    <a:bodyPr/>
                    <a:lstStyle/>
                    <a:p>
                      <a:pPr algn="ctr"/>
                      <a:r>
                        <a:rPr lang="af-ZA" sz="3600" b="1" dirty="0"/>
                        <a:t>Y</a:t>
                      </a:r>
                      <a:endParaRPr lang="en-IN" sz="3600" b="1" dirty="0"/>
                    </a:p>
                  </a:txBody>
                  <a:tcPr anchor="ctr"/>
                </a:tc>
                <a:extLst>
                  <a:ext uri="{0D108BD9-81ED-4DB2-BD59-A6C34878D82A}">
                    <a16:rowId xmlns="" xmlns:a16="http://schemas.microsoft.com/office/drawing/2014/main" val="10001"/>
                  </a:ext>
                </a:extLst>
              </a:tr>
            </a:tbl>
          </a:graphicData>
        </a:graphic>
      </p:graphicFrame>
      <p:grpSp>
        <p:nvGrpSpPr>
          <p:cNvPr id="22" name="Group 21"/>
          <p:cNvGrpSpPr/>
          <p:nvPr/>
        </p:nvGrpSpPr>
        <p:grpSpPr>
          <a:xfrm>
            <a:off x="9112760" y="1308586"/>
            <a:ext cx="1257300" cy="2110159"/>
            <a:chOff x="4652477" y="3182812"/>
            <a:chExt cx="1257300" cy="2593731"/>
          </a:xfrm>
        </p:grpSpPr>
        <p:sp>
          <p:nvSpPr>
            <p:cNvPr id="23" name="Left Bracket 22"/>
            <p:cNvSpPr/>
            <p:nvPr/>
          </p:nvSpPr>
          <p:spPr>
            <a:xfrm>
              <a:off x="4652477" y="3182812"/>
              <a:ext cx="422031" cy="259373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4" name="Right Bracket 23"/>
            <p:cNvSpPr/>
            <p:nvPr/>
          </p:nvSpPr>
          <p:spPr>
            <a:xfrm>
              <a:off x="5522916" y="3182812"/>
              <a:ext cx="386861" cy="2593731"/>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5" name="Equal 24"/>
          <p:cNvSpPr/>
          <p:nvPr/>
        </p:nvSpPr>
        <p:spPr>
          <a:xfrm>
            <a:off x="6426593" y="1973873"/>
            <a:ext cx="1155646" cy="650631"/>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6" name="TextBox 25"/>
          <p:cNvSpPr txBox="1"/>
          <p:nvPr/>
        </p:nvSpPr>
        <p:spPr>
          <a:xfrm>
            <a:off x="8247184" y="1978173"/>
            <a:ext cx="865576" cy="646331"/>
          </a:xfrm>
          <a:prstGeom prst="rect">
            <a:avLst/>
          </a:prstGeom>
          <a:noFill/>
        </p:spPr>
        <p:txBody>
          <a:bodyPr wrap="square" rtlCol="0">
            <a:spAutoFit/>
          </a:bodyPr>
          <a:lstStyle/>
          <a:p>
            <a:r>
              <a:rPr lang="el-GR" sz="3600" b="1" dirty="0">
                <a:latin typeface="Calibri"/>
                <a:ea typeface="Calibri"/>
                <a:cs typeface="Calibri"/>
                <a:sym typeface="Calibri"/>
              </a:rPr>
              <a:t>λ</a:t>
            </a:r>
            <a:r>
              <a:rPr lang="af-ZA" sz="3600" b="1" dirty="0">
                <a:latin typeface="Calibri"/>
                <a:ea typeface="Calibri"/>
                <a:cs typeface="Calibri"/>
                <a:sym typeface="Calibri"/>
              </a:rPr>
              <a:t>  .</a:t>
            </a:r>
            <a:endParaRPr lang="en-IN" sz="3600" dirty="0"/>
          </a:p>
        </p:txBody>
      </p:sp>
      <p:sp>
        <p:nvSpPr>
          <p:cNvPr id="27" name="Google Shape;507;p4"/>
          <p:cNvSpPr/>
          <p:nvPr/>
        </p:nvSpPr>
        <p:spPr>
          <a:xfrm>
            <a:off x="1128490" y="4198325"/>
            <a:ext cx="10231171" cy="1921122"/>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lvl="0" algn="ctr"/>
            <a:r>
              <a:rPr lang="af-ZA" sz="2000" dirty="0">
                <a:latin typeface="Calibri"/>
                <a:ea typeface="Calibri"/>
                <a:cs typeface="Calibri"/>
                <a:sym typeface="Calibri"/>
              </a:rPr>
              <a:t>Using the equations that we get by solving the above equation for both the values of </a:t>
            </a:r>
            <a:r>
              <a:rPr lang="el-GR" sz="2000" b="1" dirty="0">
                <a:latin typeface="Calibri"/>
                <a:ea typeface="Calibri"/>
                <a:cs typeface="Calibri"/>
                <a:sym typeface="Calibri"/>
              </a:rPr>
              <a:t>λ</a:t>
            </a:r>
            <a:r>
              <a:rPr lang="af-ZA" sz="2000" b="1" dirty="0">
                <a:latin typeface="Calibri"/>
                <a:ea typeface="Calibri"/>
                <a:cs typeface="Calibri"/>
                <a:sym typeface="Calibri"/>
              </a:rPr>
              <a:t>, we will get the Eigen Vectors of the given matrix. </a:t>
            </a:r>
            <a:r>
              <a:rPr lang="af-ZA" sz="2000" dirty="0">
                <a:latin typeface="Calibri"/>
                <a:ea typeface="Calibri"/>
                <a:cs typeface="Calibri"/>
                <a:sym typeface="Calibri"/>
              </a:rPr>
              <a:t> </a:t>
            </a:r>
            <a:endParaRPr lang="af-ZA" sz="1200" dirty="0">
              <a:latin typeface="Calibri"/>
              <a:ea typeface="Calibri"/>
              <a:cs typeface="Calibri"/>
              <a:sym typeface="Calibri"/>
            </a:endParaRPr>
          </a:p>
        </p:txBody>
      </p:sp>
    </p:spTree>
    <p:extLst>
      <p:ext uri="{BB962C8B-B14F-4D97-AF65-F5344CB8AC3E}">
        <p14:creationId xmlns:p14="http://schemas.microsoft.com/office/powerpoint/2010/main" val="56365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827521" y="1459523"/>
            <a:ext cx="6497118"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16" name="Google Shape;507;p4"/>
          <p:cNvSpPr/>
          <p:nvPr/>
        </p:nvSpPr>
        <p:spPr>
          <a:xfrm>
            <a:off x="7878304" y="1459523"/>
            <a:ext cx="3552397" cy="3481759"/>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4" name="TextBox 3"/>
          <p:cNvSpPr txBox="1"/>
          <p:nvPr/>
        </p:nvSpPr>
        <p:spPr>
          <a:xfrm>
            <a:off x="8748346" y="1547454"/>
            <a:ext cx="1828800" cy="369332"/>
          </a:xfrm>
          <a:prstGeom prst="rect">
            <a:avLst/>
          </a:prstGeom>
          <a:noFill/>
        </p:spPr>
        <p:txBody>
          <a:bodyPr wrap="square" rtlCol="0">
            <a:spAutoFit/>
          </a:bodyPr>
          <a:lstStyle/>
          <a:p>
            <a:pPr algn="ctr"/>
            <a:r>
              <a:rPr lang="af-ZA" sz="1800" b="1" dirty="0"/>
              <a:t>Output</a:t>
            </a:r>
            <a:endParaRPr lang="en-IN" sz="1800" b="1" dirty="0"/>
          </a:p>
        </p:txBody>
      </p:sp>
      <p:sp>
        <p:nvSpPr>
          <p:cNvPr id="22" name="Google Shape;507;p4"/>
          <p:cNvSpPr/>
          <p:nvPr/>
        </p:nvSpPr>
        <p:spPr>
          <a:xfrm>
            <a:off x="1929689" y="5232951"/>
            <a:ext cx="8404806" cy="110630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used the numpy.linalg.eig() method to calculate the eigen values and eigen vectors of the given matrix M.</a:t>
            </a: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902" y="2375143"/>
            <a:ext cx="6374355" cy="1405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0327" y="2561248"/>
            <a:ext cx="3308350" cy="9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2250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Correlation Matrix</a:t>
            </a:r>
          </a:p>
        </p:txBody>
      </p:sp>
      <p:sp>
        <p:nvSpPr>
          <p:cNvPr id="3" name="Google Shape;507;p4"/>
          <p:cNvSpPr/>
          <p:nvPr/>
        </p:nvSpPr>
        <p:spPr>
          <a:xfrm>
            <a:off x="1072663" y="1345224"/>
            <a:ext cx="9944100" cy="152106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latin typeface="Calibri"/>
                <a:ea typeface="Calibri"/>
                <a:cs typeface="Calibri"/>
                <a:sym typeface="Calibri"/>
              </a:rPr>
              <a:t>Collinearity is a concept in statistics that resonates with the linear relationship between the predictor variables(independent variable) in a regression model. If the independent variables are correlated, they won’t be able to independently predict the value of the dependent variable in the regression model. </a:t>
            </a:r>
          </a:p>
        </p:txBody>
      </p:sp>
      <p:sp>
        <p:nvSpPr>
          <p:cNvPr id="4" name="Google Shape;507;p4"/>
          <p:cNvSpPr/>
          <p:nvPr/>
        </p:nvSpPr>
        <p:spPr>
          <a:xfrm>
            <a:off x="2810572" y="3145201"/>
            <a:ext cx="6279416" cy="2914653"/>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lvl="0" algn="ctr"/>
            <a:r>
              <a:rPr lang="af-ZA" sz="2000" dirty="0">
                <a:latin typeface="Calibri"/>
                <a:ea typeface="Calibri"/>
                <a:cs typeface="Calibri"/>
                <a:sym typeface="Calibri"/>
              </a:rPr>
              <a:t>A correlation matrix is a table that has the correlated coefficients between the variables. It is mostly used to deduce the patterns in a large dataset. </a:t>
            </a:r>
          </a:p>
        </p:txBody>
      </p:sp>
    </p:spTree>
    <p:extLst>
      <p:ext uri="{BB962C8B-B14F-4D97-AF65-F5344CB8AC3E}">
        <p14:creationId xmlns:p14="http://schemas.microsoft.com/office/powerpoint/2010/main" val="1942288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7" name="Google Shape;506;p4"/>
          <p:cNvSpPr txBox="1"/>
          <p:nvPr/>
        </p:nvSpPr>
        <p:spPr>
          <a:xfrm>
            <a:off x="433331" y="204144"/>
            <a:ext cx="8656657" cy="769275"/>
          </a:xfrm>
          <a:prstGeom prst="rect">
            <a:avLst/>
          </a:prstGeom>
          <a:noFill/>
          <a:ln>
            <a:noFill/>
          </a:ln>
        </p:spPr>
        <p:txBody>
          <a:bodyPr spcFirstLastPara="1" wrap="square" lIns="0" tIns="45700" rIns="91425" bIns="45700" anchor="ctr" anchorCtr="0">
            <a:noAutofit/>
          </a:bodyPr>
          <a:lstStyle/>
          <a:p>
            <a:pPr marL="0" marR="0" lvl="0" indent="0" algn="l" rtl="0">
              <a:lnSpc>
                <a:spcPct val="100000"/>
              </a:lnSpc>
              <a:spcBef>
                <a:spcPts val="0"/>
              </a:spcBef>
              <a:spcAft>
                <a:spcPts val="0"/>
              </a:spcAft>
              <a:buClr>
                <a:srgbClr val="604878"/>
              </a:buClr>
              <a:buSzPts val="3200"/>
              <a:buFont typeface="Arial"/>
              <a:buNone/>
            </a:pPr>
            <a:r>
              <a:rPr lang="en-US" sz="3200" b="1" i="0" u="none" strike="noStrike" cap="none" dirty="0">
                <a:solidFill>
                  <a:srgbClr val="604878"/>
                </a:solidFill>
                <a:latin typeface="Raleway Light"/>
                <a:ea typeface="Raleway Light"/>
                <a:cs typeface="Raleway Light"/>
                <a:sym typeface="Raleway Light"/>
              </a:rPr>
              <a:t>Hands on - Python</a:t>
            </a:r>
            <a:endParaRPr dirty="0"/>
          </a:p>
        </p:txBody>
      </p:sp>
      <p:sp>
        <p:nvSpPr>
          <p:cNvPr id="13" name="Google Shape;507;p4"/>
          <p:cNvSpPr/>
          <p:nvPr/>
        </p:nvSpPr>
        <p:spPr>
          <a:xfrm>
            <a:off x="433331" y="1213338"/>
            <a:ext cx="5080910" cy="2189285"/>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endParaRPr lang="en-IN" sz="2000" dirty="0"/>
          </a:p>
        </p:txBody>
      </p:sp>
      <p:sp>
        <p:nvSpPr>
          <p:cNvPr id="22" name="Google Shape;507;p4"/>
          <p:cNvSpPr/>
          <p:nvPr/>
        </p:nvSpPr>
        <p:spPr>
          <a:xfrm>
            <a:off x="517589" y="3729467"/>
            <a:ext cx="4912393" cy="2310848"/>
          </a:xfrm>
          <a:prstGeom prst="roundRect">
            <a:avLst>
              <a:gd name="adj" fmla="val 16667"/>
            </a:avLst>
          </a:prstGeom>
          <a:solidFill>
            <a:schemeClr val="lt1"/>
          </a:solidFill>
          <a:ln w="12700" cap="flat" cmpd="sng">
            <a:solidFill>
              <a:schemeClr val="accent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af-ZA" sz="2000" dirty="0">
                <a:latin typeface="Calibri"/>
                <a:ea typeface="Calibri"/>
                <a:cs typeface="Calibri"/>
                <a:sym typeface="Calibri"/>
              </a:rPr>
              <a:t>In this example, we have plotted the correlation coefficients of the titanic data on a heatmap using seaborn in python. By the value of the correlation coefficient, we can figure out the collinearity of the predictor variables. </a:t>
            </a: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803" y="1612899"/>
            <a:ext cx="4585631" cy="1341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2462" y="1380392"/>
            <a:ext cx="6026451" cy="4413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1424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4063"/>
        <p:cNvGrpSpPr/>
        <p:nvPr/>
      </p:nvGrpSpPr>
      <p:grpSpPr>
        <a:xfrm>
          <a:off x="0" y="0"/>
          <a:ext cx="0" cy="0"/>
          <a:chOff x="0" y="0"/>
          <a:chExt cx="0" cy="0"/>
        </a:xfrm>
      </p:grpSpPr>
      <p:pic>
        <p:nvPicPr>
          <p:cNvPr id="4064" name="Google Shape;4064;p215"/>
          <p:cNvPicPr preferRelativeResize="0"/>
          <p:nvPr/>
        </p:nvPicPr>
        <p:blipFill rotWithShape="1">
          <a:blip r:embed="rId3">
            <a:alphaModFix/>
          </a:blip>
          <a:srcRect/>
          <a:stretch/>
        </p:blipFill>
        <p:spPr>
          <a:xfrm>
            <a:off x="4402667" y="476608"/>
            <a:ext cx="3386667" cy="1180563"/>
          </a:xfrm>
          <a:prstGeom prst="rect">
            <a:avLst/>
          </a:prstGeom>
          <a:noFill/>
          <a:ln>
            <a:noFill/>
          </a:ln>
        </p:spPr>
      </p:pic>
      <p:grpSp>
        <p:nvGrpSpPr>
          <p:cNvPr id="4065" name="Google Shape;4065;p215"/>
          <p:cNvGrpSpPr/>
          <p:nvPr/>
        </p:nvGrpSpPr>
        <p:grpSpPr>
          <a:xfrm>
            <a:off x="1233192" y="2207553"/>
            <a:ext cx="9697359" cy="4111463"/>
            <a:chOff x="591670" y="2090218"/>
            <a:chExt cx="10675867" cy="4526327"/>
          </a:xfrm>
        </p:grpSpPr>
        <p:pic>
          <p:nvPicPr>
            <p:cNvPr id="4066" name="Google Shape;4066;p215"/>
            <p:cNvPicPr preferRelativeResize="0"/>
            <p:nvPr/>
          </p:nvPicPr>
          <p:blipFill rotWithShape="1">
            <a:blip r:embed="rId4">
              <a:alphaModFix/>
            </a:blip>
            <a:srcRect t="13663" b="10935"/>
            <a:stretch/>
          </p:blipFill>
          <p:spPr>
            <a:xfrm>
              <a:off x="591670" y="2090218"/>
              <a:ext cx="10652248" cy="4526327"/>
            </a:xfrm>
            <a:prstGeom prst="rect">
              <a:avLst/>
            </a:prstGeom>
            <a:noFill/>
            <a:ln>
              <a:noFill/>
            </a:ln>
          </p:spPr>
        </p:pic>
        <p:sp>
          <p:nvSpPr>
            <p:cNvPr id="4067" name="Google Shape;4067;p215"/>
            <p:cNvSpPr txBox="1"/>
            <p:nvPr/>
          </p:nvSpPr>
          <p:spPr>
            <a:xfrm>
              <a:off x="6880643" y="2451478"/>
              <a:ext cx="2878665" cy="4065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07F09"/>
                  </a:solidFill>
                  <a:latin typeface="Raleway"/>
                  <a:ea typeface="Raleway"/>
                  <a:cs typeface="Raleway"/>
                  <a:sym typeface="Raleway"/>
                </a:rPr>
                <a:t>India: +91-7847955955</a:t>
              </a:r>
              <a:endParaRPr/>
            </a:p>
          </p:txBody>
        </p:sp>
        <p:sp>
          <p:nvSpPr>
            <p:cNvPr id="4068" name="Google Shape;4068;p215"/>
            <p:cNvSpPr txBox="1"/>
            <p:nvPr/>
          </p:nvSpPr>
          <p:spPr>
            <a:xfrm>
              <a:off x="6880643" y="3152473"/>
              <a:ext cx="4161288" cy="4065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07F09"/>
                  </a:solidFill>
                  <a:latin typeface="Raleway"/>
                  <a:ea typeface="Raleway"/>
                  <a:cs typeface="Raleway"/>
                  <a:sym typeface="Raleway"/>
                </a:rPr>
                <a:t>US: 1-800-216-8930 (TOLL FREE)</a:t>
              </a:r>
              <a:endParaRPr/>
            </a:p>
          </p:txBody>
        </p:sp>
        <p:sp>
          <p:nvSpPr>
            <p:cNvPr id="4069" name="Google Shape;4069;p215"/>
            <p:cNvSpPr txBox="1"/>
            <p:nvPr/>
          </p:nvSpPr>
          <p:spPr>
            <a:xfrm>
              <a:off x="6880642" y="4099242"/>
              <a:ext cx="3175144" cy="4065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7671B3"/>
                  </a:solidFill>
                  <a:latin typeface="Raleway"/>
                  <a:ea typeface="Raleway"/>
                  <a:cs typeface="Raleway"/>
                  <a:sym typeface="Raleway"/>
                </a:rPr>
                <a:t>support@intellipaat.com</a:t>
              </a:r>
              <a:endParaRPr/>
            </a:p>
          </p:txBody>
        </p:sp>
        <p:sp>
          <p:nvSpPr>
            <p:cNvPr id="4070" name="Google Shape;4070;p215"/>
            <p:cNvSpPr txBox="1"/>
            <p:nvPr/>
          </p:nvSpPr>
          <p:spPr>
            <a:xfrm>
              <a:off x="6880643" y="5486326"/>
              <a:ext cx="4386894" cy="4065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3C8478"/>
                  </a:solidFill>
                  <a:latin typeface="Raleway"/>
                  <a:ea typeface="Raleway"/>
                  <a:cs typeface="Raleway"/>
                  <a:sym typeface="Raleway"/>
                </a:rPr>
                <a:t>24/7 Chat with Our Course Advisor</a:t>
              </a:r>
              <a:endParaRPr/>
            </a:p>
          </p:txBody>
        </p:sp>
      </p:grpSp>
      <p:sp>
        <p:nvSpPr>
          <p:cNvPr id="4071" name="Google Shape;4071;p215"/>
          <p:cNvSpPr/>
          <p:nvPr/>
        </p:nvSpPr>
        <p:spPr>
          <a:xfrm>
            <a:off x="9668539" y="14177"/>
            <a:ext cx="2509284" cy="1165504"/>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4072" name="Google Shape;4072;p215"/>
          <p:cNvPicPr preferRelativeResize="0"/>
          <p:nvPr/>
        </p:nvPicPr>
        <p:blipFill rotWithShape="1">
          <a:blip r:embed="rId5">
            <a:alphaModFix/>
          </a:blip>
          <a:srcRect/>
          <a:stretch/>
        </p:blipFill>
        <p:spPr>
          <a:xfrm>
            <a:off x="0" y="0"/>
            <a:ext cx="12192000" cy="685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Diseño personalizado">
  <a:themeElements>
    <a:clrScheme name="Custom 12">
      <a:dk1>
        <a:srgbClr val="000000"/>
      </a:dk1>
      <a:lt1>
        <a:srgbClr val="FFFFFF"/>
      </a:lt1>
      <a:dk2>
        <a:srgbClr val="323232"/>
      </a:dk2>
      <a:lt2>
        <a:srgbClr val="E3DED1"/>
      </a:lt2>
      <a:accent1>
        <a:srgbClr val="F07F09"/>
      </a:accent1>
      <a:accent2>
        <a:srgbClr val="604878"/>
      </a:accent2>
      <a:accent3>
        <a:srgbClr val="6B9F25"/>
      </a:accent3>
      <a:accent4>
        <a:srgbClr val="1B587C"/>
      </a:accent4>
      <a:accent5>
        <a:srgbClr val="00B0F0"/>
      </a:accent5>
      <a:accent6>
        <a:srgbClr val="323232"/>
      </a:accent6>
      <a:hlink>
        <a:srgbClr val="4E8542"/>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Diseño personalizado">
  <a:themeElements>
    <a:clrScheme name="Custom 4">
      <a:dk1>
        <a:srgbClr val="000000"/>
      </a:dk1>
      <a:lt1>
        <a:srgbClr val="FFFFFF"/>
      </a:lt1>
      <a:dk2>
        <a:srgbClr val="323232"/>
      </a:dk2>
      <a:lt2>
        <a:srgbClr val="E3DED1"/>
      </a:lt2>
      <a:accent1>
        <a:srgbClr val="F07F09"/>
      </a:accent1>
      <a:accent2>
        <a:srgbClr val="604878"/>
      </a:accent2>
      <a:accent3>
        <a:srgbClr val="6B9F25"/>
      </a:accent3>
      <a:accent4>
        <a:srgbClr val="1B587C"/>
      </a:accent4>
      <a:accent5>
        <a:srgbClr val="00B0F0"/>
      </a:accent5>
      <a:accent6>
        <a:srgbClr val="FFFFFF"/>
      </a:accent6>
      <a:hlink>
        <a:srgbClr val="4E8542"/>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Diseño personalizado">
  <a:themeElements>
    <a:clrScheme name="Custom 4">
      <a:dk1>
        <a:srgbClr val="000000"/>
      </a:dk1>
      <a:lt1>
        <a:srgbClr val="FFFFFF"/>
      </a:lt1>
      <a:dk2>
        <a:srgbClr val="323232"/>
      </a:dk2>
      <a:lt2>
        <a:srgbClr val="E3DED1"/>
      </a:lt2>
      <a:accent1>
        <a:srgbClr val="F07F09"/>
      </a:accent1>
      <a:accent2>
        <a:srgbClr val="604878"/>
      </a:accent2>
      <a:accent3>
        <a:srgbClr val="6B9F25"/>
      </a:accent3>
      <a:accent4>
        <a:srgbClr val="1B587C"/>
      </a:accent4>
      <a:accent5>
        <a:srgbClr val="00B0F0"/>
      </a:accent5>
      <a:accent6>
        <a:srgbClr val="FFFFFF"/>
      </a:accent6>
      <a:hlink>
        <a:srgbClr val="4E8542"/>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Diseño personalizado">
  <a:themeElements>
    <a:clrScheme name="Custom 4">
      <a:dk1>
        <a:srgbClr val="000000"/>
      </a:dk1>
      <a:lt1>
        <a:srgbClr val="FFFFFF"/>
      </a:lt1>
      <a:dk2>
        <a:srgbClr val="323232"/>
      </a:dk2>
      <a:lt2>
        <a:srgbClr val="E3DED1"/>
      </a:lt2>
      <a:accent1>
        <a:srgbClr val="F07F09"/>
      </a:accent1>
      <a:accent2>
        <a:srgbClr val="604878"/>
      </a:accent2>
      <a:accent3>
        <a:srgbClr val="6B9F25"/>
      </a:accent3>
      <a:accent4>
        <a:srgbClr val="1B587C"/>
      </a:accent4>
      <a:accent5>
        <a:srgbClr val="00B0F0"/>
      </a:accent5>
      <a:accent6>
        <a:srgbClr val="FFFFFF"/>
      </a:accent6>
      <a:hlink>
        <a:srgbClr val="4E8542"/>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6323</TotalTime>
  <Words>3680</Words>
  <Application>Microsoft Office PowerPoint</Application>
  <PresentationFormat>Custom</PresentationFormat>
  <Paragraphs>1118</Paragraphs>
  <Slides>78</Slides>
  <Notes>78</Notes>
  <HiddenSlides>3</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78</vt:i4>
      </vt:variant>
    </vt:vector>
  </HeadingPairs>
  <TitlesOfParts>
    <vt:vector size="88" baseType="lpstr">
      <vt:lpstr>Arial</vt:lpstr>
      <vt:lpstr>Raleway Black</vt:lpstr>
      <vt:lpstr>Calibri</vt:lpstr>
      <vt:lpstr>Lato</vt:lpstr>
      <vt:lpstr>Raleway</vt:lpstr>
      <vt:lpstr>Raleway Light</vt:lpstr>
      <vt:lpstr>Diseño personalizado</vt:lpstr>
      <vt:lpstr>1_Diseño personalizado</vt:lpstr>
      <vt:lpstr>2_Diseño personalizado</vt:lpstr>
      <vt:lpstr>4_Diseño personalizado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Debashis Borgohain</dc:creator>
  <cp:lastModifiedBy>user</cp:lastModifiedBy>
  <cp:revision>165</cp:revision>
  <dcterms:created xsi:type="dcterms:W3CDTF">2019-08-22T08:21:15Z</dcterms:created>
  <dcterms:modified xsi:type="dcterms:W3CDTF">2022-04-09T07:34:57Z</dcterms:modified>
</cp:coreProperties>
</file>