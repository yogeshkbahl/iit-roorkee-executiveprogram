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hjBElTvwdk3VU3ZADKh0Rd4Pnu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Humans have been trying to teach computers to perform tasks since their invention. It’s sort of the purpose of a computer, to do something at the level, or beyond what a human can do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Early in the days of computers, many people were convinced that they would achieve human level intelligence within a few decades</a:t>
            </a:r>
            <a:endParaRPr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It turned out that generalized human intelligence was beyond the grasp of computers at that time (although today, we’re starting to see systems that look a whole lot like human intelligence)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b3d3bf0a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b3d3bf0a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713a40ac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713a40ac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b3d3bf0a1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b3d3bf0a1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c5cbfdc5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c5cbfdc5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1341875" y="1437475"/>
            <a:ext cx="6695100" cy="189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b="1">
              <a:solidFill>
                <a:srgbClr val="93C47D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>
                <a:solidFill>
                  <a:srgbClr val="93C47D"/>
                </a:solidFill>
              </a:rPr>
              <a:t>Introduction to Machine Learning</a:t>
            </a:r>
            <a:endParaRPr>
              <a:solidFill>
                <a:srgbClr val="93C47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>
            <p:ph idx="1" type="subTitle"/>
          </p:nvPr>
        </p:nvSpPr>
        <p:spPr>
          <a:xfrm>
            <a:off x="3259825" y="191800"/>
            <a:ext cx="22302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6126"/>
              <a:buNone/>
            </a:pPr>
            <a:r>
              <a:rPr lang="en" sz="2400">
                <a:solidFill>
                  <a:srgbClr val="E8EAED"/>
                </a:solidFill>
                <a:highlight>
                  <a:srgbClr val="202124"/>
                </a:highlight>
              </a:rPr>
              <a:t>15 March 2016</a:t>
            </a:r>
            <a:endParaRPr/>
          </a:p>
        </p:txBody>
      </p:sp>
      <p:pic>
        <p:nvPicPr>
          <p:cNvPr id="60" name="Google Shape;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625" y="1178625"/>
            <a:ext cx="4166901" cy="329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97725" y="1081900"/>
            <a:ext cx="4493875" cy="3299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type="title"/>
          </p:nvPr>
        </p:nvSpPr>
        <p:spPr>
          <a:xfrm>
            <a:off x="272475" y="1706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Protein Structure Unfolding (2022) - AlphaFold</a:t>
            </a:r>
            <a:endParaRPr/>
          </a:p>
        </p:txBody>
      </p:sp>
      <p:pic>
        <p:nvPicPr>
          <p:cNvPr id="67" name="Google Shape;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9501" y="1136900"/>
            <a:ext cx="5012300" cy="376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 txBox="1"/>
          <p:nvPr>
            <p:ph idx="1" type="subTitle"/>
          </p:nvPr>
        </p:nvSpPr>
        <p:spPr>
          <a:xfrm>
            <a:off x="311700" y="63400"/>
            <a:ext cx="85206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6"/>
              <a:buNone/>
            </a:pPr>
            <a:r>
              <a:rPr lang="en">
                <a:solidFill>
                  <a:srgbClr val="93C47D"/>
                </a:solidFill>
              </a:rPr>
              <a:t>Computers made our lives easier!</a:t>
            </a:r>
            <a:endParaRPr>
              <a:solidFill>
                <a:srgbClr val="93C47D"/>
              </a:solidFill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125275" y="4377125"/>
            <a:ext cx="195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1892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Calculator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624000" y="3539425"/>
            <a:ext cx="1952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1942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Enigma Machine (world war-2)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1513300" y="2701725"/>
            <a:ext cx="1952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1969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Apollo 11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(Moon landing)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2461550" y="1870425"/>
            <a:ext cx="1952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1978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 spreadsheet program (VisiCalc)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 txBox="1"/>
          <p:nvPr/>
        </p:nvSpPr>
        <p:spPr>
          <a:xfrm>
            <a:off x="3652975" y="1039125"/>
            <a:ext cx="1952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1998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Apple Macintosh Desktop computer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5094950" y="700075"/>
            <a:ext cx="195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2004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Gmail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6028475" y="661925"/>
            <a:ext cx="195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2007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 iPhone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7227225" y="625075"/>
            <a:ext cx="1952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2008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 Chrome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" name="Google Shape;81;p4"/>
          <p:cNvCxnSpPr/>
          <p:nvPr/>
        </p:nvCxnSpPr>
        <p:spPr>
          <a:xfrm>
            <a:off x="4362400" y="1856975"/>
            <a:ext cx="7500" cy="3190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2" name="Google Shape;82;p4"/>
          <p:cNvSpPr/>
          <p:nvPr/>
        </p:nvSpPr>
        <p:spPr>
          <a:xfrm>
            <a:off x="147375" y="4200275"/>
            <a:ext cx="164400" cy="177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668225" y="3356025"/>
            <a:ext cx="164400" cy="177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476450" y="2571750"/>
            <a:ext cx="164400" cy="177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407450" y="1856975"/>
            <a:ext cx="164400" cy="177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3532550" y="1100525"/>
            <a:ext cx="164400" cy="177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893450" y="781100"/>
            <a:ext cx="164400" cy="177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900650" y="781100"/>
            <a:ext cx="164400" cy="177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7055238" y="700075"/>
            <a:ext cx="164400" cy="1770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5187725" y="2903350"/>
            <a:ext cx="2682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93C47D"/>
                </a:solidFill>
                <a:latin typeface="Arial"/>
                <a:ea typeface="Arial"/>
                <a:cs typeface="Arial"/>
                <a:sym typeface="Arial"/>
              </a:rPr>
              <a:t>~approx use of commercial computers</a:t>
            </a:r>
            <a:endParaRPr b="0" i="0" sz="1100" u="none" cap="none" strike="noStrike">
              <a:solidFill>
                <a:srgbClr val="93C47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B6D7A8"/>
                </a:solidFill>
              </a:rPr>
              <a:t>Is every problem is solvable by </a:t>
            </a:r>
            <a:endParaRPr>
              <a:solidFill>
                <a:srgbClr val="B6D7A8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B6D7A8"/>
                </a:solidFill>
              </a:rPr>
              <a:t>rule engine?</a:t>
            </a:r>
            <a:endParaRPr>
              <a:solidFill>
                <a:srgbClr val="B6D7A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 txBox="1"/>
          <p:nvPr>
            <p:ph type="title"/>
          </p:nvPr>
        </p:nvSpPr>
        <p:spPr>
          <a:xfrm>
            <a:off x="2360275" y="179750"/>
            <a:ext cx="408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93C47D"/>
                </a:solidFill>
              </a:rPr>
              <a:t>Expert System - Limitations</a:t>
            </a:r>
            <a:endParaRPr>
              <a:solidFill>
                <a:srgbClr val="93C47D"/>
              </a:solidFill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257900" y="1319025"/>
            <a:ext cx="8695200" cy="52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are these Images?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225" y="2261400"/>
            <a:ext cx="2534925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0850" y="2261400"/>
            <a:ext cx="242425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7500" y="2261400"/>
            <a:ext cx="2424249" cy="1504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 txBox="1"/>
          <p:nvPr>
            <p:ph type="title"/>
          </p:nvPr>
        </p:nvSpPr>
        <p:spPr>
          <a:xfrm>
            <a:off x="2360275" y="179750"/>
            <a:ext cx="4802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93C47D"/>
                </a:solidFill>
              </a:rPr>
              <a:t>Learning through data/examples</a:t>
            </a:r>
            <a:endParaRPr>
              <a:solidFill>
                <a:srgbClr val="93C47D"/>
              </a:solidFill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257900" y="1319025"/>
            <a:ext cx="8695200" cy="523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child, how did you started recognising these images?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225" y="2261400"/>
            <a:ext cx="2534925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0850" y="2261400"/>
            <a:ext cx="242425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7500" y="2261400"/>
            <a:ext cx="2424249" cy="150494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8"/>
          <p:cNvSpPr txBox="1"/>
          <p:nvPr/>
        </p:nvSpPr>
        <p:spPr>
          <a:xfrm>
            <a:off x="604225" y="4251850"/>
            <a:ext cx="521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Expose to lot of data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Somebody was correcting you over the period of time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0"/>
          <p:cNvSpPr txBox="1"/>
          <p:nvPr>
            <p:ph type="title"/>
          </p:nvPr>
        </p:nvSpPr>
        <p:spPr>
          <a:xfrm>
            <a:off x="311700" y="172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B6D7A8"/>
                </a:solidFill>
              </a:rPr>
              <a:t>Machine Learning is all about learning patterns from data</a:t>
            </a:r>
            <a:endParaRPr>
              <a:solidFill>
                <a:srgbClr val="B6D7A8"/>
              </a:solidFill>
            </a:endParaRPr>
          </a:p>
        </p:txBody>
      </p:sp>
      <p:sp>
        <p:nvSpPr>
          <p:cNvPr id="120" name="Google Shape;120;p10"/>
          <p:cNvSpPr txBox="1"/>
          <p:nvPr/>
        </p:nvSpPr>
        <p:spPr>
          <a:xfrm>
            <a:off x="390575" y="795850"/>
            <a:ext cx="1643400" cy="400200"/>
          </a:xfrm>
          <a:prstGeom prst="rect">
            <a:avLst/>
          </a:prstGeom>
          <a:noFill/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Exercise 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" name="Google Shape;121;p10"/>
          <p:cNvGrpSpPr/>
          <p:nvPr/>
        </p:nvGrpSpPr>
        <p:grpSpPr>
          <a:xfrm>
            <a:off x="1665350" y="1650600"/>
            <a:ext cx="4411550" cy="3090500"/>
            <a:chOff x="1665350" y="1650600"/>
            <a:chExt cx="4411550" cy="3090500"/>
          </a:xfrm>
        </p:grpSpPr>
        <p:sp>
          <p:nvSpPr>
            <p:cNvPr id="122" name="Google Shape;122;p10"/>
            <p:cNvSpPr txBox="1"/>
            <p:nvPr/>
          </p:nvSpPr>
          <p:spPr>
            <a:xfrm>
              <a:off x="1665350" y="1724300"/>
              <a:ext cx="854700" cy="301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" sz="3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" sz="3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" sz="3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" sz="3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" sz="3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0"/>
            <p:cNvSpPr txBox="1"/>
            <p:nvPr/>
          </p:nvSpPr>
          <p:spPr>
            <a:xfrm>
              <a:off x="5222200" y="1650600"/>
              <a:ext cx="854700" cy="301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" sz="3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" sz="3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endPara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" sz="3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25</a:t>
              </a:r>
              <a:endPara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" sz="3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36</a:t>
              </a:r>
              <a:endPara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" sz="3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81</a:t>
              </a:r>
              <a:endPara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0"/>
            <p:cNvSpPr/>
            <p:nvPr/>
          </p:nvSpPr>
          <p:spPr>
            <a:xfrm>
              <a:off x="2837100" y="2173825"/>
              <a:ext cx="1734900" cy="1665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Guess the function 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" name="Google Shape;125;p10"/>
            <p:cNvCxnSpPr/>
            <p:nvPr/>
          </p:nvCxnSpPr>
          <p:spPr>
            <a:xfrm>
              <a:off x="2166450" y="2100150"/>
              <a:ext cx="795900" cy="420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6" name="Google Shape;126;p10"/>
            <p:cNvCxnSpPr>
              <a:endCxn id="124" idx="3"/>
            </p:cNvCxnSpPr>
            <p:nvPr/>
          </p:nvCxnSpPr>
          <p:spPr>
            <a:xfrm flipH="1" rot="10800000">
              <a:off x="2166570" y="3595247"/>
              <a:ext cx="924600" cy="663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7" name="Google Shape;127;p10"/>
            <p:cNvCxnSpPr/>
            <p:nvPr/>
          </p:nvCxnSpPr>
          <p:spPr>
            <a:xfrm flipH="1" rot="10800000">
              <a:off x="4472925" y="2070725"/>
              <a:ext cx="788400" cy="552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8" name="Google Shape;128;p10"/>
            <p:cNvCxnSpPr>
              <a:stCxn id="124" idx="5"/>
            </p:cNvCxnSpPr>
            <p:nvPr/>
          </p:nvCxnSpPr>
          <p:spPr>
            <a:xfrm>
              <a:off x="4317930" y="3595247"/>
              <a:ext cx="965700" cy="575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"/>
          <p:cNvSpPr txBox="1"/>
          <p:nvPr>
            <p:ph type="title"/>
          </p:nvPr>
        </p:nvSpPr>
        <p:spPr>
          <a:xfrm>
            <a:off x="311700" y="1723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B6D7A8"/>
                </a:solidFill>
              </a:rPr>
              <a:t>Machine Learning is all about learning patterns from data</a:t>
            </a:r>
            <a:endParaRPr>
              <a:solidFill>
                <a:srgbClr val="B6D7A8"/>
              </a:solidFill>
            </a:endParaRPr>
          </a:p>
        </p:txBody>
      </p:sp>
      <p:sp>
        <p:nvSpPr>
          <p:cNvPr id="134" name="Google Shape;134;p11"/>
          <p:cNvSpPr txBox="1"/>
          <p:nvPr/>
        </p:nvSpPr>
        <p:spPr>
          <a:xfrm>
            <a:off x="390575" y="795850"/>
            <a:ext cx="1643400" cy="400200"/>
          </a:xfrm>
          <a:prstGeom prst="rect">
            <a:avLst/>
          </a:prstGeom>
          <a:noFill/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Exercise 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1"/>
          <p:cNvSpPr txBox="1"/>
          <p:nvPr/>
        </p:nvSpPr>
        <p:spPr>
          <a:xfrm>
            <a:off x="1665350" y="1724300"/>
            <a:ext cx="8547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1"/>
          <p:cNvSpPr txBox="1"/>
          <p:nvPr/>
        </p:nvSpPr>
        <p:spPr>
          <a:xfrm>
            <a:off x="5222200" y="1650600"/>
            <a:ext cx="8547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1"/>
          <p:cNvSpPr/>
          <p:nvPr/>
        </p:nvSpPr>
        <p:spPr>
          <a:xfrm>
            <a:off x="2837100" y="2173825"/>
            <a:ext cx="1734900" cy="1665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 = X * 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" name="Google Shape;138;p11"/>
          <p:cNvCxnSpPr/>
          <p:nvPr/>
        </p:nvCxnSpPr>
        <p:spPr>
          <a:xfrm>
            <a:off x="2166450" y="2100150"/>
            <a:ext cx="795900" cy="420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9" name="Google Shape;139;p11"/>
          <p:cNvCxnSpPr>
            <a:endCxn id="137" idx="3"/>
          </p:cNvCxnSpPr>
          <p:nvPr/>
        </p:nvCxnSpPr>
        <p:spPr>
          <a:xfrm flipH="1" rot="10800000">
            <a:off x="2166570" y="3595247"/>
            <a:ext cx="924600" cy="663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0" name="Google Shape;140;p11"/>
          <p:cNvCxnSpPr/>
          <p:nvPr/>
        </p:nvCxnSpPr>
        <p:spPr>
          <a:xfrm flipH="1" rot="10800000">
            <a:off x="4472925" y="2070725"/>
            <a:ext cx="788400" cy="55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1" name="Google Shape;141;p11"/>
          <p:cNvCxnSpPr>
            <a:stCxn id="137" idx="5"/>
          </p:cNvCxnSpPr>
          <p:nvPr/>
        </p:nvCxnSpPr>
        <p:spPr>
          <a:xfrm>
            <a:off x="4317930" y="3595247"/>
            <a:ext cx="965700" cy="57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"/>
          <p:cNvSpPr txBox="1"/>
          <p:nvPr/>
        </p:nvSpPr>
        <p:spPr>
          <a:xfrm>
            <a:off x="243175" y="169475"/>
            <a:ext cx="1643400" cy="400200"/>
          </a:xfrm>
          <a:prstGeom prst="rect">
            <a:avLst/>
          </a:prstGeom>
          <a:noFill/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Exercise 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" name="Google Shape;147;p12"/>
          <p:cNvGrpSpPr/>
          <p:nvPr/>
        </p:nvGrpSpPr>
        <p:grpSpPr>
          <a:xfrm>
            <a:off x="1945475" y="1026500"/>
            <a:ext cx="4996150" cy="3090500"/>
            <a:chOff x="1311750" y="1650600"/>
            <a:chExt cx="4996150" cy="3090500"/>
          </a:xfrm>
        </p:grpSpPr>
        <p:sp>
          <p:nvSpPr>
            <p:cNvPr id="148" name="Google Shape;148;p12"/>
            <p:cNvSpPr txBox="1"/>
            <p:nvPr/>
          </p:nvSpPr>
          <p:spPr>
            <a:xfrm>
              <a:off x="1311750" y="1724300"/>
              <a:ext cx="854700" cy="301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" sz="3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1.2</a:t>
              </a:r>
              <a:endPara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" sz="3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0.9</a:t>
              </a:r>
              <a:endPara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" sz="3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3.2</a:t>
              </a:r>
              <a:endPara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" sz="3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1.7</a:t>
              </a:r>
              <a:endPara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" sz="3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2.5</a:t>
              </a:r>
              <a:endPara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2"/>
            <p:cNvSpPr txBox="1"/>
            <p:nvPr/>
          </p:nvSpPr>
          <p:spPr>
            <a:xfrm>
              <a:off x="5222200" y="1650600"/>
              <a:ext cx="1085700" cy="301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" sz="3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70</a:t>
              </a:r>
              <a:endPara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" sz="3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50</a:t>
              </a:r>
              <a:endPara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" sz="3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270120</a:t>
              </a:r>
              <a:endPara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" sz="3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200</a:t>
              </a:r>
              <a:endPara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2"/>
            <p:cNvSpPr/>
            <p:nvPr/>
          </p:nvSpPr>
          <p:spPr>
            <a:xfrm>
              <a:off x="2837100" y="2173825"/>
              <a:ext cx="1734900" cy="1665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Guess the function 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1" name="Google Shape;151;p12"/>
            <p:cNvCxnSpPr/>
            <p:nvPr/>
          </p:nvCxnSpPr>
          <p:spPr>
            <a:xfrm>
              <a:off x="2166450" y="2100150"/>
              <a:ext cx="795900" cy="420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52" name="Google Shape;152;p12"/>
            <p:cNvCxnSpPr>
              <a:endCxn id="150" idx="3"/>
            </p:cNvCxnSpPr>
            <p:nvPr/>
          </p:nvCxnSpPr>
          <p:spPr>
            <a:xfrm flipH="1" rot="10800000">
              <a:off x="2166570" y="3595247"/>
              <a:ext cx="924600" cy="663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53" name="Google Shape;153;p12"/>
            <p:cNvCxnSpPr/>
            <p:nvPr/>
          </p:nvCxnSpPr>
          <p:spPr>
            <a:xfrm flipH="1" rot="10800000">
              <a:off x="4472925" y="2070725"/>
              <a:ext cx="788400" cy="552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54" name="Google Shape;154;p12"/>
            <p:cNvCxnSpPr>
              <a:stCxn id="150" idx="5"/>
            </p:cNvCxnSpPr>
            <p:nvPr/>
          </p:nvCxnSpPr>
          <p:spPr>
            <a:xfrm>
              <a:off x="4317930" y="3595247"/>
              <a:ext cx="965700" cy="575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 txBox="1"/>
          <p:nvPr/>
        </p:nvSpPr>
        <p:spPr>
          <a:xfrm>
            <a:off x="243175" y="169475"/>
            <a:ext cx="1643400" cy="400200"/>
          </a:xfrm>
          <a:prstGeom prst="rect">
            <a:avLst/>
          </a:prstGeom>
          <a:noFill/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Exercise 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" name="Google Shape;160;p13"/>
          <p:cNvGrpSpPr/>
          <p:nvPr/>
        </p:nvGrpSpPr>
        <p:grpSpPr>
          <a:xfrm>
            <a:off x="1945475" y="1026500"/>
            <a:ext cx="4996150" cy="3090500"/>
            <a:chOff x="1311750" y="1650600"/>
            <a:chExt cx="4996150" cy="3090500"/>
          </a:xfrm>
        </p:grpSpPr>
        <p:sp>
          <p:nvSpPr>
            <p:cNvPr id="161" name="Google Shape;161;p13"/>
            <p:cNvSpPr txBox="1"/>
            <p:nvPr/>
          </p:nvSpPr>
          <p:spPr>
            <a:xfrm>
              <a:off x="1311750" y="1724300"/>
              <a:ext cx="854700" cy="301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" sz="3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1.2</a:t>
              </a:r>
              <a:endPara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" sz="3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0.9</a:t>
              </a:r>
              <a:endPara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" sz="3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3.2</a:t>
              </a:r>
              <a:endPara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" sz="3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1.7</a:t>
              </a:r>
              <a:endPara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" sz="3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2.5</a:t>
              </a:r>
              <a:endPara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3"/>
            <p:cNvSpPr txBox="1"/>
            <p:nvPr/>
          </p:nvSpPr>
          <p:spPr>
            <a:xfrm>
              <a:off x="5222200" y="1650600"/>
              <a:ext cx="1085700" cy="301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" sz="3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70</a:t>
              </a:r>
              <a:endPara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" sz="3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40</a:t>
              </a:r>
              <a:endPara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" sz="3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270120</a:t>
              </a:r>
              <a:endPara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400"/>
                <a:buFont typeface="Arial"/>
                <a:buNone/>
              </a:pPr>
              <a:r>
                <a:rPr b="0" i="0" lang="en" sz="3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200</a:t>
              </a:r>
              <a:endParaRPr b="0" i="0" sz="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2837100" y="2173825"/>
              <a:ext cx="1734900" cy="16653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 = X*100 - 50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4" name="Google Shape;164;p13"/>
            <p:cNvCxnSpPr/>
            <p:nvPr/>
          </p:nvCxnSpPr>
          <p:spPr>
            <a:xfrm>
              <a:off x="2166450" y="2100150"/>
              <a:ext cx="795900" cy="420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5" name="Google Shape;165;p13"/>
            <p:cNvCxnSpPr>
              <a:endCxn id="163" idx="3"/>
            </p:cNvCxnSpPr>
            <p:nvPr/>
          </p:nvCxnSpPr>
          <p:spPr>
            <a:xfrm flipH="1" rot="10800000">
              <a:off x="2166570" y="3595247"/>
              <a:ext cx="924600" cy="663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6" name="Google Shape;166;p13"/>
            <p:cNvCxnSpPr/>
            <p:nvPr/>
          </p:nvCxnSpPr>
          <p:spPr>
            <a:xfrm flipH="1" rot="10800000">
              <a:off x="4472925" y="2070725"/>
              <a:ext cx="788400" cy="552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67" name="Google Shape;167;p13"/>
            <p:cNvCxnSpPr>
              <a:stCxn id="163" idx="5"/>
            </p:cNvCxnSpPr>
            <p:nvPr/>
          </p:nvCxnSpPr>
          <p:spPr>
            <a:xfrm>
              <a:off x="4317930" y="3595247"/>
              <a:ext cx="965700" cy="575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68" name="Google Shape;168;p13"/>
          <p:cNvSpPr txBox="1"/>
          <p:nvPr/>
        </p:nvSpPr>
        <p:spPr>
          <a:xfrm>
            <a:off x="1377975" y="4038200"/>
            <a:ext cx="675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B6D7A8"/>
                </a:solidFill>
                <a:latin typeface="Arial"/>
                <a:ea typeface="Arial"/>
                <a:cs typeface="Arial"/>
                <a:sym typeface="Arial"/>
              </a:rPr>
              <a:t>Computers learning these function approximation is core of </a:t>
            </a:r>
            <a:r>
              <a:rPr b="1" i="0" lang="en" sz="1800" u="none" cap="none" strike="noStrike">
                <a:solidFill>
                  <a:srgbClr val="B6D7A8"/>
                </a:solidFill>
                <a:latin typeface="Arial"/>
                <a:ea typeface="Arial"/>
                <a:cs typeface="Arial"/>
                <a:sym typeface="Arial"/>
              </a:rPr>
              <a:t>Machine Learning!</a:t>
            </a:r>
            <a:endParaRPr b="1" i="0" sz="1800" u="none" cap="none" strike="noStrike">
              <a:solidFill>
                <a:srgbClr val="B6D7A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13"/>
          <p:cNvCxnSpPr/>
          <p:nvPr/>
        </p:nvCxnSpPr>
        <p:spPr>
          <a:xfrm>
            <a:off x="3868675" y="2571750"/>
            <a:ext cx="22200" cy="1356000"/>
          </a:xfrm>
          <a:prstGeom prst="straightConnector1">
            <a:avLst/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b3d3bf0a19_0_0"/>
          <p:cNvSpPr txBox="1"/>
          <p:nvPr>
            <p:ph type="title"/>
          </p:nvPr>
        </p:nvSpPr>
        <p:spPr>
          <a:xfrm>
            <a:off x="2338025" y="274750"/>
            <a:ext cx="479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of Machine Learning </a:t>
            </a:r>
            <a:endParaRPr/>
          </a:p>
        </p:txBody>
      </p:sp>
      <p:cxnSp>
        <p:nvCxnSpPr>
          <p:cNvPr id="175" name="Google Shape;175;g2b3d3bf0a19_0_0"/>
          <p:cNvCxnSpPr>
            <a:stCxn id="174" idx="2"/>
          </p:cNvCxnSpPr>
          <p:nvPr/>
        </p:nvCxnSpPr>
        <p:spPr>
          <a:xfrm flipH="1">
            <a:off x="4733675" y="847450"/>
            <a:ext cx="2700" cy="5658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" name="Google Shape;176;g2b3d3bf0a19_0_0"/>
          <p:cNvCxnSpPr/>
          <p:nvPr/>
        </p:nvCxnSpPr>
        <p:spPr>
          <a:xfrm flipH="1" rot="10800000">
            <a:off x="1268600" y="1100500"/>
            <a:ext cx="7100700" cy="597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" name="Google Shape;177;g2b3d3bf0a19_0_0"/>
          <p:cNvCxnSpPr/>
          <p:nvPr/>
        </p:nvCxnSpPr>
        <p:spPr>
          <a:xfrm>
            <a:off x="1268600" y="1100500"/>
            <a:ext cx="14400" cy="4050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g2b3d3bf0a19_0_0"/>
          <p:cNvCxnSpPr/>
          <p:nvPr/>
        </p:nvCxnSpPr>
        <p:spPr>
          <a:xfrm>
            <a:off x="8354900" y="1100500"/>
            <a:ext cx="14400" cy="40500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g2b3d3bf0a19_0_0"/>
          <p:cNvSpPr txBox="1"/>
          <p:nvPr/>
        </p:nvSpPr>
        <p:spPr>
          <a:xfrm>
            <a:off x="332050" y="1685775"/>
            <a:ext cx="23073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Supervised ML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180" name="Google Shape;180;g2b3d3bf0a19_0_0"/>
          <p:cNvSpPr txBox="1"/>
          <p:nvPr/>
        </p:nvSpPr>
        <p:spPr>
          <a:xfrm>
            <a:off x="3582725" y="1685775"/>
            <a:ext cx="23073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Un-</a:t>
            </a:r>
            <a:r>
              <a:rPr lang="en" sz="1800">
                <a:solidFill>
                  <a:schemeClr val="accent1"/>
                </a:solidFill>
              </a:rPr>
              <a:t>Supervised ML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181" name="Google Shape;181;g2b3d3bf0a19_0_0"/>
          <p:cNvSpPr txBox="1"/>
          <p:nvPr/>
        </p:nvSpPr>
        <p:spPr>
          <a:xfrm>
            <a:off x="7352775" y="1583600"/>
            <a:ext cx="23073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Reinforcement</a:t>
            </a:r>
            <a:endParaRPr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Learning</a:t>
            </a:r>
            <a:endParaRPr sz="18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b3d3bf0a19_0_11"/>
          <p:cNvSpPr txBox="1"/>
          <p:nvPr>
            <p:ph type="title"/>
          </p:nvPr>
        </p:nvSpPr>
        <p:spPr>
          <a:xfrm>
            <a:off x="3172400" y="215150"/>
            <a:ext cx="256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Supervised ML</a:t>
            </a:r>
            <a:endParaRPr/>
          </a:p>
        </p:txBody>
      </p:sp>
      <p:cxnSp>
        <p:nvCxnSpPr>
          <p:cNvPr id="191" name="Google Shape;191;g2b3d3bf0a19_0_11"/>
          <p:cNvCxnSpPr>
            <a:stCxn id="190" idx="2"/>
          </p:cNvCxnSpPr>
          <p:nvPr/>
        </p:nvCxnSpPr>
        <p:spPr>
          <a:xfrm flipH="1">
            <a:off x="3065150" y="787850"/>
            <a:ext cx="1390200" cy="96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g2b3d3bf0a19_0_11"/>
          <p:cNvCxnSpPr>
            <a:stCxn id="190" idx="2"/>
          </p:cNvCxnSpPr>
          <p:nvPr/>
        </p:nvCxnSpPr>
        <p:spPr>
          <a:xfrm>
            <a:off x="4455350" y="787850"/>
            <a:ext cx="1402200" cy="983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" name="Google Shape;193;g2b3d3bf0a19_0_11"/>
          <p:cNvSpPr txBox="1"/>
          <p:nvPr/>
        </p:nvSpPr>
        <p:spPr>
          <a:xfrm>
            <a:off x="1932675" y="1881575"/>
            <a:ext cx="2196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Regression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94" name="Google Shape;194;g2b3d3bf0a19_0_11"/>
          <p:cNvSpPr txBox="1"/>
          <p:nvPr/>
        </p:nvSpPr>
        <p:spPr>
          <a:xfrm>
            <a:off x="5320375" y="1999925"/>
            <a:ext cx="21966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Classification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