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144000"/>
  <p:notesSz cx="6858000" cy="9144000"/>
  <p:embeddedFontLst>
    <p:embeddedFont>
      <p:font typeface="Book Antiqua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4" roundtripDataSignature="AMtx7miE55xq+pm1vIQWcvL632G8dhgb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ookAntiqua-bold.fntdata"/><Relationship Id="rId10" Type="http://schemas.openxmlformats.org/officeDocument/2006/relationships/font" Target="fonts/BookAntiqua-regular.fntdata"/><Relationship Id="rId13" Type="http://schemas.openxmlformats.org/officeDocument/2006/relationships/font" Target="fonts/BookAntiqua-boldItalic.fntdata"/><Relationship Id="rId12" Type="http://schemas.openxmlformats.org/officeDocument/2006/relationships/font" Target="fonts/BookAntiqu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069590305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06959030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069590305f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893bf3df9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893bf3df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1893bf3df92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0" y="1480"/>
            <a:ext cx="9144000" cy="362471"/>
          </a:xfrm>
          <a:prstGeom prst="rect">
            <a:avLst/>
          </a:prstGeom>
          <a:solidFill>
            <a:srgbClr val="AC1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2F2F2"/>
                </a:solidFill>
              </a:rPr>
              <a:t>Random Forest</a:t>
            </a:r>
            <a:endParaRPr/>
          </a:p>
        </p:txBody>
      </p:sp>
      <p:cxnSp>
        <p:nvCxnSpPr>
          <p:cNvPr id="89" name="Google Shape;89;p1"/>
          <p:cNvCxnSpPr/>
          <p:nvPr/>
        </p:nvCxnSpPr>
        <p:spPr>
          <a:xfrm>
            <a:off x="143508" y="6525344"/>
            <a:ext cx="8856984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8604448" y="6577340"/>
            <a:ext cx="7560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4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72008" y="349310"/>
            <a:ext cx="38266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What is a Random Forest?</a:t>
            </a:r>
            <a:endParaRPr/>
          </a:p>
        </p:txBody>
      </p:sp>
      <p:grpSp>
        <p:nvGrpSpPr>
          <p:cNvPr id="92" name="Google Shape;92;p1"/>
          <p:cNvGrpSpPr/>
          <p:nvPr/>
        </p:nvGrpSpPr>
        <p:grpSpPr>
          <a:xfrm>
            <a:off x="2131141" y="2147438"/>
            <a:ext cx="4392488" cy="2636603"/>
            <a:chOff x="251520" y="1861955"/>
            <a:chExt cx="4902165" cy="3041033"/>
          </a:xfrm>
        </p:grpSpPr>
        <p:sp>
          <p:nvSpPr>
            <p:cNvPr id="93" name="Google Shape;93;p1"/>
            <p:cNvSpPr/>
            <p:nvPr/>
          </p:nvSpPr>
          <p:spPr>
            <a:xfrm>
              <a:off x="251520" y="1861955"/>
              <a:ext cx="1296144" cy="1152128"/>
            </a:xfrm>
            <a:prstGeom prst="ellipse">
              <a:avLst/>
            </a:prstGeom>
            <a:noFill/>
            <a:ln cap="flat" cmpd="sng" w="25400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Bootstrap</a:t>
              </a: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251520" y="3750860"/>
              <a:ext cx="1296144" cy="1152128"/>
            </a:xfrm>
            <a:prstGeom prst="ellipse">
              <a:avLst/>
            </a:prstGeom>
            <a:noFill/>
            <a:ln cap="flat" cmpd="sng" w="25400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Decision</a:t>
              </a: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Tree</a:t>
              </a: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2051720" y="2753857"/>
              <a:ext cx="1296144" cy="1152128"/>
            </a:xfrm>
            <a:prstGeom prst="ellipse">
              <a:avLst/>
            </a:prstGeom>
            <a:noFill/>
            <a:ln cap="flat" cmpd="sng" w="25400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Bagged</a:t>
              </a: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Decision</a:t>
              </a: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Tree</a:t>
              </a:r>
              <a:endParaRPr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3857541" y="2753857"/>
              <a:ext cx="1296144" cy="1152128"/>
            </a:xfrm>
            <a:prstGeom prst="ellipse">
              <a:avLst/>
            </a:prstGeom>
            <a:noFill/>
            <a:ln cap="flat" cmpd="sng" w="25400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Random</a:t>
              </a:r>
              <a:r>
                <a:rPr b="1"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Forest</a:t>
              </a:r>
              <a:endParaRPr/>
            </a:p>
          </p:txBody>
        </p:sp>
        <p:cxnSp>
          <p:nvCxnSpPr>
            <p:cNvPr id="97" name="Google Shape;97;p1"/>
            <p:cNvCxnSpPr>
              <a:stCxn id="93" idx="6"/>
              <a:endCxn id="95" idx="0"/>
            </p:cNvCxnSpPr>
            <p:nvPr/>
          </p:nvCxnSpPr>
          <p:spPr>
            <a:xfrm>
              <a:off x="1547664" y="2438019"/>
              <a:ext cx="1152000" cy="315900"/>
            </a:xfrm>
            <a:prstGeom prst="bentConnector2">
              <a:avLst/>
            </a:prstGeom>
            <a:noFill/>
            <a:ln cap="flat" cmpd="sng" w="28575">
              <a:solidFill>
                <a:srgbClr val="4A7DBA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98" name="Google Shape;98;p1"/>
            <p:cNvCxnSpPr>
              <a:stCxn id="94" idx="6"/>
              <a:endCxn id="95" idx="4"/>
            </p:cNvCxnSpPr>
            <p:nvPr/>
          </p:nvCxnSpPr>
          <p:spPr>
            <a:xfrm flipH="1" rot="10800000">
              <a:off x="1547664" y="3906024"/>
              <a:ext cx="1152000" cy="420900"/>
            </a:xfrm>
            <a:prstGeom prst="bentConnector2">
              <a:avLst/>
            </a:prstGeom>
            <a:noFill/>
            <a:ln cap="flat" cmpd="sng" w="28575">
              <a:solidFill>
                <a:srgbClr val="4A7DBA"/>
              </a:solidFill>
              <a:prstDash val="dash"/>
              <a:round/>
              <a:headEnd len="sm" w="sm" type="none"/>
              <a:tailEnd len="med" w="med" type="triangle"/>
            </a:ln>
          </p:spPr>
        </p:cxnSp>
        <p:cxnSp>
          <p:nvCxnSpPr>
            <p:cNvPr id="99" name="Google Shape;99;p1"/>
            <p:cNvCxnSpPr>
              <a:stCxn id="95" idx="6"/>
              <a:endCxn id="96" idx="2"/>
            </p:cNvCxnSpPr>
            <p:nvPr/>
          </p:nvCxnSpPr>
          <p:spPr>
            <a:xfrm>
              <a:off x="3347864" y="3329921"/>
              <a:ext cx="509700" cy="0"/>
            </a:xfrm>
            <a:prstGeom prst="straightConnector1">
              <a:avLst/>
            </a:prstGeom>
            <a:noFill/>
            <a:ln cap="flat" cmpd="sng" w="28575">
              <a:solidFill>
                <a:srgbClr val="4A7DBA"/>
              </a:solidFill>
              <a:prstDash val="dash"/>
              <a:round/>
              <a:headEnd len="sm" w="sm" type="none"/>
              <a:tailEnd len="med" w="med" type="triangle"/>
            </a:ln>
          </p:spPr>
        </p:cxnSp>
      </p:grpSp>
      <p:sp>
        <p:nvSpPr>
          <p:cNvPr id="100" name="Google Shape;100;p1"/>
          <p:cNvSpPr/>
          <p:nvPr/>
        </p:nvSpPr>
        <p:spPr>
          <a:xfrm>
            <a:off x="72008" y="777415"/>
            <a:ext cx="885698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A random forest is a meta estimator that fits a number of decision tree classifiers on various sub-samples of the dataset and uses averaging to improve the predictive accuracy and control over-fitting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3275856" y="4714107"/>
            <a:ext cx="33123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1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 1 : Block diagram on how Random Forest is generated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069590305f_0_0"/>
          <p:cNvSpPr txBox="1"/>
          <p:nvPr/>
        </p:nvSpPr>
        <p:spPr>
          <a:xfrm>
            <a:off x="2521575" y="110825"/>
            <a:ext cx="432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Support Vector Machines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2069590305f_0_0"/>
          <p:cNvSpPr txBox="1"/>
          <p:nvPr/>
        </p:nvSpPr>
        <p:spPr>
          <a:xfrm>
            <a:off x="388900" y="1083050"/>
            <a:ext cx="6021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Within Logistic Regression (decision boundary) or in case of regression problem we will have linear line fitting over the data.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Question do we get the best line or the best decision boundary?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ctrTitle"/>
          </p:nvPr>
        </p:nvSpPr>
        <p:spPr>
          <a:xfrm>
            <a:off x="0" y="1480"/>
            <a:ext cx="9144000" cy="362400"/>
          </a:xfrm>
          <a:prstGeom prst="rect">
            <a:avLst/>
          </a:prstGeom>
          <a:solidFill>
            <a:srgbClr val="AC1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2F2F2"/>
                </a:solidFill>
              </a:rPr>
              <a:t>Random Forest</a:t>
            </a:r>
            <a:endParaRPr/>
          </a:p>
        </p:txBody>
      </p:sp>
      <p:cxnSp>
        <p:nvCxnSpPr>
          <p:cNvPr id="114" name="Google Shape;114;p2"/>
          <p:cNvCxnSpPr/>
          <p:nvPr/>
        </p:nvCxnSpPr>
        <p:spPr>
          <a:xfrm>
            <a:off x="143508" y="6525344"/>
            <a:ext cx="88569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2"/>
          <p:cNvSpPr txBox="1"/>
          <p:nvPr/>
        </p:nvSpPr>
        <p:spPr>
          <a:xfrm>
            <a:off x="8604448" y="6577340"/>
            <a:ext cx="75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4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72008" y="349310"/>
            <a:ext cx="153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Bootstrap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72008" y="777415"/>
            <a:ext cx="885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It simply means “</a:t>
            </a:r>
            <a:r>
              <a:rPr b="1" lang="en-US" sz="18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sub-sampling with replacement</a:t>
            </a:r>
            <a:r>
              <a:rPr lang="en-US" sz="18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98748" y="1700808"/>
            <a:ext cx="41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10,3,4,5,32,69,24,81…70,9,12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198748" y="1275843"/>
            <a:ext cx="406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example : Lets just assume we 100 random numbers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4484476" y="1699307"/>
            <a:ext cx="304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endParaRPr/>
          </a:p>
        </p:txBody>
      </p:sp>
      <p:grpSp>
        <p:nvGrpSpPr>
          <p:cNvPr id="121" name="Google Shape;121;p2"/>
          <p:cNvGrpSpPr/>
          <p:nvPr/>
        </p:nvGrpSpPr>
        <p:grpSpPr>
          <a:xfrm>
            <a:off x="198748" y="2265401"/>
            <a:ext cx="5525400" cy="2494522"/>
            <a:chOff x="1172103" y="2109562"/>
            <a:chExt cx="5525400" cy="2494522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1276160" y="2623456"/>
              <a:ext cx="2520300" cy="400200"/>
            </a:xfrm>
            <a:prstGeom prst="rect">
              <a:avLst/>
            </a:prstGeom>
            <a:noFill/>
            <a:ln cap="flat" cmpd="sng" w="9525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11,2, 7,25,85…70,10</a:t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1276160" y="3230628"/>
              <a:ext cx="2520300" cy="400200"/>
            </a:xfrm>
            <a:prstGeom prst="rect">
              <a:avLst/>
            </a:prstGeom>
            <a:noFill/>
            <a:ln cap="flat" cmpd="sng" w="9525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13,8, 17,23,89…72,67</a:t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1276160" y="4203884"/>
              <a:ext cx="2520300" cy="400200"/>
            </a:xfrm>
            <a:prstGeom prst="rect">
              <a:avLst/>
            </a:prstGeom>
            <a:noFill/>
            <a:ln cap="flat" cmpd="sng" w="9525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1,4, 12,25,90…91,48</a:t>
              </a:r>
              <a:endParaRPr/>
            </a:p>
          </p:txBody>
        </p:sp>
        <p:cxnSp>
          <p:nvCxnSpPr>
            <p:cNvPr id="125" name="Google Shape;125;p2"/>
            <p:cNvCxnSpPr/>
            <p:nvPr/>
          </p:nvCxnSpPr>
          <p:spPr>
            <a:xfrm>
              <a:off x="4012464" y="2823511"/>
              <a:ext cx="432000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6" name="Google Shape;126;p2"/>
            <p:cNvCxnSpPr/>
            <p:nvPr/>
          </p:nvCxnSpPr>
          <p:spPr>
            <a:xfrm>
              <a:off x="4012464" y="3424319"/>
              <a:ext cx="432000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7" name="Google Shape;127;p2"/>
            <p:cNvCxnSpPr/>
            <p:nvPr/>
          </p:nvCxnSpPr>
          <p:spPr>
            <a:xfrm>
              <a:off x="4012464" y="4352391"/>
              <a:ext cx="432000" cy="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8" name="Google Shape;128;p2"/>
            <p:cNvSpPr txBox="1"/>
            <p:nvPr/>
          </p:nvSpPr>
          <p:spPr>
            <a:xfrm>
              <a:off x="1172103" y="2109562"/>
              <a:ext cx="5525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For Bootstrap let us draw </a:t>
              </a:r>
              <a:r>
                <a:rPr b="1" lang="en-US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r>
                <a:rPr lang="en-US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times with a sample of </a:t>
              </a:r>
              <a:r>
                <a:rPr b="1" lang="en-US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r>
                <a:rPr lang="en-US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numbers with replacement </a:t>
              </a: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5755395" y="3198123"/>
              <a:ext cx="648000" cy="4002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4539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5756452" y="2619097"/>
              <a:ext cx="648000" cy="4002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4539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5828460" y="4115587"/>
              <a:ext cx="648000" cy="4002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6149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132" name="Google Shape;13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8476" y="3099824"/>
            <a:ext cx="1920610" cy="926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8748" y="5465597"/>
            <a:ext cx="648067" cy="648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"/>
          <p:cNvSpPr txBox="1"/>
          <p:nvPr/>
        </p:nvSpPr>
        <p:spPr>
          <a:xfrm>
            <a:off x="904038" y="5454554"/>
            <a:ext cx="597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to use bootstrapped mean over normal mean?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904038" y="5873632"/>
            <a:ext cx="216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Reduces Variance</a:t>
            </a:r>
            <a:endParaRPr/>
          </a:p>
        </p:txBody>
      </p:sp>
      <p:cxnSp>
        <p:nvCxnSpPr>
          <p:cNvPr id="136" name="Google Shape;136;p2"/>
          <p:cNvCxnSpPr/>
          <p:nvPr/>
        </p:nvCxnSpPr>
        <p:spPr>
          <a:xfrm>
            <a:off x="3563888" y="1915789"/>
            <a:ext cx="749700" cy="15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2021-06-19T07:34:30Z</dcterms:created>
  <dc:creator>Ajay Kumar GGN</dc:creator>
</cp:coreProperties>
</file>