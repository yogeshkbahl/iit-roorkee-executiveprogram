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3" roundtripDataSignature="AMtx7mgohIrAaxWJT00JaM+aBtuWq6uO3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customschemas.google.com/relationships/presentationmetadata" Target="meta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0" name="Google Shape;20;p1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1" name="Google Shape;21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4" name="Google Shape;2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1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6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6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311708" y="8207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3900">
                <a:solidFill>
                  <a:srgbClr val="93C47D"/>
                </a:solidFill>
              </a:rPr>
              <a:t>Feature Selection Methods</a:t>
            </a:r>
            <a:endParaRPr sz="3900">
              <a:solidFill>
                <a:srgbClr val="93C47D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"/>
          <p:cNvSpPr txBox="1"/>
          <p:nvPr>
            <p:ph type="title"/>
          </p:nvPr>
        </p:nvSpPr>
        <p:spPr>
          <a:xfrm>
            <a:off x="311700" y="1536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solidFill>
                  <a:srgbClr val="93C47D"/>
                </a:solidFill>
              </a:rPr>
              <a:t>Sometimes we have too many features in the dataset, Shall we use them all?</a:t>
            </a:r>
            <a:endParaRPr>
              <a:solidFill>
                <a:srgbClr val="93C47D"/>
              </a:solidFill>
            </a:endParaRPr>
          </a:p>
        </p:txBody>
      </p:sp>
      <p:sp>
        <p:nvSpPr>
          <p:cNvPr id="60" name="Google Shape;60;p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The Answer is </a:t>
            </a:r>
            <a:r>
              <a:rPr lang="en">
                <a:solidFill>
                  <a:srgbClr val="FF0000"/>
                </a:solidFill>
              </a:rPr>
              <a:t>NO..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Why?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Some features are uncorrelated to the target variable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Some features are inter-correlated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Higher feature dimension often leads to overfitting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Model become highly complex and have high variance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solidFill>
                  <a:srgbClr val="93C47D"/>
                </a:solidFill>
              </a:rPr>
              <a:t>Two approach to solve the problem</a:t>
            </a:r>
            <a:r>
              <a:rPr lang="en"/>
              <a:t> </a:t>
            </a:r>
            <a:endParaRPr/>
          </a:p>
        </p:txBody>
      </p:sp>
      <p:sp>
        <p:nvSpPr>
          <p:cNvPr id="66" name="Google Shape;66;p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400"/>
              <a:buNone/>
            </a:pPr>
            <a:r>
              <a:rPr lang="en">
                <a:solidFill>
                  <a:srgbClr val="FFFFFF"/>
                </a:solidFill>
              </a:rPr>
              <a:t>Hand-Picking the features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7" name="Google Shape;67;p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400"/>
              <a:buNone/>
            </a:pPr>
            <a:r>
              <a:rPr lang="en">
                <a:solidFill>
                  <a:srgbClr val="FFFFFF"/>
                </a:solidFill>
              </a:rPr>
              <a:t>Statistical ways to select the features</a:t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68" name="Google Shape;6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1475" y="1839912"/>
            <a:ext cx="2085832" cy="204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96400" y="1789111"/>
            <a:ext cx="3214724" cy="2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"/>
          <p:cNvSpPr txBox="1"/>
          <p:nvPr>
            <p:ph type="title"/>
          </p:nvPr>
        </p:nvSpPr>
        <p:spPr>
          <a:xfrm>
            <a:off x="231725" y="1835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solidFill>
                  <a:srgbClr val="93C47D"/>
                </a:solidFill>
              </a:rPr>
              <a:t>Feature selection Methods</a:t>
            </a:r>
            <a:endParaRPr>
              <a:solidFill>
                <a:srgbClr val="93C47D"/>
              </a:solidFill>
            </a:endParaRPr>
          </a:p>
        </p:txBody>
      </p:sp>
      <p:pic>
        <p:nvPicPr>
          <p:cNvPr id="75" name="Google Shape;7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1363" y="756250"/>
            <a:ext cx="8181263" cy="408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81" name="Google Shape;81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"/>
          <p:cNvSpPr txBox="1"/>
          <p:nvPr>
            <p:ph type="title"/>
          </p:nvPr>
        </p:nvSpPr>
        <p:spPr>
          <a:xfrm>
            <a:off x="311700" y="3031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solidFill>
                  <a:srgbClr val="93C47D"/>
                </a:solidFill>
              </a:rPr>
              <a:t>Pearson Coefficient</a:t>
            </a:r>
            <a:endParaRPr>
              <a:solidFill>
                <a:srgbClr val="93C47D"/>
              </a:solidFill>
            </a:endParaRPr>
          </a:p>
        </p:txBody>
      </p:sp>
      <p:sp>
        <p:nvSpPr>
          <p:cNvPr id="87" name="Google Shape;87;p6"/>
          <p:cNvSpPr txBox="1"/>
          <p:nvPr>
            <p:ph idx="1" type="body"/>
          </p:nvPr>
        </p:nvSpPr>
        <p:spPr>
          <a:xfrm>
            <a:off x="229525" y="95825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en" sz="785">
                <a:solidFill>
                  <a:srgbClr val="FFFFFF"/>
                </a:solidFill>
              </a:rPr>
              <a:t>Pearson correlation coefficient formula and calculation</a:t>
            </a:r>
            <a:endParaRPr sz="785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en" sz="785">
                <a:solidFill>
                  <a:srgbClr val="FFFFFF"/>
                </a:solidFill>
              </a:rPr>
              <a:t>The correlation coefficient formula finds out the relation between the variables. It returns the values between -1 and 1. Use the below Pearson coefficient correlation calculator to measure the strength of two variables.</a:t>
            </a:r>
            <a:endParaRPr sz="785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t/>
            </a:r>
            <a:endParaRPr sz="785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en" sz="785">
                <a:solidFill>
                  <a:srgbClr val="FFFFFF"/>
                </a:solidFill>
              </a:rPr>
              <a:t>pearson formula</a:t>
            </a:r>
            <a:endParaRPr sz="785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en" sz="785">
                <a:solidFill>
                  <a:srgbClr val="FFFFFF"/>
                </a:solidFill>
              </a:rPr>
              <a:t>Where:</a:t>
            </a:r>
            <a:endParaRPr sz="785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en" sz="785">
                <a:solidFill>
                  <a:srgbClr val="FFFFFF"/>
                </a:solidFill>
              </a:rPr>
              <a:t>N = the number of pairs of scores</a:t>
            </a:r>
            <a:endParaRPr sz="785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en" sz="785">
                <a:solidFill>
                  <a:srgbClr val="FFFFFF"/>
                </a:solidFill>
              </a:rPr>
              <a:t>Σxy = the sum of the products of paired scores</a:t>
            </a:r>
            <a:endParaRPr sz="785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en" sz="785">
                <a:solidFill>
                  <a:srgbClr val="FFFFFF"/>
                </a:solidFill>
              </a:rPr>
              <a:t>Σx = the sum of x scores</a:t>
            </a:r>
            <a:endParaRPr sz="785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en" sz="785">
                <a:solidFill>
                  <a:srgbClr val="FFFFFF"/>
                </a:solidFill>
              </a:rPr>
              <a:t>Σy = the sum of y scores</a:t>
            </a:r>
            <a:endParaRPr sz="785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en" sz="785">
                <a:solidFill>
                  <a:srgbClr val="FFFFFF"/>
                </a:solidFill>
              </a:rPr>
              <a:t>Σx2 = the sum of squared x scores</a:t>
            </a:r>
            <a:endParaRPr sz="785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358"/>
              <a:buNone/>
            </a:pPr>
            <a:r>
              <a:rPr lang="en" sz="785">
                <a:solidFill>
                  <a:srgbClr val="FFFFFF"/>
                </a:solidFill>
              </a:rPr>
              <a:t>Σy2 = the sum of squared y scores</a:t>
            </a:r>
            <a:endParaRPr sz="785">
              <a:solidFill>
                <a:srgbClr val="FFFFFF"/>
              </a:solidFill>
            </a:endParaRPr>
          </a:p>
        </p:txBody>
      </p:sp>
      <p:pic>
        <p:nvPicPr>
          <p:cNvPr id="88" name="Google Shape;8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0863" y="1731788"/>
            <a:ext cx="4162425" cy="138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solidFill>
                  <a:srgbClr val="93C47D"/>
                </a:solidFill>
              </a:rPr>
              <a:t>Pearson Coefficient Example</a:t>
            </a:r>
            <a:endParaRPr/>
          </a:p>
        </p:txBody>
      </p:sp>
      <p:sp>
        <p:nvSpPr>
          <p:cNvPr id="94" name="Google Shape;94;p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Given age as one feature calculate its importance on target variable income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95" name="Google Shape;9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3925" y="1935913"/>
            <a:ext cx="7296150" cy="170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