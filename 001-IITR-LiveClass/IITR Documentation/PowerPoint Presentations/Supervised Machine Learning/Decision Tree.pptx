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Libre Franklin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7" roundtripDataSignature="AMtx7mjZF08drG1tMEVvvOe+MFKY4iE9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LibreFranklin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15" Type="http://schemas.openxmlformats.org/officeDocument/2006/relationships/font" Target="fonts/LibreFranklin-italic.fntdata"/><Relationship Id="rId14" Type="http://schemas.openxmlformats.org/officeDocument/2006/relationships/font" Target="fonts/LibreFranklin-bold.fntdata"/><Relationship Id="rId17" Type="http://customschemas.google.com/relationships/presentationmetadata" Target="metadata"/><Relationship Id="rId16" Type="http://schemas.openxmlformats.org/officeDocument/2006/relationships/font" Target="fonts/LibreFranklin-bold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129023d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1f129023d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9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0"/>
              <a:buFont typeface="Bookman Old Style"/>
              <a:buNone/>
              <a:defRPr sz="8000">
                <a:solidFill>
                  <a:srgbClr val="FEFEF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7" name="Google Shape;17;p9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3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57" name="Google Shape;57;p8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17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18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1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0" Type="http://schemas.openxmlformats.org/officeDocument/2006/relationships/theme" Target="../theme/theme4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" name="Google Shape;7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EFEFE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7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" name="Google Shape;23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10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6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/>
          <p:nvPr/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A close up of a piece of paper with a pencil laying on top" id="112" name="Google Shape;1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/>
          <p:nvPr/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dk1">
              <a:alpha val="8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4" name="Google Shape;114;p1"/>
          <p:cNvSpPr txBox="1"/>
          <p:nvPr>
            <p:ph type="ctrTitle"/>
          </p:nvPr>
        </p:nvSpPr>
        <p:spPr>
          <a:xfrm>
            <a:off x="8123416" y="1475234"/>
            <a:ext cx="3214307" cy="2901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ookman Old Style"/>
              <a:buNone/>
            </a:pPr>
            <a:r>
              <a:rPr lang="en-US" sz="4400">
                <a:solidFill>
                  <a:schemeClr val="lt1"/>
                </a:solidFill>
              </a:rPr>
              <a:t>Decision Tree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8127750" y="4608576"/>
            <a:ext cx="3205640" cy="774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/>
              <a:t>AJAY KUMAR</a:t>
            </a:r>
            <a:endParaRPr/>
          </a:p>
        </p:txBody>
      </p:sp>
      <p:cxnSp>
        <p:nvCxnSpPr>
          <p:cNvPr id="116" name="Google Shape;116;p1"/>
          <p:cNvCxnSpPr/>
          <p:nvPr/>
        </p:nvCxnSpPr>
        <p:spPr>
          <a:xfrm>
            <a:off x="8176090" y="4508519"/>
            <a:ext cx="31089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450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129023d13_0_0"/>
          <p:cNvSpPr txBox="1"/>
          <p:nvPr>
            <p:ph idx="1" type="subTitle"/>
          </p:nvPr>
        </p:nvSpPr>
        <p:spPr>
          <a:xfrm>
            <a:off x="1132551" y="4623477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What is Decision Tree?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690838" y="2144317"/>
            <a:ext cx="6001352" cy="711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Decision Tree is a non-parametric supervised learning method used for Classification and Regression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097280" y="2220587"/>
            <a:ext cx="279340" cy="27934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1082946" y="3427057"/>
            <a:ext cx="279340" cy="27934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690835" y="3201727"/>
            <a:ext cx="5512069" cy="103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goal is to create a model that predicts the value of a target variable by learning simple decision rules inferred from the data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082946" y="4666877"/>
            <a:ext cx="279340" cy="279340"/>
          </a:xfrm>
          <a:prstGeom prst="ellipse">
            <a:avLst/>
          </a:prstGeom>
          <a:solidFill>
            <a:srgbClr val="C00000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642709" y="4450937"/>
            <a:ext cx="5608322" cy="711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Decision tree learns from data to approximate the target function with a set of if-the-else decision rules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/>
        </p:nvSpPr>
        <p:spPr>
          <a:xfrm>
            <a:off x="407475" y="239300"/>
            <a:ext cx="922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 "/>
            </a:pPr>
            <a:r>
              <a:rPr b="1" i="0" lang="en-US" sz="3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How Decision Tree [CART] Algorithm Works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63616" y="961190"/>
            <a:ext cx="6763352" cy="389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</a:pPr>
            <a:r>
              <a:rPr b="0" i="0" lang="en-US" sz="1900" u="none" cap="none" strike="noStrike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Goal : To predict type of fruit given shape and size of fruit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3"/>
          <p:cNvGrpSpPr/>
          <p:nvPr/>
        </p:nvGrpSpPr>
        <p:grpSpPr>
          <a:xfrm>
            <a:off x="1879693" y="2112266"/>
            <a:ext cx="2134852" cy="2153897"/>
            <a:chOff x="752726" y="1978634"/>
            <a:chExt cx="2134852" cy="2153897"/>
          </a:xfrm>
        </p:grpSpPr>
        <p:grpSp>
          <p:nvGrpSpPr>
            <p:cNvPr id="141" name="Google Shape;141;p3"/>
            <p:cNvGrpSpPr/>
            <p:nvPr/>
          </p:nvGrpSpPr>
          <p:grpSpPr>
            <a:xfrm>
              <a:off x="752726" y="2725468"/>
              <a:ext cx="2134852" cy="1407063"/>
              <a:chOff x="119063" y="1120529"/>
              <a:chExt cx="11849100" cy="4213467"/>
            </a:xfrm>
          </p:grpSpPr>
          <p:sp>
            <p:nvSpPr>
              <p:cNvPr id="142" name="Google Shape;142;p3"/>
              <p:cNvSpPr txBox="1"/>
              <p:nvPr/>
            </p:nvSpPr>
            <p:spPr>
              <a:xfrm>
                <a:off x="119063" y="1120529"/>
                <a:ext cx="3780367" cy="19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1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Color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3"/>
              <p:cNvSpPr txBox="1"/>
              <p:nvPr/>
            </p:nvSpPr>
            <p:spPr>
              <a:xfrm>
                <a:off x="119063" y="1440261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Green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3"/>
              <p:cNvSpPr txBox="1"/>
              <p:nvPr/>
            </p:nvSpPr>
            <p:spPr>
              <a:xfrm>
                <a:off x="119063" y="2244408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Yellow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"/>
              <p:cNvSpPr txBox="1"/>
              <p:nvPr/>
            </p:nvSpPr>
            <p:spPr>
              <a:xfrm>
                <a:off x="119063" y="3048555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Red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"/>
              <p:cNvSpPr txBox="1"/>
              <p:nvPr/>
            </p:nvSpPr>
            <p:spPr>
              <a:xfrm>
                <a:off x="119063" y="3852702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Red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"/>
              <p:cNvSpPr txBox="1"/>
              <p:nvPr/>
            </p:nvSpPr>
            <p:spPr>
              <a:xfrm>
                <a:off x="119063" y="4656849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Yellow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"/>
              <p:cNvSpPr txBox="1"/>
              <p:nvPr/>
            </p:nvSpPr>
            <p:spPr>
              <a:xfrm>
                <a:off x="4153429" y="1120529"/>
                <a:ext cx="3780367" cy="19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1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Diameter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"/>
              <p:cNvSpPr txBox="1"/>
              <p:nvPr/>
            </p:nvSpPr>
            <p:spPr>
              <a:xfrm>
                <a:off x="4153429" y="1440261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"/>
              <p:cNvSpPr txBox="1"/>
              <p:nvPr/>
            </p:nvSpPr>
            <p:spPr>
              <a:xfrm>
                <a:off x="4153429" y="2244408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"/>
              <p:cNvSpPr txBox="1"/>
              <p:nvPr/>
            </p:nvSpPr>
            <p:spPr>
              <a:xfrm>
                <a:off x="4153429" y="3048555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"/>
              <p:cNvSpPr txBox="1"/>
              <p:nvPr/>
            </p:nvSpPr>
            <p:spPr>
              <a:xfrm>
                <a:off x="4153429" y="3852702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"/>
              <p:cNvSpPr txBox="1"/>
              <p:nvPr/>
            </p:nvSpPr>
            <p:spPr>
              <a:xfrm>
                <a:off x="4153429" y="4656849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3"/>
              <p:cNvSpPr txBox="1"/>
              <p:nvPr/>
            </p:nvSpPr>
            <p:spPr>
              <a:xfrm>
                <a:off x="8187796" y="1120529"/>
                <a:ext cx="3780367" cy="19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1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Label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3"/>
              <p:cNvSpPr txBox="1"/>
              <p:nvPr/>
            </p:nvSpPr>
            <p:spPr>
              <a:xfrm>
                <a:off x="8187796" y="1440261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Apple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"/>
              <p:cNvSpPr txBox="1"/>
              <p:nvPr/>
            </p:nvSpPr>
            <p:spPr>
              <a:xfrm>
                <a:off x="8187796" y="2244408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Apple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"/>
              <p:cNvSpPr txBox="1"/>
              <p:nvPr/>
            </p:nvSpPr>
            <p:spPr>
              <a:xfrm>
                <a:off x="8187796" y="3048555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Cherry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"/>
              <p:cNvSpPr txBox="1"/>
              <p:nvPr/>
            </p:nvSpPr>
            <p:spPr>
              <a:xfrm>
                <a:off x="8187796" y="3852702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Cherry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3"/>
              <p:cNvSpPr txBox="1"/>
              <p:nvPr/>
            </p:nvSpPr>
            <p:spPr>
              <a:xfrm>
                <a:off x="8187796" y="4656849"/>
                <a:ext cx="3780367" cy="6771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000"/>
                  <a:buFont typeface="Calibri"/>
                  <a:buChar char=" "/>
                </a:pPr>
                <a:r>
                  <a:rPr b="0" i="0" lang="en-US" sz="1000" u="none" cap="none" strike="noStrike">
                    <a:solidFill>
                      <a:srgbClr val="3F3F3F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Lemon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0" name="Google Shape;160;p3"/>
              <p:cNvCxnSpPr/>
              <p:nvPr/>
            </p:nvCxnSpPr>
            <p:spPr>
              <a:xfrm>
                <a:off x="119063" y="1376761"/>
                <a:ext cx="378036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3"/>
              <p:cNvCxnSpPr/>
              <p:nvPr/>
            </p:nvCxnSpPr>
            <p:spPr>
              <a:xfrm>
                <a:off x="4153429" y="1376761"/>
                <a:ext cx="378036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3"/>
              <p:cNvCxnSpPr/>
              <p:nvPr/>
            </p:nvCxnSpPr>
            <p:spPr>
              <a:xfrm>
                <a:off x="8187796" y="1376761"/>
                <a:ext cx="3780367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3"/>
              <p:cNvCxnSpPr/>
              <p:nvPr/>
            </p:nvCxnSpPr>
            <p:spPr>
              <a:xfrm>
                <a:off x="119063" y="2180908"/>
                <a:ext cx="118491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3"/>
              <p:cNvCxnSpPr/>
              <p:nvPr/>
            </p:nvCxnSpPr>
            <p:spPr>
              <a:xfrm>
                <a:off x="119063" y="2985055"/>
                <a:ext cx="118491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3"/>
              <p:cNvCxnSpPr/>
              <p:nvPr/>
            </p:nvCxnSpPr>
            <p:spPr>
              <a:xfrm>
                <a:off x="119063" y="3789202"/>
                <a:ext cx="118491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3"/>
              <p:cNvCxnSpPr/>
              <p:nvPr/>
            </p:nvCxnSpPr>
            <p:spPr>
              <a:xfrm>
                <a:off x="119063" y="4593349"/>
                <a:ext cx="1184910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6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67" name="Google Shape;167;p3"/>
            <p:cNvSpPr/>
            <p:nvPr/>
          </p:nvSpPr>
          <p:spPr>
            <a:xfrm>
              <a:off x="915938" y="1978634"/>
              <a:ext cx="1852862" cy="381418"/>
            </a:xfrm>
            <a:prstGeom prst="rect">
              <a:avLst/>
            </a:prstGeom>
            <a:solidFill>
              <a:schemeClr val="accent1"/>
            </a:solidFill>
            <a:ln cap="flat" cmpd="sng" w="15875">
              <a:solidFill>
                <a:srgbClr val="AC51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Data</a:t>
              </a:r>
              <a:r>
                <a:rPr b="0" i="0" lang="en-US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463616" y="5027647"/>
            <a:ext cx="511737" cy="511737"/>
            <a:chOff x="-205105" y="-205105"/>
            <a:chExt cx="1019810" cy="1019810"/>
          </a:xfrm>
        </p:grpSpPr>
        <p:sp>
          <p:nvSpPr>
            <p:cNvPr id="169" name="Google Shape;169;p3"/>
            <p:cNvSpPr/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pic>
          <p:nvPicPr>
            <p:cNvPr id="170" name="Google Shape;17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096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3"/>
          <p:cNvSpPr txBox="1"/>
          <p:nvPr/>
        </p:nvSpPr>
        <p:spPr>
          <a:xfrm>
            <a:off x="1078274" y="5133061"/>
            <a:ext cx="4831680" cy="311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</a:pPr>
            <a:r>
              <a:rPr b="0" i="0" lang="en-US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Which feature to choose for Root Node and subsequent Node?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458979" y="5671226"/>
            <a:ext cx="511737" cy="511737"/>
            <a:chOff x="-205105" y="-205105"/>
            <a:chExt cx="1019810" cy="1019810"/>
          </a:xfrm>
        </p:grpSpPr>
        <p:sp>
          <p:nvSpPr>
            <p:cNvPr id="173" name="Google Shape;173;p3"/>
            <p:cNvSpPr/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pic>
          <p:nvPicPr>
            <p:cNvPr id="174" name="Google Shape;17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6096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3"/>
          <p:cNvSpPr txBox="1"/>
          <p:nvPr/>
        </p:nvSpPr>
        <p:spPr>
          <a:xfrm>
            <a:off x="1096663" y="5757564"/>
            <a:ext cx="4831680" cy="311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</a:pPr>
            <a:r>
              <a:rPr b="0" i="0" lang="en-US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How is the Decision at each Node made?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3"/>
          <p:cNvGrpSpPr/>
          <p:nvPr/>
        </p:nvGrpSpPr>
        <p:grpSpPr>
          <a:xfrm>
            <a:off x="6070595" y="1647383"/>
            <a:ext cx="4513808" cy="3783587"/>
            <a:chOff x="4868103" y="1660841"/>
            <a:chExt cx="4513808" cy="3783587"/>
          </a:xfrm>
        </p:grpSpPr>
        <p:sp>
          <p:nvSpPr>
            <p:cNvPr id="177" name="Google Shape;177;p3"/>
            <p:cNvSpPr/>
            <p:nvPr/>
          </p:nvSpPr>
          <p:spPr>
            <a:xfrm>
              <a:off x="6304546" y="1660841"/>
              <a:ext cx="457109" cy="502921"/>
            </a:xfrm>
            <a:prstGeom prst="ellipse">
              <a:avLst/>
            </a:prstGeom>
            <a:solidFill>
              <a:srgbClr val="C00000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4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cxnSp>
          <p:nvCxnSpPr>
            <p:cNvPr id="178" name="Google Shape;178;p3"/>
            <p:cNvCxnSpPr>
              <a:stCxn id="177" idx="3"/>
              <a:endCxn id="179" idx="0"/>
            </p:cNvCxnSpPr>
            <p:nvPr/>
          </p:nvCxnSpPr>
          <p:spPr>
            <a:xfrm flipH="1">
              <a:off x="5670088" y="2090111"/>
              <a:ext cx="701400" cy="7272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3"/>
            <p:cNvCxnSpPr>
              <a:stCxn id="177" idx="5"/>
              <a:endCxn id="181" idx="1"/>
            </p:cNvCxnSpPr>
            <p:nvPr/>
          </p:nvCxnSpPr>
          <p:spPr>
            <a:xfrm>
              <a:off x="6694713" y="2090111"/>
              <a:ext cx="797100" cy="8157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3"/>
            <p:cNvSpPr txBox="1"/>
            <p:nvPr/>
          </p:nvSpPr>
          <p:spPr>
            <a:xfrm>
              <a:off x="6881388" y="1701918"/>
              <a:ext cx="1444465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Is diameter &gt;=3?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 rot="2649518">
              <a:off x="6682148" y="2432683"/>
              <a:ext cx="633184" cy="164424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5875">
              <a:solidFill>
                <a:srgbClr val="AC51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 rot="-2852950">
              <a:off x="5764507" y="2431001"/>
              <a:ext cx="633184" cy="164424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5875">
              <a:solidFill>
                <a:srgbClr val="AC51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False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 txBox="1"/>
            <p:nvPr/>
          </p:nvSpPr>
          <p:spPr>
            <a:xfrm>
              <a:off x="6402620" y="3462608"/>
              <a:ext cx="874250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 3 Apple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 txBox="1"/>
            <p:nvPr/>
          </p:nvSpPr>
          <p:spPr>
            <a:xfrm>
              <a:off x="4868103" y="2224124"/>
              <a:ext cx="874250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 2 Cherry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" name="Google Shape;187;p3"/>
            <p:cNvGrpSpPr/>
            <p:nvPr/>
          </p:nvGrpSpPr>
          <p:grpSpPr>
            <a:xfrm>
              <a:off x="5415056" y="2817279"/>
              <a:ext cx="509904" cy="509904"/>
              <a:chOff x="-205105" y="-205105"/>
              <a:chExt cx="1019810" cy="1019810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pic>
            <p:nvPicPr>
              <p:cNvPr id="188" name="Google Shape;188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1" name="Google Shape;181;p3"/>
            <p:cNvSpPr/>
            <p:nvPr/>
          </p:nvSpPr>
          <p:spPr>
            <a:xfrm>
              <a:off x="7424881" y="2832241"/>
              <a:ext cx="457109" cy="502921"/>
            </a:xfrm>
            <a:prstGeom prst="ellipse">
              <a:avLst/>
            </a:prstGeom>
            <a:solidFill>
              <a:srgbClr val="C00000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4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9" name="Google Shape;189;p3"/>
            <p:cNvSpPr txBox="1"/>
            <p:nvPr/>
          </p:nvSpPr>
          <p:spPr>
            <a:xfrm>
              <a:off x="7937446" y="2913265"/>
              <a:ext cx="1444465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Is color  == Yellow 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3"/>
            <p:cNvCxnSpPr>
              <a:stCxn id="181" idx="3"/>
            </p:cNvCxnSpPr>
            <p:nvPr/>
          </p:nvCxnSpPr>
          <p:spPr>
            <a:xfrm flipH="1">
              <a:off x="6857623" y="3261511"/>
              <a:ext cx="634200" cy="762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3"/>
            <p:cNvCxnSpPr>
              <a:stCxn id="181" idx="5"/>
            </p:cNvCxnSpPr>
            <p:nvPr/>
          </p:nvCxnSpPr>
          <p:spPr>
            <a:xfrm>
              <a:off x="7815048" y="3261511"/>
              <a:ext cx="609300" cy="7857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2" name="Google Shape;192;p3"/>
            <p:cNvSpPr/>
            <p:nvPr/>
          </p:nvSpPr>
          <p:spPr>
            <a:xfrm rot="3185561">
              <a:off x="7754313" y="3649307"/>
              <a:ext cx="633184" cy="164424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5875">
              <a:solidFill>
                <a:srgbClr val="AC51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"/>
            <p:cNvSpPr/>
            <p:nvPr/>
          </p:nvSpPr>
          <p:spPr>
            <a:xfrm rot="-2852950">
              <a:off x="6900885" y="3649306"/>
              <a:ext cx="633184" cy="164424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5875">
              <a:solidFill>
                <a:srgbClr val="AC511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False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"/>
            <p:cNvSpPr txBox="1"/>
            <p:nvPr/>
          </p:nvSpPr>
          <p:spPr>
            <a:xfrm>
              <a:off x="4868103" y="2040633"/>
              <a:ext cx="874250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 1 Cherry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5" name="Google Shape;195;p3"/>
            <p:cNvGrpSpPr/>
            <p:nvPr/>
          </p:nvGrpSpPr>
          <p:grpSpPr>
            <a:xfrm>
              <a:off x="6532610" y="4011650"/>
              <a:ext cx="509904" cy="509904"/>
              <a:chOff x="-205105" y="-205105"/>
              <a:chExt cx="1019810" cy="1019810"/>
            </a:xfrm>
          </p:grpSpPr>
          <p:sp>
            <p:nvSpPr>
              <p:cNvPr id="196" name="Google Shape;196;p3"/>
              <p:cNvSpPr/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pic>
            <p:nvPicPr>
              <p:cNvPr id="197" name="Google Shape;197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8" name="Google Shape;198;p3"/>
            <p:cNvGrpSpPr/>
            <p:nvPr/>
          </p:nvGrpSpPr>
          <p:grpSpPr>
            <a:xfrm>
              <a:off x="8237683" y="4049888"/>
              <a:ext cx="509904" cy="509904"/>
              <a:chOff x="-205105" y="-205105"/>
              <a:chExt cx="1019810" cy="101981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pic>
            <p:nvPicPr>
              <p:cNvPr id="200" name="Google Shape;200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1" name="Google Shape;201;p3"/>
            <p:cNvSpPr txBox="1"/>
            <p:nvPr/>
          </p:nvSpPr>
          <p:spPr>
            <a:xfrm>
              <a:off x="5138024" y="3342159"/>
              <a:ext cx="1063966" cy="443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Predicted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1440" lvl="0" marL="91440" marR="0" rtl="0" algn="l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Cherry 100%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8429930" y="3460242"/>
              <a:ext cx="874250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Y 3 Lemon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"/>
            <p:cNvSpPr txBox="1"/>
            <p:nvPr/>
          </p:nvSpPr>
          <p:spPr>
            <a:xfrm>
              <a:off x="8424362" y="3627122"/>
              <a:ext cx="874250" cy="2644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100"/>
                <a:buFont typeface="Calibri"/>
                <a:buChar char=" "/>
              </a:pPr>
              <a:r>
                <a:rPr b="1" i="0" lang="en-US" sz="11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Y 3 Apple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"/>
            <p:cNvSpPr txBox="1"/>
            <p:nvPr/>
          </p:nvSpPr>
          <p:spPr>
            <a:xfrm>
              <a:off x="6255578" y="4584309"/>
              <a:ext cx="1063966" cy="443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Predicted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1440" lvl="0" marL="91440" marR="0" rtl="0" algn="l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Apple 100%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 txBox="1"/>
            <p:nvPr/>
          </p:nvSpPr>
          <p:spPr>
            <a:xfrm>
              <a:off x="8127695" y="4610866"/>
              <a:ext cx="1063966" cy="833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-91440" lvl="0" marL="9144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Predicted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1440" lvl="0" marL="91440" marR="0" rtl="0" algn="l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Apple 50%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1440" lvl="0" marL="91440" marR="0" rtl="0" algn="l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Char char=" "/>
              </a:pPr>
              <a:r>
                <a:rPr b="0" i="0" lang="en-US" sz="1000" u="none" cap="none" strike="noStrike">
                  <a:solidFill>
                    <a:srgbClr val="3F3F3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Lemon 50%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7938" lvl="0" marL="91440" marR="0" rtl="0" algn="l">
                <a:lnSpc>
                  <a:spcPct val="11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accent1"/>
                </a:buClr>
                <a:buSzPts val="1000"/>
                <a:buFont typeface="Calibri"/>
                <a:buNone/>
              </a:pPr>
              <a:r>
                <a:t/>
              </a:r>
              <a:endPara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06" name="Google Shape;206;p3"/>
          <p:cNvSpPr/>
          <p:nvPr/>
        </p:nvSpPr>
        <p:spPr>
          <a:xfrm>
            <a:off x="4751932" y="2989636"/>
            <a:ext cx="770004" cy="38959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AC5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8435770" y="2041956"/>
            <a:ext cx="874250" cy="264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 "/>
            </a:pPr>
            <a:r>
              <a:rPr b="1" i="0" lang="en-US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 3 Apple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8435770" y="2224471"/>
            <a:ext cx="874250" cy="264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 "/>
            </a:pPr>
            <a:r>
              <a:rPr b="1" i="0" lang="en-US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 3 Lemon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8447947" y="2393600"/>
            <a:ext cx="874250" cy="264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Char char=" "/>
            </a:pPr>
            <a:r>
              <a:rPr b="1" i="0" lang="en-US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 3 Apple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3"/>
          <p:cNvGrpSpPr/>
          <p:nvPr/>
        </p:nvGrpSpPr>
        <p:grpSpPr>
          <a:xfrm>
            <a:off x="5851715" y="1210917"/>
            <a:ext cx="5136508" cy="2236951"/>
            <a:chOff x="5786913" y="1192606"/>
            <a:chExt cx="5136508" cy="2236951"/>
          </a:xfrm>
        </p:grpSpPr>
        <p:sp>
          <p:nvSpPr>
            <p:cNvPr id="211" name="Google Shape;211;p3"/>
            <p:cNvSpPr/>
            <p:nvPr/>
          </p:nvSpPr>
          <p:spPr>
            <a:xfrm>
              <a:off x="8442417" y="2051667"/>
              <a:ext cx="874250" cy="571760"/>
            </a:xfrm>
            <a:prstGeom prst="roundRect">
              <a:avLst>
                <a:gd fmla="val 16667" name="adj"/>
              </a:avLst>
            </a:prstGeom>
            <a:noFill/>
            <a:ln cap="flat" cmpd="sng" w="158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grpSp>
          <p:nvGrpSpPr>
            <p:cNvPr id="212" name="Google Shape;212;p3"/>
            <p:cNvGrpSpPr/>
            <p:nvPr/>
          </p:nvGrpSpPr>
          <p:grpSpPr>
            <a:xfrm>
              <a:off x="5786913" y="1192606"/>
              <a:ext cx="5136508" cy="2236951"/>
              <a:chOff x="5764927" y="1191436"/>
              <a:chExt cx="5136508" cy="2236951"/>
            </a:xfrm>
          </p:grpSpPr>
          <p:sp>
            <p:nvSpPr>
              <p:cNvPr id="213" name="Google Shape;213;p3"/>
              <p:cNvSpPr/>
              <p:nvPr/>
            </p:nvSpPr>
            <p:spPr>
              <a:xfrm>
                <a:off x="8002271" y="1678247"/>
                <a:ext cx="1356295" cy="304378"/>
              </a:xfrm>
              <a:prstGeom prst="roundRect">
                <a:avLst>
                  <a:gd fmla="val 16667" name="adj"/>
                </a:avLst>
              </a:prstGeom>
              <a:noFill/>
              <a:ln cap="flat" cmpd="sng" w="15875">
                <a:solidFill>
                  <a:srgbClr val="AC51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214" name="Google Shape;214;p3"/>
              <p:cNvSpPr txBox="1"/>
              <p:nvPr/>
            </p:nvSpPr>
            <p:spPr>
              <a:xfrm>
                <a:off x="7984860" y="1191436"/>
                <a:ext cx="1602600" cy="4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alibri"/>
                  <a:buChar char=" "/>
                </a:pPr>
                <a:r>
                  <a:rPr b="1" i="0" lang="en-US" sz="1100" u="none" cap="none" strike="noStrike">
                    <a:solidFill>
                      <a:srgbClr val="C0000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Information Gain = 0.37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9074860" y="2898337"/>
                <a:ext cx="1356295" cy="304378"/>
              </a:xfrm>
              <a:prstGeom prst="roundRect">
                <a:avLst>
                  <a:gd fmla="val 16667" name="adj"/>
                </a:avLst>
              </a:prstGeom>
              <a:noFill/>
              <a:ln cap="flat" cmpd="sng" w="15875">
                <a:solidFill>
                  <a:srgbClr val="AC511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216" name="Google Shape;216;p3"/>
              <p:cNvSpPr txBox="1"/>
              <p:nvPr/>
            </p:nvSpPr>
            <p:spPr>
              <a:xfrm>
                <a:off x="9108674" y="3163956"/>
                <a:ext cx="1602512" cy="264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alibri"/>
                  <a:buChar char=" "/>
                </a:pPr>
                <a:r>
                  <a:rPr b="1" i="0" lang="en-US" sz="1100" u="none" cap="none" strike="noStrike">
                    <a:solidFill>
                      <a:srgbClr val="C0000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Information Gain = 0.17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5995056" y="1998966"/>
                <a:ext cx="922607" cy="502921"/>
              </a:xfrm>
              <a:prstGeom prst="roundRect">
                <a:avLst>
                  <a:gd fmla="val 16667" name="adj"/>
                </a:avLst>
              </a:prstGeom>
              <a:noFill/>
              <a:ln cap="flat" cmpd="sng" w="15875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218" name="Google Shape;218;p3"/>
              <p:cNvSpPr txBox="1"/>
              <p:nvPr/>
            </p:nvSpPr>
            <p:spPr>
              <a:xfrm>
                <a:off x="9298923" y="2209064"/>
                <a:ext cx="1602512" cy="264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alibri"/>
                  <a:buChar char=" "/>
                </a:pPr>
                <a:r>
                  <a:rPr b="1" i="0" lang="en-US" sz="1100" u="none" cap="none" strike="noStrike">
                    <a:solidFill>
                      <a:srgbClr val="0070C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Gini Impurity= 0.44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3"/>
              <p:cNvSpPr txBox="1"/>
              <p:nvPr/>
            </p:nvSpPr>
            <p:spPr>
              <a:xfrm>
                <a:off x="5764927" y="1718194"/>
                <a:ext cx="1602512" cy="264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0" wrap="square" tIns="45700">
                <a:spAutoFit/>
              </a:bodyPr>
              <a:lstStyle/>
              <a:p>
                <a:pPr indent="-91440" lvl="0" marL="91440" marR="0" rtl="0"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Pts val="1100"/>
                  <a:buFont typeface="Calibri"/>
                  <a:buChar char=" "/>
                </a:pPr>
                <a:r>
                  <a:rPr b="1" i="0" lang="en-US" sz="1100" u="none" cap="none" strike="noStrike">
                    <a:solidFill>
                      <a:srgbClr val="0070C0"/>
                    </a:solidFill>
                    <a:latin typeface="Libre Franklin"/>
                    <a:ea typeface="Libre Franklin"/>
                    <a:cs typeface="Libre Franklin"/>
                    <a:sym typeface="Libre Franklin"/>
                  </a:rPr>
                  <a:t>Gini Impurity=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 txBox="1"/>
          <p:nvPr/>
        </p:nvSpPr>
        <p:spPr>
          <a:xfrm>
            <a:off x="216598" y="195282"/>
            <a:ext cx="8744553" cy="592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 "/>
            </a:pPr>
            <a:r>
              <a:rPr b="1" i="0" lang="en-US" sz="3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What is Information Gain and Gini Impurity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1675778" y="1081834"/>
            <a:ext cx="4064000" cy="389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</a:pPr>
            <a:r>
              <a:rPr b="1" i="0" lang="en-US" sz="1900" u="none" cap="none" strike="noStrike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Information Gain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8051696" y="1081834"/>
            <a:ext cx="4064000" cy="389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</a:pPr>
            <a:r>
              <a:rPr b="1" i="0" lang="en-US" sz="1900" u="none" cap="none" strike="noStrike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Gini Impurity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"/>
          <p:cNvSpPr txBox="1"/>
          <p:nvPr/>
        </p:nvSpPr>
        <p:spPr>
          <a:xfrm>
            <a:off x="524873" y="1846944"/>
            <a:ext cx="4357227" cy="3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82880" lvl="1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Char char="◦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Entropy is the main concept of this algorithm, which helps to determine a feature or attribute that give maximum information about a class is called </a:t>
            </a:r>
            <a:r>
              <a:rPr b="1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Information gain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Char char="◦"/>
            </a:pPr>
            <a:r>
              <a:rPr b="1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Mathematical Formula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Char char="◦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First IG is calculated for all features and the one with highest IG is selected as root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38" lvl="0" marL="9144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538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8" name="Google Shape;228;p4"/>
          <p:cNvSpPr txBox="1"/>
          <p:nvPr/>
        </p:nvSpPr>
        <p:spPr>
          <a:xfrm>
            <a:off x="1675778" y="2864457"/>
            <a:ext cx="2216312" cy="7562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 txBox="1"/>
          <p:nvPr/>
        </p:nvSpPr>
        <p:spPr>
          <a:xfrm>
            <a:off x="6513532" y="1764997"/>
            <a:ext cx="4064000" cy="2533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82880" lvl="1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Char char="◦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measure of the degree of probability of a particular variable being wrongly classified when it is randomly chosen is called Gini Impurity</a:t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Char char="◦"/>
            </a:pPr>
            <a:r>
              <a:rPr b="1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Mathematical Formula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06679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538" lvl="0" marL="9144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538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7513983" y="2864456"/>
            <a:ext cx="1504130" cy="75623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954157" y="4638203"/>
            <a:ext cx="4064000" cy="1195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 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Feature 1 = 0.10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 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Feature 2 = 0.37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 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 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Char char=" "/>
            </a:pPr>
            <a:r>
              <a:rPr b="0" i="0" lang="en-US" sz="12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Feature n = 0.25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954157" y="4913906"/>
            <a:ext cx="1288111" cy="174438"/>
          </a:xfrm>
          <a:prstGeom prst="roundRect">
            <a:avLst>
              <a:gd fmla="val 16667" name="adj"/>
            </a:avLst>
          </a:prstGeom>
          <a:noFill/>
          <a:ln cap="flat" cmpd="sng" w="15875">
            <a:solidFill>
              <a:srgbClr val="AC5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2671552" y="4845441"/>
            <a:ext cx="4064000" cy="311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 "/>
            </a:pPr>
            <a:r>
              <a:rPr b="0" i="0" lang="en-US" sz="1400" u="none" cap="none" strike="noStrike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Root node of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4"/>
          <p:cNvCxnSpPr>
            <a:stCxn id="232" idx="3"/>
          </p:cNvCxnSpPr>
          <p:nvPr/>
        </p:nvCxnSpPr>
        <p:spPr>
          <a:xfrm>
            <a:off x="2242268" y="5001125"/>
            <a:ext cx="4293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When to use Decision Tree?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1844703" y="2084347"/>
            <a:ext cx="850789" cy="389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</a:pPr>
            <a:r>
              <a:rPr b="1" i="0" lang="en-US" sz="1900" u="none" cap="none" strike="noStrike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7896970" y="2077501"/>
            <a:ext cx="850789" cy="389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</a:pPr>
            <a:r>
              <a:rPr b="1" i="0" lang="en-US" sz="1900" u="none" cap="none" strike="noStrike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1097280" y="2616201"/>
            <a:ext cx="4064000" cy="2055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DT are great for regression and classification problems when features are numerical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One of the biggest advantage of using DT is that they are interpretable, the tree can be visualized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DT has the ability to handle multiple outputs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6553200" y="2616200"/>
            <a:ext cx="40640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Susceptible to overfitting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Decision Tree is an NP-Hard problem, hence heuristic algorithm such as the greedy algorithm where locally optimal decision are made at each node, such algorithm cannot guarantee to return the globally optimal 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</a:pPr>
            <a:r>
              <a:rPr b="0" i="0" lang="en-US" sz="16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DT can create biased tree if some classes dominate, hence always ensure the dataset is balanced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RetrospectVTI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RetrospectVTI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RetrospectVTI">
  <a:themeElements>
    <a:clrScheme name="Custom 34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2022-07-18T09:16:14Z</dcterms:created>
  <dc:creator>Ajay Kumar GGN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